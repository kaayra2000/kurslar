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Giriş" id="{ee9b3bca-2b03-d076-d714-be39e5f7ee1d}">
          <p14:sldIdLst>
            <p14:sldId id="256"/>
            <p14:sldId id="257"/>
            <p14:sldId id="258"/>
          </p14:sldIdLst>
        </p14:section>
        <p14:section name="01 · CV ve ATS" id="{2009220d-faf7-8c73-2ce1-d87b7f1a6569}">
          <p14:sldIdLst>
            <p14:sldId id="259"/>
            <p14:sldId id="260"/>
            <p14:sldId id="261"/>
            <p14:sldId id="262"/>
            <p14:sldId id="263"/>
          </p14:sldIdLst>
        </p14:section>
        <p14:section name="02 · CV'yi Kod Gibi Yönetmek" id="{f6208505-112c-57c5-0eb7-87276fe58fb8}">
          <p14:sldIdLst>
            <p14:sldId id="264"/>
            <p14:sldId id="265"/>
            <p14:sldId id="266"/>
            <p14:sldId id="267"/>
            <p14:sldId id="268"/>
            <p14:sldId id="269"/>
          </p14:sldIdLst>
        </p14:section>
        <p14:section name="03 · İlan Bulma" id="{90646348-341a-a340-fb1a-81df035fc787}">
          <p14:sldIdLst>
            <p14:sldId id="270"/>
            <p14:sldId id="271"/>
            <p14:sldId id="272"/>
          </p14:sldIdLst>
        </p14:section>
        <p14:section name="04 · Araç Haritası" id="{3e728ace-ff7b-3eb0-bbeb-a6e8cb7aef1a}">
          <p14:sldIdLst>
            <p14:sldId id="273"/>
            <p14:sldId id="274"/>
            <p14:sldId id="275"/>
          </p14:sldIdLst>
        </p14:section>
        <p14:section name="Kapanış" id="{ac3a448e-ed97-e703-1155-d2c89a135680}">
          <p14:sldIdLst>
            <p14:sldId id="276"/>
            <p14:sldId id="277"/>
            <p14:sldId id="27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Hoş geldiniz. Ben Muhammed Kayra Bulut; YTÜ Yıldız Teknopark'ta BT Yöneticisiyim, öncesinde TÜBİTAK BİLGEM'de yazılım mühendisiydim. Bu söyleşide yapay zekânın iş arama sürecinin üç adımında nasıl kullanılabileceğini konuşacağız: CV hazırlamak, CV'leri yönetmek ve ilan bulmak. Genel bir çerçeve anlatacağım; her adımda kendi iş arama sürecimde kurduğum sistemi örnek olarak göstereceğim.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Dört bölümümüz var. Önce temeller: ATS nedir, iyi madde nasıl yazılır. Sonra CV'yi kod gibi yönetmenin genel çerçevesi; örnek olarak kendi sistemimi göstereceğim. Ardından ilan bulma ve son olarak araç haritası.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2026'da işe alımın iki tarafında da yapay zekâ var. İşveren ATS ve LinkedIn Recruiter gibi araçlarla adayları tarıyor; aday da LLM'lerle ilanı analiz edip CV'sini uyarlıyor. Bu yüzden araç tek başına avantaj değil; içerik doğru, ölçülebilir ve ilana uygun olmalı.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ATS, yani Applicant Tracking System, CV'yi önce metne çevirip alanlara böler. Sonra ilandaki anahtar kelimeleri arar ve adayları sıralar. Son kararı insan verir ama önce ATS'nin sizi doğru okuması gerekir. Kendi PDF'inizi OpenResume'un ayrıştırıcısıyla test edebilirsiniz.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Solda yapılacaklar, sağda yapılmayacaklar. Tek sütun ve metni seçilebilen PDF ATS için en güvenli düzen. İlandaki terimleri birebir kullanın: ilan 'PostgreSQL' diyorsa siz de 'PostgreSQL' yazın. Son madde kritik: LLM'ler gerçek olmayan bilgi üretmeye yatkın.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Formül basit: aktif fiil, ne yaptığınız, hangi teknolojiyle yaptığınız ve ölçülebilir sonuç. Buradaki örnek kurgusal; formülü göstermek için. Kendi maddelerinizde yalnızca gerçekten ölçtüğünüz sayıları kullanın.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 iki madde gerçek CV'lerimden. Üstteki genel CV'de, alttaki Java alan CV'sinde. Deneyim aynı; ama Java ilanına giden CV'de ORM, ilişkisel veri modelleme ve tasarım kalıpları öne alınıyor. Yalan yok, vurgu var.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 prompt üç iş yapıyor: ilan ile CV arasındaki boşluğu buluyor, maddeyi formüle göre yeniden yazıyor ve en önemlisi modelin bilgi uydurmasını engelliyor. Üçüncü satırı asla atlamayın.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Birden fazla alanda ve iki dilde iş arayan herkes bu sorunla karşılaşır. Örneğin ben dört alanda iş arıyorum: Java, LLM, makine öğrenmesi ve MLOps. İki dil var. Üstüne ilana özel sürümler eklenince onlarca dosya oluşuyor. Bunu elle yönetmek mümkün değil; çözüm yazılım mühendisliğinin bildiğimiz araçlarında.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Genel akış soldan sağa. Tüm bilgiler tek bir kaynak dosyada durur. Alan CV'leri ve ilana özel CV'ler bu kaynaktan türetilir. Derleme adımı ATS uyumlu PDF oluşturur. Her şey Git'te sürümlenir. Kutuların altındaki yollar kendi depomdaki karşılıkları: info klasöründeki YAML dosyaları, genel_cvler, ilana_ozel_cvler ve Docker içinde LaTeX derleyen build.sh. Alttaki sayılar bu yapının bende nasıl büyüdüğünü gösteriyor.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İlke şu: her bilgi tek bir yerde durur, CV'ler bu kaynaktan türetilir. Kaynak YAML ya da JSON olabilir. Soldaki örnek kendi depomdaki projects.yml dosyasından. Her proje tek bir kayıt; Türkçe ve İngilizce aynı kayıtta duruyor, böylece iki dil birbirinden kopamıyor. Tarih aralığını eylemci reponun ilk ve son commit'inden hesaplıyor. Etiketler hangi alan CV'sine gireceğini belirliyor.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Eylemciye her seferinde aynı şeyi söylemek yerine kuralları bir dosyaya yazın. Burada genel kurallar var. En önemlisi: eylemci hiçbir veriyi onayınız olmadan değiştirmez ve gerçek olmayan bilgi yazmaz. Kendi depomda bu kurallar AGENTS.md ve RULES.md dosyalarında duruyor; Claude Code, Codex ve Gemini aynı dosyayı okuyabiliyor.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Sık tekrarlanan her iş tanımlı bir iş akışına dönüşmeli ve tek cümleyle başlatılabilmeli. Böylece eylemci her seferinde aynı adımları aynı sırayla izler. Sağda kendi depomdaki karşılıkları var. Örneğin 'hesapları senkronize et' dediğimde betik GitHub, Hugging Face, Medium, ORCID ve LinkedIn verisini çekiyor; eylemci yeni projeleri tespit edip her biri için tek tek onay istiyor.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 başvuru için ilanın metni, eşleşme notu ve gönderilen CV bir arada saklanmalı. İlan yayından kalksa bile neye başvurduğunuzu bilirsiniz. Uygun ve güncel bir CV varsa yenisini oluşturmayın; yoksa ilana özel CV'yi kaynaktan türetin. Sağda bunun kendi depomdaki karşılığı var: her başvuru için bir ilan paketi. IS_ILANI.md ilanın tam ham metnini, ILAN_NOTLARI.md eşleşme analizini ve tek bir öncelikli CV önerisini tutuyor. Örneğin Anzera'nın AI Engineer ilanında mevcut LLM CV'si yeterliydi, yeni CV oluşturulmadı.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LinkedIn birincil kaynak ama tek kaynak değil. Kurumsal kariyer sayfaları en güncel bilgiyi verir. Kariyer.net, Techcareer ve Youthall yerel platformlar. Bir de hemen yanı başımızda bir kaynak var: Yıldız Teknopark'ın Firmalarımız sayfası. 750'den fazla firma; ilan açmadan önce tanıyabileceğiniz şirketler.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Zaman en değerli kaynak. Kapalı ilana ya da daha önce başvurduğunuz ilana zaman harcamayın. Eylemcim önce ilanın aktif olup olmadığına, sonra depoda veya LinkedIn'de 'Applied' etiketi olup olmadığına bakıyor. İlan metnini LinkedIn'in herkese açık endpoint'inden curl ile çekiyor. Bunu düşük hacimde ve kişisel kullanım için yapın.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 pozisyon ilana çıkmaz. Hedef şirket listesi çıkarıp işe alım uzmanına ya da teknik yöneticiye kısa ve kişisel bir mesaj yazmak işe yarar. Kendi sistemimde şirket başına tek dosya var; mesaj taslağı ilanın hemen altında duruyor. Toplu ve kopyala-yapıştır mesaj göndermeyin.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Hepsi ücretsiz ve açık kaynak. Üstteki beşi CV aracı: Reactive Resume tarayıcıda çalışan bir editör, RenderCV YAML'dan PDF üretiyor, OpenResume'un ayrıştırıcısı ATS testi için çok kullanışlı. Alttaki üçü iş arama eylemcisi: career-ops ve ai-job-search Claude Code gibi CLI eylemcileriyle çalışıyor, benim sistemime çok benzer. ApplyPilot otomatik başvuru yapıyor; dikkatli kullanın, platform koşullarını ihlal edebilir.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 servislerin çoğunda işe yarar bir ücretsiz katman var. Ücretli plana geçmeden önce ücretsiz katmanı deneyin. Fiyatlar sık değişir; buradaki değerler Ekim 2026 itibarıyla.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 şeyi aynı anda kullanmanıza gerek yok. Nerede olduğunuza göre seçin. Yeni başlıyorsanız ücretsiz bir LLM ve Reactive Resume yeterli. Geliştiriciyseniz benim gibi CV'yi kod olarak yönetmeyi deneyin.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Yapay zekâ güçlü ama dört riski var. Birincisi uydurma: model olmayan bir deneyimi ya da sayıyı ekleyebilir. İkincisi kişisel veri: telefon, adres, kimlik bilgisini bulut modellere yüklemeyin. Üçüncüsü toplu otomatik başvuru: hesabınız kısıtlanabilir. Dördüncüsü yapay zekâ kokan metin. Son karar ve son kontrol her zaman sizde.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Beş adımlık bir yol haritası. İlk adım en önemlisi: tüm deneyim ve projelerinizi tek bir dosyada toplayın. Gerisi bu kaynaktan türer. Sonra şablon, alan CV'leri, ilan başına uyarlama ve takip rutini gelir.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Teşekkür ederim. Sunum, araç listesi ve bağlantılar GitHub'daki kurslar deposunda. Sorularınızı alabilirim.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image" Target="../media/image-1002-2.png"/><Relationship Id="rId3"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image" Target="../media/image-1004-2.png"/><Relationship Id="rId3"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KAPAK">
    <p:bg>
      <p:bgPr>
        <a:solidFill>
          <a:schemeClr val="tx2"/>
        </a:solidFill>
      </p:bgPr>
    </p:bg>
    <p:spTree>
      <p:nvGrpSpPr>
        <p:cNvPr id="1" name=""/>
        <p:cNvGrpSpPr/>
        <p:nvPr/>
      </p:nvGrpSpPr>
      <p:grpSpPr>
        <a:xfrm>
          <a:off x="0" y="0"/>
          <a:ext cx="0" cy="0"/>
          <a:chOff x="0" y="0"/>
          <a:chExt cx="0" cy="0"/>
        </a:xfrm>
      </p:grpSpPr>
      <p:pic>
        <p:nvPicPr>
          <p:cNvPr id="2" name="Image 0" descr="/tmp/claude-1000/-home-kayra-Desktop-github-repolarim-kurslar/7c51a3db-9362-42b2-874a-4dd707c7318f/scratchpad/deck/img/yildiz.png">    </p:cNvPr>
          <p:cNvPicPr>
            <a:picLocks noChangeAspect="1"/>
          </p:cNvPicPr>
          <p:nvPr/>
        </p:nvPicPr>
        <p:blipFill>
          <a:blip r:embed="rId1">
            <a:alphaModFix amt="18000"/>
          </a:blip>
          <a:stretch>
            <a:fillRect/>
          </a:stretch>
        </p:blipFill>
        <p:spPr>
          <a:xfrm>
            <a:off x="7680960" y="1005840"/>
            <a:ext cx="4937760" cy="5094514"/>
          </a:xfrm>
          <a:prstGeom prst="rect">
            <a:avLst/>
          </a:prstGeom>
        </p:spPr>
      </p:pic>
      <p:pic>
        <p:nvPicPr>
          <p:cNvPr id="3" name="Image 1" descr="/tmp/claude-1000/-home-kayra-Desktop-github-repolarim-kurslar/7c51a3db-9362-42b2-874a-4dd707c7318f/scratchpad/deck/img/logo_beyaz.png">    </p:cNvPr>
          <p:cNvPicPr>
            <a:picLocks noChangeAspect="1"/>
          </p:cNvPicPr>
          <p:nvPr/>
        </p:nvPicPr>
        <p:blipFill>
          <a:blip r:embed="rId2"/>
          <a:stretch>
            <a:fillRect/>
          </a:stretch>
        </p:blipFill>
        <p:spPr>
          <a:xfrm>
            <a:off x="640080" y="548640"/>
            <a:ext cx="3108960" cy="779238"/>
          </a:xfrm>
          <a:prstGeom prst="rect">
            <a:avLst/>
          </a:prstGeom>
        </p:spPr>
      </p:pic>
      <p:sp>
        <p:nvSpPr>
          <p:cNvPr id="4" name="Text 0"/>
          <p:cNvSpPr/>
          <p:nvPr>
            <p:ph idx="102" type="title" hasCustomPrompt="1"/>
          </p:nvPr>
        </p:nvSpPr>
        <p:spPr>
          <a:xfrm>
            <a:off x="640080" y="2103120"/>
            <a:ext cx="7863840" cy="1005840"/>
          </a:xfrm>
          <a:prstGeom prst="rect">
            <a:avLst/>
          </a:prstGeom>
          <a:noFill/>
          <a:ln/>
        </p:spPr>
        <p:txBody>
          <a:bodyPr wrap="square" rtlCol="0"/>
          <a:lstStyle>
            <a:lvl1pPr algn="l" indent="0" marL="0">
              <a:buNone/>
              <a:defRPr lang="en-US" sz="5000" b="1" dirty="0">
                <a:solidFill>
                  <a:schemeClr val="bg1"/>
                </a:solidFill>
              </a:defRPr>
            </a:lvl1pPr>
          </a:lstStyle>
          <a:p>
            <a:pPr algn="l" indent="0" marL="0">
              <a:buNone/>
            </a:pPr>
            <a:endParaRPr lang="en-US" sz="5000" dirty="0"/>
          </a:p>
        </p:txBody>
      </p:sp>
      <p:sp>
        <p:nvSpPr>
          <p:cNvPr id="5" name="Text 0"/>
          <p:cNvSpPr/>
          <p:nvPr>
            <p:ph idx="103" type="body" hasCustomPrompt="1"/>
          </p:nvPr>
        </p:nvSpPr>
        <p:spPr>
          <a:xfrm>
            <a:off x="640080" y="3200400"/>
            <a:ext cx="7863840" cy="640080"/>
          </a:xfrm>
          <a:prstGeom prst="rect">
            <a:avLst/>
          </a:prstGeom>
          <a:noFill/>
          <a:ln/>
        </p:spPr>
        <p:txBody>
          <a:bodyPr wrap="square" rtlCol="0"/>
          <a:lstStyle>
            <a:lvl1pPr indent="0" marL="0">
              <a:buNone/>
              <a:defRPr lang="en-US" sz="2600" dirty="0">
                <a:solidFill>
                  <a:schemeClr val="accent2"/>
                </a:solidFill>
              </a:defRPr>
            </a:lvl1pPr>
          </a:lstStyle>
          <a:p>
            <a:pPr indent="0" marL="0">
              <a:buNone/>
            </a:pPr>
            <a:endParaRPr lang="en-US" sz="2600" dirty="0"/>
          </a:p>
        </p:txBody>
      </p:sp>
      <p:sp>
        <p:nvSpPr>
          <p:cNvPr id="6" name="Text 0"/>
          <p:cNvSpPr/>
          <p:nvPr>
            <p:ph idx="104" type="body" hasCustomPrompt="1"/>
          </p:nvPr>
        </p:nvSpPr>
        <p:spPr>
          <a:xfrm>
            <a:off x="640080" y="4937760"/>
            <a:ext cx="7863840" cy="1005840"/>
          </a:xfrm>
          <a:prstGeom prst="rect">
            <a:avLst/>
          </a:prstGeom>
          <a:noFill/>
          <a:ln/>
        </p:spPr>
        <p:txBody>
          <a:bodyPr wrap="square" rtlCol="0"/>
          <a:lstStyle>
            <a:lvl1pPr indent="0" marL="0">
              <a:buNone/>
              <a:defRPr lang="en-US" sz="1600" dirty="0">
                <a:solidFill>
                  <a:schemeClr val="bg2"/>
                </a:solidFill>
              </a:defRPr>
            </a:lvl1pPr>
          </a:lstStyle>
          <a:p>
            <a:pPr indent="0" marL="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ICERIK">
    <p:bg>
      <p:bgPr>
        <a:solidFill>
          <a:schemeClr val="bg1"/>
        </a:solidFill>
      </p:bgPr>
    </p:bg>
    <p:spTree>
      <p:nvGrpSpPr>
        <p:cNvPr id="1" name=""/>
        <p:cNvGrpSpPr/>
        <p:nvPr/>
      </p:nvGrpSpPr>
      <p:grpSpPr>
        <a:xfrm>
          <a:off x="0" y="0"/>
          <a:ext cx="0" cy="0"/>
          <a:chOff x="0" y="0"/>
          <a:chExt cx="0" cy="0"/>
        </a:xfrm>
      </p:grpSpPr>
      <p:pic>
        <p:nvPicPr>
          <p:cNvPr id="2" name="Image 0" descr="/tmp/claude-1000/-home-kayra-Desktop-github-repolarim-kurslar/7c51a3db-9362-42b2-874a-4dd707c7318f/scratchpad/deck/img/logo_renkli.png">    </p:cNvPr>
          <p:cNvPicPr>
            <a:picLocks noChangeAspect="1"/>
          </p:cNvPicPr>
          <p:nvPr/>
        </p:nvPicPr>
        <p:blipFill>
          <a:blip r:embed="rId1"/>
          <a:stretch>
            <a:fillRect/>
          </a:stretch>
        </p:blipFill>
        <p:spPr>
          <a:xfrm>
            <a:off x="9539935" y="384048"/>
            <a:ext cx="2103120" cy="527132"/>
          </a:xfrm>
          <a:prstGeom prst="rect">
            <a:avLst/>
          </a:prstGeom>
        </p:spPr>
      </p:pic>
      <p:sp>
        <p:nvSpPr>
          <p:cNvPr id="3" name="Text 0"/>
          <p:cNvSpPr/>
          <p:nvPr>
            <p:ph idx="101" type="body" hasCustomPrompt="1"/>
          </p:nvPr>
        </p:nvSpPr>
        <p:spPr>
          <a:xfrm>
            <a:off x="548640" y="320040"/>
            <a:ext cx="8778240" cy="320040"/>
          </a:xfrm>
          <a:prstGeom prst="rect">
            <a:avLst/>
          </a:prstGeom>
          <a:noFill/>
          <a:ln/>
        </p:spPr>
        <p:txBody>
          <a:bodyPr wrap="square" rtlCol="0"/>
          <a:lstStyle>
            <a:lvl1pPr indent="0" marL="0">
              <a:buNone/>
              <a:defRPr lang="en-US" sz="1300" b="1" spc="200" kern="0" dirty="0">
                <a:solidFill>
                  <a:schemeClr val="accent3"/>
                </a:solidFill>
              </a:defRPr>
            </a:lvl1pPr>
          </a:lstStyle>
          <a:p>
            <a:pPr indent="0" marL="0">
              <a:buNone/>
            </a:pPr>
            <a:endParaRPr lang="en-US" sz="1300" dirty="0"/>
          </a:p>
        </p:txBody>
      </p:sp>
      <p:sp>
        <p:nvSpPr>
          <p:cNvPr id="4" name="Text 0"/>
          <p:cNvSpPr/>
          <p:nvPr>
            <p:ph idx="102" type="title" hasCustomPrompt="1"/>
          </p:nvPr>
        </p:nvSpPr>
        <p:spPr>
          <a:xfrm>
            <a:off x="548640" y="658368"/>
            <a:ext cx="9052560" cy="731520"/>
          </a:xfrm>
          <a:prstGeom prst="rect">
            <a:avLst/>
          </a:prstGeom>
          <a:noFill/>
          <a:ln/>
        </p:spPr>
        <p:txBody>
          <a:bodyPr wrap="square" rtlCol="0"/>
          <a:lstStyle>
            <a:lvl1pPr algn="l" indent="0" marL="0">
              <a:buNone/>
              <a:defRPr lang="en-US" sz="3400" b="1" dirty="0">
                <a:solidFill>
                  <a:schemeClr val="tx2"/>
                </a:solidFill>
              </a:defRPr>
            </a:lvl1pPr>
          </a:lstStyle>
          <a:p>
            <a:pPr algn="l" indent="0" marL="0">
              <a:buNone/>
            </a:pPr>
            <a:endParaRPr lang="en-US" sz="3400" dirty="0"/>
          </a:p>
        </p:txBody>
      </p:sp>
      <p:sp>
        <p:nvSpPr>
          <p:cNvPr id="5" name="Text 0"/>
          <p:cNvSpPr/>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chemeClr val="tx1">
                    <a:alpha val="65000"/>
                  </a:schemeClr>
                </a:solidFill>
              </a:rPr>
              <a:t>Yapay Zekâ ile Kariyer · YTÜ Yıldız Teknopark · Ekim 2026</a:t>
            </a:r>
            <a:endParaRPr lang="en-US" sz="1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170"/>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KAPANIS">
    <p:bg>
      <p:bgPr>
        <a:solidFill>
          <a:schemeClr val="tx2"/>
        </a:solidFill>
      </p:bgPr>
    </p:bg>
    <p:spTree>
      <p:nvGrpSpPr>
        <p:cNvPr id="1" name=""/>
        <p:cNvGrpSpPr/>
        <p:nvPr/>
      </p:nvGrpSpPr>
      <p:grpSpPr>
        <a:xfrm>
          <a:off x="0" y="0"/>
          <a:ext cx="0" cy="0"/>
          <a:chOff x="0" y="0"/>
          <a:chExt cx="0" cy="0"/>
        </a:xfrm>
      </p:grpSpPr>
      <p:pic>
        <p:nvPicPr>
          <p:cNvPr id="2" name="Image 0" descr="/tmp/claude-1000/-home-kayra-Desktop-github-repolarim-kurslar/7c51a3db-9362-42b2-874a-4dd707c7318f/scratchpad/deck/img/yildiz.png">    </p:cNvPr>
          <p:cNvPicPr>
            <a:picLocks noChangeAspect="1"/>
          </p:cNvPicPr>
          <p:nvPr/>
        </p:nvPicPr>
        <p:blipFill>
          <a:blip r:embed="rId1">
            <a:alphaModFix amt="18000"/>
          </a:blip>
          <a:stretch>
            <a:fillRect/>
          </a:stretch>
        </p:blipFill>
        <p:spPr>
          <a:xfrm>
            <a:off x="7680960" y="1005840"/>
            <a:ext cx="4937760" cy="5094514"/>
          </a:xfrm>
          <a:prstGeom prst="rect">
            <a:avLst/>
          </a:prstGeom>
        </p:spPr>
      </p:pic>
      <p:pic>
        <p:nvPicPr>
          <p:cNvPr id="3" name="Image 1" descr="/tmp/claude-1000/-home-kayra-Desktop-github-repolarim-kurslar/7c51a3db-9362-42b2-874a-4dd707c7318f/scratchpad/deck/img/logo_beyaz.png">    </p:cNvPr>
          <p:cNvPicPr>
            <a:picLocks noChangeAspect="1"/>
          </p:cNvPicPr>
          <p:nvPr/>
        </p:nvPicPr>
        <p:blipFill>
          <a:blip r:embed="rId2"/>
          <a:stretch>
            <a:fillRect/>
          </a:stretch>
        </p:blipFill>
        <p:spPr>
          <a:xfrm>
            <a:off x="640080" y="548640"/>
            <a:ext cx="3108960" cy="779238"/>
          </a:xfrm>
          <a:prstGeom prst="rect">
            <a:avLst/>
          </a:prstGeom>
        </p:spPr>
      </p:pic>
      <p:sp>
        <p:nvSpPr>
          <p:cNvPr id="4" name="Text 0"/>
          <p:cNvSpPr/>
          <p:nvPr>
            <p:ph idx="102" type="title" hasCustomPrompt="1"/>
          </p:nvPr>
        </p:nvSpPr>
        <p:spPr>
          <a:xfrm>
            <a:off x="640080" y="1828800"/>
            <a:ext cx="7863840" cy="1005840"/>
          </a:xfrm>
          <a:prstGeom prst="rect">
            <a:avLst/>
          </a:prstGeom>
          <a:noFill/>
          <a:ln/>
        </p:spPr>
        <p:txBody>
          <a:bodyPr wrap="square" rtlCol="0"/>
          <a:lstStyle>
            <a:lvl1pPr algn="l" indent="0" marL="0">
              <a:buNone/>
              <a:defRPr lang="en-US" sz="5000" b="1" dirty="0">
                <a:solidFill>
                  <a:schemeClr val="bg1"/>
                </a:solidFill>
              </a:defRPr>
            </a:lvl1pPr>
          </a:lstStyle>
          <a:p>
            <a:pPr algn="l" indent="0" marL="0">
              <a:buNone/>
            </a:pPr>
            <a:endParaRPr lang="en-US" sz="5000" dirty="0"/>
          </a:p>
        </p:txBody>
      </p:sp>
      <p:sp>
        <p:nvSpPr>
          <p:cNvPr id="5" name="Text 0"/>
          <p:cNvSpPr/>
          <p:nvPr>
            <p:ph idx="103" type="body" hasCustomPrompt="1"/>
          </p:nvPr>
        </p:nvSpPr>
        <p:spPr>
          <a:xfrm>
            <a:off x="640080" y="2880360"/>
            <a:ext cx="7863840" cy="640080"/>
          </a:xfrm>
          <a:prstGeom prst="rect">
            <a:avLst/>
          </a:prstGeom>
          <a:noFill/>
          <a:ln/>
        </p:spPr>
        <p:txBody>
          <a:bodyPr wrap="square" rtlCol="0"/>
          <a:lstStyle>
            <a:lvl1pPr indent="0" marL="0">
              <a:buNone/>
              <a:defRPr lang="en-US" sz="2800" dirty="0">
                <a:solidFill>
                  <a:schemeClr val="accent2"/>
                </a:solidFill>
              </a:defRPr>
            </a:lvl1pPr>
          </a:lstStyle>
          <a:p>
            <a:pPr indent="0" marL="0">
              <a:buNone/>
            </a:pPr>
            <a:endParaRPr lang="en-US" sz="2800" dirty="0"/>
          </a:p>
        </p:txBody>
      </p:sp>
      <p:sp>
        <p:nvSpPr>
          <p:cNvPr id="6" name="Text 0"/>
          <p:cNvSpPr/>
          <p:nvPr>
            <p:ph idx="104" type="body" hasCustomPrompt="1"/>
          </p:nvPr>
        </p:nvSpPr>
        <p:spPr>
          <a:xfrm>
            <a:off x="640080" y="4023360"/>
            <a:ext cx="7863840" cy="2011680"/>
          </a:xfrm>
          <a:prstGeom prst="rect">
            <a:avLst/>
          </a:prstGeom>
          <a:noFill/>
          <a:ln/>
        </p:spPr>
        <p:txBody>
          <a:bodyPr wrap="square" rtlCol="0"/>
          <a:lstStyle>
            <a:lvl1pPr indent="0" marL="0">
              <a:buNone/>
              <a:defRPr lang="en-US" sz="1600" dirty="0">
                <a:solidFill>
                  <a:schemeClr val="bg2"/>
                </a:solidFill>
              </a:defRPr>
            </a:lvl1pPr>
          </a:lstStyle>
          <a:p>
            <a:pPr indent="0" marL="0">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17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3.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3.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slideLayout" Target="../slideLayouts/slideLayout3.xml"/><Relationship Id="rId11"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3.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3.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3.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3.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slideLayout" Target="../slideLayouts/slideLayout3.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3.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3.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3.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3.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slideLayout" Target="../slideLayouts/slideLayout3.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slideLayout" Target="../slideLayouts/slideLayout3.xml"/><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hyperlink" Target="https://github.com/kaayra2000/kurslar" TargetMode="External"/><Relationship Id="rId2" Type="http://schemas.openxmlformats.org/officeDocument/2006/relationships/slideLayout" Target="../slideLayouts/slideLayout4.xml"/><Relationship Id="rId3"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2" type="title" hasCustomPrompt="1"/>
          </p:nvPr>
        </p:nvSpPr>
        <p:spPr>
          <a:xfrm>
            <a:off x="640080" y="2103120"/>
            <a:ext cx="7863840" cy="1005840"/>
          </a:xfrm>
          <a:prstGeom prst="rect">
            <a:avLst/>
          </a:prstGeom>
          <a:noFill/>
          <a:ln/>
        </p:spPr>
        <p:txBody>
          <a:bodyPr wrap="square" lIns="0" tIns="0" rIns="0" bIns="0" rtlCol="0" anchor="b"/>
          <a:lstStyle/>
          <a:p>
            <a:pPr algn="l" indent="0" marL="0">
              <a:buNone/>
            </a:pPr>
            <a:r>
              <a:rPr lang="en-US" sz="5000" b="1" dirty="0">
                <a:solidFill>
                  <a:schemeClr val="bg1"/>
                </a:solidFill>
              </a:rPr>
              <a:t>Yapay Zekâ ile Kariyer</a:t>
            </a:r>
            <a:endParaRPr lang="en-US" sz="5000" dirty="0"/>
          </a:p>
        </p:txBody>
      </p:sp>
      <p:sp>
        <p:nvSpPr>
          <p:cNvPr id="3" name="Text 0"/>
          <p:cNvSpPr/>
          <p:nvPr>
            <p:ph idx="103" type="body" hasCustomPrompt="1"/>
          </p:nvPr>
        </p:nvSpPr>
        <p:spPr>
          <a:xfrm>
            <a:off x="640080" y="3200400"/>
            <a:ext cx="7863840" cy="640080"/>
          </a:xfrm>
          <a:prstGeom prst="rect">
            <a:avLst/>
          </a:prstGeom>
          <a:noFill/>
          <a:ln/>
        </p:spPr>
        <p:txBody>
          <a:bodyPr wrap="square" lIns="0" tIns="0" rIns="0" bIns="0" rtlCol="0" anchor="t"/>
          <a:lstStyle/>
          <a:p>
            <a:pPr indent="0" marL="0">
              <a:buNone/>
            </a:pPr>
            <a:r>
              <a:rPr lang="en-US" sz="2600" dirty="0">
                <a:solidFill>
                  <a:schemeClr val="accent2"/>
                </a:solidFill>
              </a:rPr>
              <a:t>CV Hazırlama, Yönetme ve İlan Bulma</a:t>
            </a:r>
            <a:endParaRPr lang="en-US" sz="2600" dirty="0"/>
          </a:p>
        </p:txBody>
      </p:sp>
      <p:sp>
        <p:nvSpPr>
          <p:cNvPr id="4" name="Text 0"/>
          <p:cNvSpPr/>
          <p:nvPr>
            <p:ph idx="104" type="body" hasCustomPrompt="1"/>
          </p:nvPr>
        </p:nvSpPr>
        <p:spPr>
          <a:xfrm>
            <a:off x="640080" y="4937760"/>
            <a:ext cx="7863840" cy="1005840"/>
          </a:xfrm>
          <a:prstGeom prst="rect">
            <a:avLst/>
          </a:prstGeom>
          <a:noFill/>
          <a:ln/>
        </p:spPr>
        <p:txBody>
          <a:bodyPr wrap="square" lIns="0" tIns="0" rIns="0" bIns="0" rtlCol="0" anchor="t"/>
          <a:lstStyle/>
          <a:p>
            <a:pPr indent="0" marL="0">
              <a:buNone/>
            </a:pPr>
            <a:r>
              <a:rPr lang="en-US" sz="2000" b="1" dirty="0">
                <a:solidFill>
                  <a:schemeClr val="bg1"/>
                </a:solidFill>
              </a:rPr>
              <a:t>Muhammed Kayra Bulut</a:t>
            </a:r>
            <a:endParaRPr lang="en-US" sz="1600" dirty="0"/>
          </a:p>
          <a:p>
            <a:pPr indent="0" marL="0">
              <a:buNone/>
            </a:pPr>
            <a:r>
              <a:rPr lang="en-US" sz="1600" dirty="0">
                <a:solidFill>
                  <a:schemeClr val="bg2"/>
                </a:solidFill>
              </a:rPr>
              <a:t>BT Yöneticisi, YTÜ Yıldız Teknopark</a:t>
            </a:r>
            <a:endParaRPr lang="en-US" sz="1600" dirty="0"/>
          </a:p>
          <a:p>
            <a:pPr indent="0" marL="0">
              <a:buNone/>
            </a:pPr>
            <a:r>
              <a:rPr lang="en-US" sz="1600" dirty="0">
                <a:solidFill>
                  <a:schemeClr val="bg2"/>
                </a:solidFill>
              </a:rPr>
              <a:t>Söyleşi · Ekim 2026</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1" type="body" hasCustomPrompt="1"/>
          </p:nvPr>
        </p:nvSpPr>
        <p:spPr>
          <a:xfrm>
            <a:off x="548640" y="320040"/>
            <a:ext cx="8778240" cy="320040"/>
          </a:xfrm>
          <a:prstGeom prst="rect">
            <a:avLst/>
          </a:prstGeom>
          <a:noFill/>
          <a:ln/>
        </p:spPr>
        <p:txBody>
          <a:bodyPr wrap="square" lIns="0" tIns="0" rIns="0" bIns="0" rtlCol="0" anchor="ctr"/>
          <a:lstStyle/>
          <a:p>
            <a:pPr indent="0" marL="0">
              <a:buNone/>
            </a:pPr>
            <a:r>
              <a:rPr lang="en-US" sz="1300" b="1" spc="200" kern="0" dirty="0">
                <a:solidFill>
                  <a:schemeClr val="accent3"/>
                </a:solidFill>
              </a:rPr>
              <a:t>GİRİŞ</a:t>
            </a:r>
            <a:endParaRPr lang="en-US" sz="1300" dirty="0"/>
          </a:p>
        </p:txBody>
      </p:sp>
      <p:sp>
        <p:nvSpPr>
          <p:cNvPr id="3" name="Text 0"/>
          <p:cNvSpPr/>
          <p:nvPr>
            <p:ph idx="102" type="title" hasCustomPrompt="1"/>
          </p:nvPr>
        </p:nvSpPr>
        <p:spPr>
          <a:xfrm>
            <a:off x="548640" y="658368"/>
            <a:ext cx="9052560" cy="731520"/>
          </a:xfrm>
          <a:prstGeom prst="rect">
            <a:avLst/>
          </a:prstGeom>
          <a:noFill/>
          <a:ln/>
        </p:spPr>
        <p:txBody>
          <a:bodyPr wrap="square" lIns="0" tIns="0" rIns="0" bIns="0" rtlCol="0" anchor="t"/>
          <a:lstStyle/>
          <a:p>
            <a:pPr algn="l" indent="0" marL="0">
              <a:buNone/>
            </a:pPr>
            <a:r>
              <a:rPr lang="en-US" sz="3400" b="1" dirty="0">
                <a:solidFill>
                  <a:schemeClr val="tx2"/>
                </a:solidFill>
              </a:rPr>
              <a:t>Bugün Ne Konuşacağız?</a:t>
            </a:r>
            <a:endParaRPr lang="en-US" sz="3400" dirty="0"/>
          </a:p>
        </p:txBody>
      </p:sp>
      <p:sp>
        <p:nvSpPr>
          <p:cNvPr id="5" name="kart"/>
          <p:cNvSpPr/>
          <p:nvPr/>
        </p:nvSpPr>
        <p:spPr>
          <a:xfrm>
            <a:off x="548640" y="1920240"/>
            <a:ext cx="2567864" cy="2743200"/>
          </a:xfrm>
          <a:prstGeom prst="roundRect">
            <a:avLst>
              <a:gd name="adj" fmla="val 2849"/>
            </a:avLst>
          </a:prstGeom>
          <a:solidFill>
            <a:schemeClr val="bg2"/>
          </a:solidFill>
          <a:ln/>
        </p:spPr>
      </p:sp>
      <p:sp>
        <p:nvSpPr>
          <p:cNvPr id="6" name="Text 3"/>
          <p:cNvSpPr txBox="1"/>
          <p:nvPr/>
        </p:nvSpPr>
        <p:spPr>
          <a:xfrm>
            <a:off x="822960" y="2148840"/>
            <a:ext cx="2019224" cy="2377440"/>
          </a:xfrm>
          <a:prstGeom prst="rect">
            <a:avLst/>
          </a:prstGeom>
          <a:noFill/>
          <a:ln/>
        </p:spPr>
        <p:txBody>
          <a:bodyPr wrap="square" lIns="0" tIns="0" rIns="0" bIns="0" rtlCol="0" anchor="t"/>
          <a:lstStyle/>
          <a:p>
            <a:pPr indent="0" marL="0">
              <a:spcAft>
                <a:spcPts val="800"/>
              </a:spcAft>
              <a:buNone/>
            </a:pPr>
            <a:r>
              <a:rPr lang="en-US" sz="4400" b="1" dirty="0">
                <a:solidFill>
                  <a:schemeClr val="accent3"/>
                </a:solidFill>
                <a:latin typeface="Cambria" pitchFamily="34" charset="0"/>
                <a:ea typeface="Cambria" pitchFamily="34" charset="-122"/>
                <a:cs typeface="Cambria" pitchFamily="34" charset="-120"/>
              </a:rPr>
              <a:t>01</a:t>
            </a:r>
            <a:endParaRPr lang="en-US" sz="4400" dirty="0"/>
          </a:p>
          <a:p>
            <a:pPr indent="0" marL="0">
              <a:spcAft>
                <a:spcPts val="800"/>
              </a:spcAft>
              <a:buNone/>
            </a:pPr>
            <a:r>
              <a:rPr lang="en-US" sz="2000" b="1" dirty="0">
                <a:solidFill>
                  <a:schemeClr val="tx2"/>
                </a:solidFill>
              </a:rPr>
              <a:t>CV ve ATS</a:t>
            </a:r>
            <a:endParaRPr lang="en-US" sz="4400" dirty="0"/>
          </a:p>
          <a:p>
            <a:pPr indent="0" marL="0">
              <a:spcAft>
                <a:spcPts val="800"/>
              </a:spcAft>
              <a:buNone/>
            </a:pPr>
            <a:r>
              <a:rPr lang="en-US" sz="1500" dirty="0">
                <a:solidFill>
                  <a:schemeClr val="tx1"/>
                </a:solidFill>
              </a:rPr>
              <a:t>ATS nasıl okur, iyi madde nasıl yazılır</a:t>
            </a:r>
            <a:endParaRPr lang="en-US" sz="4400" dirty="0"/>
          </a:p>
        </p:txBody>
      </p:sp>
      <p:sp>
        <p:nvSpPr>
          <p:cNvPr id="7" name="kart"/>
          <p:cNvSpPr/>
          <p:nvPr/>
        </p:nvSpPr>
        <p:spPr>
          <a:xfrm>
            <a:off x="3390824" y="1920240"/>
            <a:ext cx="2567864" cy="2743200"/>
          </a:xfrm>
          <a:prstGeom prst="roundRect">
            <a:avLst>
              <a:gd name="adj" fmla="val 2849"/>
            </a:avLst>
          </a:prstGeom>
          <a:solidFill>
            <a:schemeClr val="bg2"/>
          </a:solidFill>
          <a:ln/>
        </p:spPr>
      </p:sp>
      <p:sp>
        <p:nvSpPr>
          <p:cNvPr id="8" name="Text 5"/>
          <p:cNvSpPr txBox="1"/>
          <p:nvPr/>
        </p:nvSpPr>
        <p:spPr>
          <a:xfrm>
            <a:off x="3665144" y="2148840"/>
            <a:ext cx="2019224" cy="2377440"/>
          </a:xfrm>
          <a:prstGeom prst="rect">
            <a:avLst/>
          </a:prstGeom>
          <a:noFill/>
          <a:ln/>
        </p:spPr>
        <p:txBody>
          <a:bodyPr wrap="square" lIns="0" tIns="0" rIns="0" bIns="0" rtlCol="0" anchor="t"/>
          <a:lstStyle/>
          <a:p>
            <a:pPr indent="0" marL="0">
              <a:spcAft>
                <a:spcPts val="800"/>
              </a:spcAft>
              <a:buNone/>
            </a:pPr>
            <a:r>
              <a:rPr lang="en-US" sz="4400" b="1" dirty="0">
                <a:solidFill>
                  <a:schemeClr val="accent3"/>
                </a:solidFill>
                <a:latin typeface="Cambria" pitchFamily="34" charset="0"/>
                <a:ea typeface="Cambria" pitchFamily="34" charset="-122"/>
                <a:cs typeface="Cambria" pitchFamily="34" charset="-120"/>
              </a:rPr>
              <a:t>02</a:t>
            </a:r>
            <a:endParaRPr lang="en-US" sz="4400" dirty="0"/>
          </a:p>
          <a:p>
            <a:pPr indent="0" marL="0">
              <a:spcAft>
                <a:spcPts val="800"/>
              </a:spcAft>
              <a:buNone/>
            </a:pPr>
            <a:r>
              <a:rPr lang="en-US" sz="2000" b="1" dirty="0">
                <a:solidFill>
                  <a:schemeClr val="tx2"/>
                </a:solidFill>
              </a:rPr>
              <a:t>CV'yi Kod Gibi Yönetmek</a:t>
            </a:r>
            <a:endParaRPr lang="en-US" sz="4400" dirty="0"/>
          </a:p>
          <a:p>
            <a:pPr indent="0" marL="0">
              <a:spcAft>
                <a:spcPts val="800"/>
              </a:spcAft>
              <a:buNone/>
            </a:pPr>
            <a:r>
              <a:rPr lang="en-US" sz="1500" dirty="0">
                <a:solidFill>
                  <a:schemeClr val="tx1"/>
                </a:solidFill>
              </a:rPr>
              <a:t>Tek kaynak, sürüm kontrolü ve eylemci kuralları</a:t>
            </a:r>
            <a:endParaRPr lang="en-US" sz="4400" dirty="0"/>
          </a:p>
        </p:txBody>
      </p:sp>
      <p:sp>
        <p:nvSpPr>
          <p:cNvPr id="9" name="kart"/>
          <p:cNvSpPr/>
          <p:nvPr/>
        </p:nvSpPr>
        <p:spPr>
          <a:xfrm>
            <a:off x="6233008" y="1920240"/>
            <a:ext cx="2567864" cy="2743200"/>
          </a:xfrm>
          <a:prstGeom prst="roundRect">
            <a:avLst>
              <a:gd name="adj" fmla="val 2849"/>
            </a:avLst>
          </a:prstGeom>
          <a:solidFill>
            <a:schemeClr val="bg2"/>
          </a:solidFill>
          <a:ln/>
        </p:spPr>
      </p:sp>
      <p:sp>
        <p:nvSpPr>
          <p:cNvPr id="10" name="Text 7"/>
          <p:cNvSpPr txBox="1"/>
          <p:nvPr/>
        </p:nvSpPr>
        <p:spPr>
          <a:xfrm>
            <a:off x="6507328" y="2148840"/>
            <a:ext cx="2019224" cy="2377440"/>
          </a:xfrm>
          <a:prstGeom prst="rect">
            <a:avLst/>
          </a:prstGeom>
          <a:noFill/>
          <a:ln/>
        </p:spPr>
        <p:txBody>
          <a:bodyPr wrap="square" lIns="0" tIns="0" rIns="0" bIns="0" rtlCol="0" anchor="t"/>
          <a:lstStyle/>
          <a:p>
            <a:pPr indent="0" marL="0">
              <a:spcAft>
                <a:spcPts val="800"/>
              </a:spcAft>
              <a:buNone/>
            </a:pPr>
            <a:r>
              <a:rPr lang="en-US" sz="4400" b="1" dirty="0">
                <a:solidFill>
                  <a:schemeClr val="accent3"/>
                </a:solidFill>
                <a:latin typeface="Cambria" pitchFamily="34" charset="0"/>
                <a:ea typeface="Cambria" pitchFamily="34" charset="-122"/>
                <a:cs typeface="Cambria" pitchFamily="34" charset="-120"/>
              </a:rPr>
              <a:t>03</a:t>
            </a:r>
            <a:endParaRPr lang="en-US" sz="4400" dirty="0"/>
          </a:p>
          <a:p>
            <a:pPr indent="0" marL="0">
              <a:spcAft>
                <a:spcPts val="800"/>
              </a:spcAft>
              <a:buNone/>
            </a:pPr>
            <a:r>
              <a:rPr lang="en-US" sz="2000" b="1" dirty="0">
                <a:solidFill>
                  <a:schemeClr val="tx2"/>
                </a:solidFill>
              </a:rPr>
              <a:t>İlan Bulma</a:t>
            </a:r>
            <a:endParaRPr lang="en-US" sz="4400" dirty="0"/>
          </a:p>
          <a:p>
            <a:pPr indent="0" marL="0">
              <a:spcAft>
                <a:spcPts val="800"/>
              </a:spcAft>
              <a:buNone/>
            </a:pPr>
            <a:r>
              <a:rPr lang="en-US" sz="1500" dirty="0">
                <a:solidFill>
                  <a:schemeClr val="tx1"/>
                </a:solidFill>
              </a:rPr>
              <a:t>Kaynaklar, akıllı filtre, doğrudan iletişim</a:t>
            </a:r>
            <a:endParaRPr lang="en-US" sz="4400" dirty="0"/>
          </a:p>
        </p:txBody>
      </p:sp>
      <p:sp>
        <p:nvSpPr>
          <p:cNvPr id="11" name="kart"/>
          <p:cNvSpPr/>
          <p:nvPr/>
        </p:nvSpPr>
        <p:spPr>
          <a:xfrm>
            <a:off x="9075191" y="1920240"/>
            <a:ext cx="2567864" cy="2743200"/>
          </a:xfrm>
          <a:prstGeom prst="roundRect">
            <a:avLst>
              <a:gd name="adj" fmla="val 2849"/>
            </a:avLst>
          </a:prstGeom>
          <a:solidFill>
            <a:schemeClr val="bg2"/>
          </a:solidFill>
          <a:ln/>
        </p:spPr>
      </p:sp>
      <p:sp>
        <p:nvSpPr>
          <p:cNvPr id="12" name="Text 9"/>
          <p:cNvSpPr txBox="1"/>
          <p:nvPr/>
        </p:nvSpPr>
        <p:spPr>
          <a:xfrm>
            <a:off x="9349511" y="2148840"/>
            <a:ext cx="2019224" cy="2377440"/>
          </a:xfrm>
          <a:prstGeom prst="rect">
            <a:avLst/>
          </a:prstGeom>
          <a:noFill/>
          <a:ln/>
        </p:spPr>
        <p:txBody>
          <a:bodyPr wrap="square" lIns="0" tIns="0" rIns="0" bIns="0" rtlCol="0" anchor="t"/>
          <a:lstStyle/>
          <a:p>
            <a:pPr indent="0" marL="0">
              <a:spcAft>
                <a:spcPts val="800"/>
              </a:spcAft>
              <a:buNone/>
            </a:pPr>
            <a:r>
              <a:rPr lang="en-US" sz="4400" b="1" dirty="0">
                <a:solidFill>
                  <a:schemeClr val="accent3"/>
                </a:solidFill>
                <a:latin typeface="Cambria" pitchFamily="34" charset="0"/>
                <a:ea typeface="Cambria" pitchFamily="34" charset="-122"/>
                <a:cs typeface="Cambria" pitchFamily="34" charset="-120"/>
              </a:rPr>
              <a:t>04</a:t>
            </a:r>
            <a:endParaRPr lang="en-US" sz="4400" dirty="0"/>
          </a:p>
          <a:p>
            <a:pPr indent="0" marL="0">
              <a:spcAft>
                <a:spcPts val="800"/>
              </a:spcAft>
              <a:buNone/>
            </a:pPr>
            <a:r>
              <a:rPr lang="en-US" sz="2000" b="1" dirty="0">
                <a:solidFill>
                  <a:schemeClr val="tx2"/>
                </a:solidFill>
              </a:rPr>
              <a:t>Araç Haritası</a:t>
            </a:r>
            <a:endParaRPr lang="en-US" sz="4400" dirty="0"/>
          </a:p>
          <a:p>
            <a:pPr indent="0" marL="0">
              <a:spcAft>
                <a:spcPts val="800"/>
              </a:spcAft>
              <a:buNone/>
            </a:pPr>
            <a:r>
              <a:rPr lang="en-US" sz="1500" dirty="0">
                <a:solidFill>
                  <a:schemeClr val="tx1"/>
                </a:solidFill>
              </a:rPr>
              <a:t>Ücretsiz, ücretli ve açık kaynak seçenekler</a:t>
            </a:r>
            <a:endParaRPr lang="en-US" sz="4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17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1" type="body" hasCustomPrompt="1"/>
          </p:nvPr>
        </p:nvSpPr>
        <p:spPr>
          <a:xfrm>
            <a:off x="548640" y="320040"/>
            <a:ext cx="8778240" cy="320040"/>
          </a:xfrm>
          <a:prstGeom prst="rect">
            <a:avLst/>
          </a:prstGeom>
          <a:noFill/>
          <a:ln/>
        </p:spPr>
        <p:txBody>
          <a:bodyPr wrap="square" lIns="0" tIns="0" rIns="0" bIns="0" rtlCol="0" anchor="ctr"/>
          <a:lstStyle/>
          <a:p>
            <a:pPr indent="0" marL="0">
              <a:buNone/>
            </a:pPr>
            <a:r>
              <a:rPr lang="en-US" sz="1300" b="1" spc="200" kern="0" dirty="0">
                <a:solidFill>
                  <a:schemeClr val="accent3"/>
                </a:solidFill>
              </a:rPr>
              <a:t>GİRİŞ</a:t>
            </a:r>
            <a:endParaRPr lang="en-US" sz="1300" dirty="0"/>
          </a:p>
        </p:txBody>
      </p:sp>
      <p:sp>
        <p:nvSpPr>
          <p:cNvPr id="3" name="Text 0"/>
          <p:cNvSpPr/>
          <p:nvPr>
            <p:ph idx="102" type="title" hasCustomPrompt="1"/>
          </p:nvPr>
        </p:nvSpPr>
        <p:spPr>
          <a:xfrm>
            <a:off x="548640" y="658368"/>
            <a:ext cx="9052560" cy="731520"/>
          </a:xfrm>
          <a:prstGeom prst="rect">
            <a:avLst/>
          </a:prstGeom>
          <a:noFill/>
          <a:ln/>
        </p:spPr>
        <p:txBody>
          <a:bodyPr wrap="square" lIns="0" tIns="0" rIns="0" bIns="0" rtlCol="0" anchor="t"/>
          <a:lstStyle/>
          <a:p>
            <a:pPr algn="l" indent="0" marL="0">
              <a:buNone/>
            </a:pPr>
            <a:r>
              <a:rPr lang="en-US" sz="3400" b="1" dirty="0">
                <a:solidFill>
                  <a:schemeClr val="tx2"/>
                </a:solidFill>
              </a:rPr>
              <a:t>İki Tarafta da Yapay Zekâ</a:t>
            </a:r>
            <a:endParaRPr lang="en-US" sz="3400" dirty="0"/>
          </a:p>
        </p:txBody>
      </p:sp>
      <p:sp>
        <p:nvSpPr>
          <p:cNvPr id="5" name="kart"/>
          <p:cNvSpPr/>
          <p:nvPr/>
        </p:nvSpPr>
        <p:spPr>
          <a:xfrm>
            <a:off x="548640" y="1691640"/>
            <a:ext cx="5364328" cy="2971800"/>
          </a:xfrm>
          <a:prstGeom prst="roundRect">
            <a:avLst>
              <a:gd name="adj" fmla="val 2462"/>
            </a:avLst>
          </a:prstGeom>
          <a:solidFill>
            <a:schemeClr val="bg2"/>
          </a:solidFill>
          <a:ln/>
        </p:spPr>
      </p:sp>
      <p:sp>
        <p:nvSpPr>
          <p:cNvPr id="6" name="ikon-daire"/>
          <p:cNvSpPr/>
          <p:nvPr/>
        </p:nvSpPr>
        <p:spPr>
          <a:xfrm>
            <a:off x="868680" y="1920240"/>
            <a:ext cx="640080" cy="640080"/>
          </a:xfrm>
          <a:prstGeom prst="ellipse">
            <a:avLst/>
          </a:prstGeom>
          <a:solidFill>
            <a:schemeClr val="accent1"/>
          </a:solidFill>
          <a:ln/>
        </p:spPr>
      </p:sp>
      <p:pic>
        <p:nvPicPr>
          <p:cNvPr id="7" name="ikon" descr="preencoded.png">    </p:cNvPr>
          <p:cNvPicPr>
            <a:picLocks noChangeAspect="1"/>
          </p:cNvPicPr>
          <p:nvPr/>
        </p:nvPicPr>
        <p:blipFill>
          <a:blip r:embed="rId1"/>
          <a:stretch>
            <a:fillRect/>
          </a:stretch>
        </p:blipFill>
        <p:spPr>
          <a:xfrm>
            <a:off x="1028700" y="2080260"/>
            <a:ext cx="320040" cy="320040"/>
          </a:xfrm>
          <a:prstGeom prst="rect">
            <a:avLst/>
          </a:prstGeom>
        </p:spPr>
      </p:pic>
      <p:sp>
        <p:nvSpPr>
          <p:cNvPr id="8" name="Text 4"/>
          <p:cNvSpPr txBox="1"/>
          <p:nvPr/>
        </p:nvSpPr>
        <p:spPr>
          <a:xfrm>
            <a:off x="1691640" y="1920240"/>
            <a:ext cx="3901288" cy="640080"/>
          </a:xfrm>
          <a:prstGeom prst="rect">
            <a:avLst/>
          </a:prstGeom>
          <a:noFill/>
          <a:ln/>
        </p:spPr>
        <p:txBody>
          <a:bodyPr wrap="square" lIns="0" tIns="0" rIns="0" bIns="0" rtlCol="0" anchor="ctr"/>
          <a:lstStyle/>
          <a:p>
            <a:pPr indent="0" marL="0">
              <a:buNone/>
            </a:pPr>
            <a:r>
              <a:rPr lang="en-US" sz="2200" b="1" dirty="0">
                <a:solidFill>
                  <a:schemeClr val="tx2"/>
                </a:solidFill>
              </a:rPr>
              <a:t>İşveren tarafı</a:t>
            </a:r>
            <a:endParaRPr lang="en-US" sz="2200" dirty="0"/>
          </a:p>
        </p:txBody>
      </p:sp>
      <p:sp>
        <p:nvSpPr>
          <p:cNvPr id="9" name="Text 5"/>
          <p:cNvSpPr txBox="1"/>
          <p:nvPr/>
        </p:nvSpPr>
        <p:spPr>
          <a:xfrm>
            <a:off x="868680" y="2788920"/>
            <a:ext cx="4724248" cy="2103120"/>
          </a:xfrm>
          <a:prstGeom prst="rect">
            <a:avLst/>
          </a:prstGeom>
          <a:noFill/>
          <a:ln/>
        </p:spPr>
        <p:txBody>
          <a:bodyPr wrap="square" lIns="0" tIns="0" rIns="0" bIns="0" rtlCol="0" anchor="t"/>
          <a:lstStyle/>
          <a:p>
            <a:pPr marL="342900" indent="-342900">
              <a:spcAft>
                <a:spcPts val="1000"/>
              </a:spcAft>
              <a:buSzPct val="100000"/>
              <a:buChar char="•"/>
            </a:pPr>
            <a:r>
              <a:rPr lang="en-US" sz="1700" dirty="0">
                <a:solidFill>
                  <a:schemeClr val="tx1"/>
                </a:solidFill>
              </a:rPr>
              <a:t>ATS, CV'yi ayrıştırır ve sıralar</a:t>
            </a:r>
            <a:endParaRPr lang="en-US" sz="1700" dirty="0"/>
          </a:p>
          <a:p>
            <a:pPr marL="342900" indent="-342900">
              <a:spcAft>
                <a:spcPts val="1000"/>
              </a:spcAft>
              <a:buSzPct val="100000"/>
              <a:buChar char="•"/>
            </a:pPr>
            <a:r>
              <a:rPr lang="en-US" sz="1700" dirty="0">
                <a:solidFill>
                  <a:schemeClr val="tx1"/>
                </a:solidFill>
              </a:rPr>
              <a:t>YZ destekli aday arama (LinkedIn Recruiter)</a:t>
            </a:r>
            <a:endParaRPr lang="en-US" sz="1700" dirty="0"/>
          </a:p>
          <a:p>
            <a:pPr marL="342900" indent="-342900">
              <a:spcAft>
                <a:spcPts val="1000"/>
              </a:spcAft>
              <a:buSzPct val="100000"/>
              <a:buChar char="•"/>
            </a:pPr>
            <a:r>
              <a:rPr lang="en-US" sz="1700" dirty="0">
                <a:solidFill>
                  <a:schemeClr val="tx1"/>
                </a:solidFill>
              </a:rPr>
              <a:t>Otomatik eleme soruları</a:t>
            </a:r>
            <a:endParaRPr lang="en-US" sz="1700" dirty="0"/>
          </a:p>
        </p:txBody>
      </p:sp>
      <p:sp>
        <p:nvSpPr>
          <p:cNvPr id="10" name="kart"/>
          <p:cNvSpPr/>
          <p:nvPr/>
        </p:nvSpPr>
        <p:spPr>
          <a:xfrm>
            <a:off x="6278728" y="1691640"/>
            <a:ext cx="5364328" cy="2971800"/>
          </a:xfrm>
          <a:prstGeom prst="roundRect">
            <a:avLst>
              <a:gd name="adj" fmla="val 2462"/>
            </a:avLst>
          </a:prstGeom>
          <a:solidFill>
            <a:schemeClr val="bg2"/>
          </a:solidFill>
          <a:ln/>
        </p:spPr>
      </p:sp>
      <p:sp>
        <p:nvSpPr>
          <p:cNvPr id="11" name="ikon-daire"/>
          <p:cNvSpPr/>
          <p:nvPr/>
        </p:nvSpPr>
        <p:spPr>
          <a:xfrm>
            <a:off x="6598768" y="1920240"/>
            <a:ext cx="640080" cy="640080"/>
          </a:xfrm>
          <a:prstGeom prst="ellipse">
            <a:avLst/>
          </a:prstGeom>
          <a:solidFill>
            <a:schemeClr val="accent1"/>
          </a:solidFill>
          <a:ln/>
        </p:spPr>
      </p:sp>
      <p:pic>
        <p:nvPicPr>
          <p:cNvPr id="12" name="ikon" descr="preencoded.png">    </p:cNvPr>
          <p:cNvPicPr>
            <a:picLocks noChangeAspect="1"/>
          </p:cNvPicPr>
          <p:nvPr/>
        </p:nvPicPr>
        <p:blipFill>
          <a:blip r:embed="rId2"/>
          <a:stretch>
            <a:fillRect/>
          </a:stretch>
        </p:blipFill>
        <p:spPr>
          <a:xfrm>
            <a:off x="6758788" y="2080260"/>
            <a:ext cx="320040" cy="320040"/>
          </a:xfrm>
          <a:prstGeom prst="rect">
            <a:avLst/>
          </a:prstGeom>
        </p:spPr>
      </p:pic>
      <p:sp>
        <p:nvSpPr>
          <p:cNvPr id="13" name="Text 8"/>
          <p:cNvSpPr txBox="1"/>
          <p:nvPr/>
        </p:nvSpPr>
        <p:spPr>
          <a:xfrm>
            <a:off x="7421728" y="1920240"/>
            <a:ext cx="3901288" cy="640080"/>
          </a:xfrm>
          <a:prstGeom prst="rect">
            <a:avLst/>
          </a:prstGeom>
          <a:noFill/>
          <a:ln/>
        </p:spPr>
        <p:txBody>
          <a:bodyPr wrap="square" lIns="0" tIns="0" rIns="0" bIns="0" rtlCol="0" anchor="ctr"/>
          <a:lstStyle/>
          <a:p>
            <a:pPr indent="0" marL="0">
              <a:buNone/>
            </a:pPr>
            <a:r>
              <a:rPr lang="en-US" sz="2200" b="1" dirty="0">
                <a:solidFill>
                  <a:schemeClr val="tx2"/>
                </a:solidFill>
              </a:rPr>
              <a:t>Aday tarafı</a:t>
            </a:r>
            <a:endParaRPr lang="en-US" sz="2200" dirty="0"/>
          </a:p>
        </p:txBody>
      </p:sp>
      <p:sp>
        <p:nvSpPr>
          <p:cNvPr id="14" name="Text 9"/>
          <p:cNvSpPr txBox="1"/>
          <p:nvPr/>
        </p:nvSpPr>
        <p:spPr>
          <a:xfrm>
            <a:off x="6598768" y="2788920"/>
            <a:ext cx="4724248" cy="2103120"/>
          </a:xfrm>
          <a:prstGeom prst="rect">
            <a:avLst/>
          </a:prstGeom>
          <a:noFill/>
          <a:ln/>
        </p:spPr>
        <p:txBody>
          <a:bodyPr wrap="square" lIns="0" tIns="0" rIns="0" bIns="0" rtlCol="0" anchor="t"/>
          <a:lstStyle/>
          <a:p>
            <a:pPr marL="342900" indent="-342900">
              <a:spcAft>
                <a:spcPts val="1000"/>
              </a:spcAft>
              <a:buSzPct val="100000"/>
              <a:buChar char="•"/>
            </a:pPr>
            <a:r>
              <a:rPr lang="en-US" sz="1700" dirty="0">
                <a:solidFill>
                  <a:schemeClr val="tx1"/>
                </a:solidFill>
              </a:rPr>
              <a:t>LLM ile ilan analizi</a:t>
            </a:r>
            <a:endParaRPr lang="en-US" sz="1700" dirty="0"/>
          </a:p>
          <a:p>
            <a:pPr marL="342900" indent="-342900">
              <a:spcAft>
                <a:spcPts val="1000"/>
              </a:spcAft>
              <a:buSzPct val="100000"/>
              <a:buChar char="•"/>
            </a:pPr>
            <a:r>
              <a:rPr lang="en-US" sz="1700" dirty="0">
                <a:solidFill>
                  <a:schemeClr val="tx1"/>
                </a:solidFill>
              </a:rPr>
              <a:t>CV uyarlama ve ön yazı</a:t>
            </a:r>
            <a:endParaRPr lang="en-US" sz="1700" dirty="0"/>
          </a:p>
          <a:p>
            <a:pPr marL="342900" indent="-342900">
              <a:spcAft>
                <a:spcPts val="1000"/>
              </a:spcAft>
              <a:buSzPct val="100000"/>
              <a:buChar char="•"/>
            </a:pPr>
            <a:r>
              <a:rPr lang="en-US" sz="1700" dirty="0">
                <a:solidFill>
                  <a:schemeClr val="tx1"/>
                </a:solidFill>
              </a:rPr>
              <a:t>Açık kaynak iş arama eylemcileri</a:t>
            </a:r>
            <a:endParaRPr lang="en-US" sz="1700" dirty="0"/>
          </a:p>
        </p:txBody>
      </p:sp>
      <p:sp>
        <p:nvSpPr>
          <p:cNvPr id="15" name="ana-mesaj"/>
          <p:cNvSpPr/>
          <p:nvPr/>
        </p:nvSpPr>
        <p:spPr>
          <a:xfrm>
            <a:off x="548640" y="4983480"/>
            <a:ext cx="11094415" cy="685800"/>
          </a:xfrm>
          <a:prstGeom prst="roundRect">
            <a:avLst>
              <a:gd name="adj" fmla="val 10667"/>
            </a:avLst>
          </a:prstGeom>
          <a:solidFill>
            <a:schemeClr val="accent1"/>
          </a:solidFill>
          <a:ln/>
        </p:spPr>
      </p:sp>
      <p:sp>
        <p:nvSpPr>
          <p:cNvPr id="16" name="Text 11"/>
          <p:cNvSpPr txBox="1"/>
          <p:nvPr/>
        </p:nvSpPr>
        <p:spPr>
          <a:xfrm>
            <a:off x="868680" y="4983480"/>
            <a:ext cx="10454335" cy="685800"/>
          </a:xfrm>
          <a:prstGeom prst="rect">
            <a:avLst/>
          </a:prstGeom>
          <a:noFill/>
          <a:ln/>
        </p:spPr>
        <p:txBody>
          <a:bodyPr wrap="square" lIns="0" tIns="0" rIns="0" bIns="0" rtlCol="0" anchor="ctr"/>
          <a:lstStyle/>
          <a:p>
            <a:pPr indent="0" marL="0">
              <a:buNone/>
            </a:pPr>
            <a:r>
              <a:rPr lang="en-US" sz="1800" b="1" dirty="0">
                <a:solidFill>
                  <a:schemeClr val="bg1"/>
                </a:solidFill>
              </a:rPr>
              <a:t>Farkı oluşturan araç değil; doğru, ölçülebilir ve ilana uygun içerik.</a:t>
            </a:r>
            <a:endParaRPr lang="en-US" sz="18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17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1" type="body" hasCustomPrompt="1"/>
          </p:nvPr>
        </p:nvSpPr>
        <p:spPr>
          <a:xfrm>
            <a:off x="548640" y="320040"/>
            <a:ext cx="8778240" cy="320040"/>
          </a:xfrm>
          <a:prstGeom prst="rect">
            <a:avLst/>
          </a:prstGeom>
          <a:noFill/>
          <a:ln/>
        </p:spPr>
        <p:txBody>
          <a:bodyPr wrap="square" lIns="0" tIns="0" rIns="0" bIns="0" rtlCol="0" anchor="ctr"/>
          <a:lstStyle/>
          <a:p>
            <a:pPr indent="0" marL="0">
              <a:buNone/>
            </a:pPr>
            <a:r>
              <a:rPr lang="en-US" sz="1300" b="1" spc="200" kern="0" dirty="0">
                <a:solidFill>
                  <a:schemeClr val="accent3"/>
                </a:solidFill>
              </a:rPr>
              <a:t>01 · CV VE ATS</a:t>
            </a:r>
            <a:endParaRPr lang="en-US" sz="1300" dirty="0"/>
          </a:p>
        </p:txBody>
      </p:sp>
      <p:sp>
        <p:nvSpPr>
          <p:cNvPr id="3" name="Text 0"/>
          <p:cNvSpPr/>
          <p:nvPr>
            <p:ph idx="102" type="title" hasCustomPrompt="1"/>
          </p:nvPr>
        </p:nvSpPr>
        <p:spPr>
          <a:xfrm>
            <a:off x="548640" y="658368"/>
            <a:ext cx="9052560" cy="731520"/>
          </a:xfrm>
          <a:prstGeom prst="rect">
            <a:avLst/>
          </a:prstGeom>
          <a:noFill/>
          <a:ln/>
        </p:spPr>
        <p:txBody>
          <a:bodyPr wrap="square" lIns="0" tIns="0" rIns="0" bIns="0" rtlCol="0" anchor="t"/>
          <a:lstStyle/>
          <a:p>
            <a:pPr algn="l" indent="0" marL="0">
              <a:buNone/>
            </a:pPr>
            <a:r>
              <a:rPr lang="en-US" sz="3400" b="1" dirty="0">
                <a:solidFill>
                  <a:schemeClr val="tx2"/>
                </a:solidFill>
              </a:rPr>
              <a:t>ATS CV'nizi Nasıl Okur?</a:t>
            </a:r>
            <a:endParaRPr lang="en-US" sz="3400" dirty="0"/>
          </a:p>
        </p:txBody>
      </p:sp>
      <p:sp>
        <p:nvSpPr>
          <p:cNvPr id="5" name="kart"/>
          <p:cNvSpPr/>
          <p:nvPr/>
        </p:nvSpPr>
        <p:spPr>
          <a:xfrm>
            <a:off x="548640" y="1783080"/>
            <a:ext cx="3246120" cy="2651760"/>
          </a:xfrm>
          <a:prstGeom prst="roundRect">
            <a:avLst>
              <a:gd name="adj" fmla="val 2759"/>
            </a:avLst>
          </a:prstGeom>
          <a:solidFill>
            <a:schemeClr val="bg2"/>
          </a:solidFill>
          <a:ln/>
        </p:spPr>
      </p:sp>
      <p:sp>
        <p:nvSpPr>
          <p:cNvPr id="6" name="Shape 3"/>
          <p:cNvSpPr/>
          <p:nvPr/>
        </p:nvSpPr>
        <p:spPr>
          <a:xfrm>
            <a:off x="822960" y="2011680"/>
            <a:ext cx="548640" cy="548640"/>
          </a:xfrm>
          <a:prstGeom prst="ellipse">
            <a:avLst/>
          </a:prstGeom>
          <a:solidFill>
            <a:schemeClr val="accent2"/>
          </a:solidFill>
          <a:ln/>
        </p:spPr>
      </p:sp>
      <p:sp>
        <p:nvSpPr>
          <p:cNvPr id="7" name="Text 4"/>
          <p:cNvSpPr txBox="1"/>
          <p:nvPr/>
        </p:nvSpPr>
        <p:spPr>
          <a:xfrm>
            <a:off x="822960" y="201168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8" name="Text 5"/>
          <p:cNvSpPr txBox="1"/>
          <p:nvPr/>
        </p:nvSpPr>
        <p:spPr>
          <a:xfrm>
            <a:off x="822960" y="2743200"/>
            <a:ext cx="2697480" cy="1554480"/>
          </a:xfrm>
          <a:prstGeom prst="rect">
            <a:avLst/>
          </a:prstGeom>
          <a:noFill/>
          <a:ln/>
        </p:spPr>
        <p:txBody>
          <a:bodyPr wrap="square" lIns="0" tIns="0" rIns="0" bIns="0" rtlCol="0" anchor="t"/>
          <a:lstStyle/>
          <a:p>
            <a:pPr indent="0" marL="0">
              <a:spcAft>
                <a:spcPts val="600"/>
              </a:spcAft>
              <a:buNone/>
            </a:pPr>
            <a:r>
              <a:rPr lang="en-US" sz="2000" b="1" dirty="0">
                <a:solidFill>
                  <a:schemeClr val="tx2"/>
                </a:solidFill>
              </a:rPr>
              <a:t>Ayrıştırma</a:t>
            </a:r>
            <a:endParaRPr lang="en-US" sz="2000" dirty="0"/>
          </a:p>
          <a:p>
            <a:pPr indent="0" marL="0">
              <a:spcAft>
                <a:spcPts val="600"/>
              </a:spcAft>
              <a:buNone/>
            </a:pPr>
            <a:r>
              <a:rPr lang="en-US" sz="1500" dirty="0">
                <a:solidFill>
                  <a:schemeClr val="tx1"/>
                </a:solidFill>
              </a:rPr>
              <a:t>PDF metne çevrilir; iletişim, deneyim, eğitim ve beceri alanlarına bölünür</a:t>
            </a:r>
            <a:endParaRPr lang="en-US" sz="2000" dirty="0"/>
          </a:p>
        </p:txBody>
      </p:sp>
      <p:pic>
        <p:nvPicPr>
          <p:cNvPr id="9" name="Image 0" descr="preencoded.png">    </p:cNvPr>
          <p:cNvPicPr>
            <a:picLocks noChangeAspect="1"/>
          </p:cNvPicPr>
          <p:nvPr/>
        </p:nvPicPr>
        <p:blipFill>
          <a:blip r:embed="rId1"/>
          <a:stretch>
            <a:fillRect/>
          </a:stretch>
        </p:blipFill>
        <p:spPr>
          <a:xfrm>
            <a:off x="3996614" y="2971800"/>
            <a:ext cx="274320" cy="274320"/>
          </a:xfrm>
          <a:prstGeom prst="rect">
            <a:avLst/>
          </a:prstGeom>
        </p:spPr>
      </p:pic>
      <p:sp>
        <p:nvSpPr>
          <p:cNvPr id="10" name="kart"/>
          <p:cNvSpPr/>
          <p:nvPr/>
        </p:nvSpPr>
        <p:spPr>
          <a:xfrm>
            <a:off x="4472788" y="1783080"/>
            <a:ext cx="3246120" cy="2651760"/>
          </a:xfrm>
          <a:prstGeom prst="roundRect">
            <a:avLst>
              <a:gd name="adj" fmla="val 2759"/>
            </a:avLst>
          </a:prstGeom>
          <a:solidFill>
            <a:schemeClr val="bg2"/>
          </a:solidFill>
          <a:ln/>
        </p:spPr>
      </p:sp>
      <p:sp>
        <p:nvSpPr>
          <p:cNvPr id="11" name="Shape 7"/>
          <p:cNvSpPr/>
          <p:nvPr/>
        </p:nvSpPr>
        <p:spPr>
          <a:xfrm>
            <a:off x="4747108" y="2011680"/>
            <a:ext cx="548640" cy="548640"/>
          </a:xfrm>
          <a:prstGeom prst="ellipse">
            <a:avLst/>
          </a:prstGeom>
          <a:solidFill>
            <a:schemeClr val="accent2"/>
          </a:solidFill>
          <a:ln/>
        </p:spPr>
      </p:sp>
      <p:sp>
        <p:nvSpPr>
          <p:cNvPr id="12" name="Text 8"/>
          <p:cNvSpPr txBox="1"/>
          <p:nvPr/>
        </p:nvSpPr>
        <p:spPr>
          <a:xfrm>
            <a:off x="4747108" y="201168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13" name="Text 9"/>
          <p:cNvSpPr txBox="1"/>
          <p:nvPr/>
        </p:nvSpPr>
        <p:spPr>
          <a:xfrm>
            <a:off x="4747108" y="2743200"/>
            <a:ext cx="2697480" cy="1554480"/>
          </a:xfrm>
          <a:prstGeom prst="rect">
            <a:avLst/>
          </a:prstGeom>
          <a:noFill/>
          <a:ln/>
        </p:spPr>
        <p:txBody>
          <a:bodyPr wrap="square" lIns="0" tIns="0" rIns="0" bIns="0" rtlCol="0" anchor="t"/>
          <a:lstStyle/>
          <a:p>
            <a:pPr indent="0" marL="0">
              <a:spcAft>
                <a:spcPts val="600"/>
              </a:spcAft>
              <a:buNone/>
            </a:pPr>
            <a:r>
              <a:rPr lang="en-US" sz="2000" b="1" dirty="0">
                <a:solidFill>
                  <a:schemeClr val="tx2"/>
                </a:solidFill>
              </a:rPr>
              <a:t>Eşleştirme</a:t>
            </a:r>
            <a:endParaRPr lang="en-US" sz="2000" dirty="0"/>
          </a:p>
          <a:p>
            <a:pPr indent="0" marL="0">
              <a:spcAft>
                <a:spcPts val="600"/>
              </a:spcAft>
              <a:buNone/>
            </a:pPr>
            <a:r>
              <a:rPr lang="en-US" sz="1500" dirty="0">
                <a:solidFill>
                  <a:schemeClr val="tx1"/>
                </a:solidFill>
              </a:rPr>
              <a:t>İlandaki anahtar kelime, beceri ve unvanlar CV'de aranır</a:t>
            </a:r>
            <a:endParaRPr lang="en-US" sz="2000" dirty="0"/>
          </a:p>
        </p:txBody>
      </p:sp>
      <p:pic>
        <p:nvPicPr>
          <p:cNvPr id="14" name="Image 1" descr="preencoded.png">    </p:cNvPr>
          <p:cNvPicPr>
            <a:picLocks noChangeAspect="1"/>
          </p:cNvPicPr>
          <p:nvPr/>
        </p:nvPicPr>
        <p:blipFill>
          <a:blip r:embed="rId2"/>
          <a:stretch>
            <a:fillRect/>
          </a:stretch>
        </p:blipFill>
        <p:spPr>
          <a:xfrm>
            <a:off x="7920761" y="2971800"/>
            <a:ext cx="274320" cy="274320"/>
          </a:xfrm>
          <a:prstGeom prst="rect">
            <a:avLst/>
          </a:prstGeom>
        </p:spPr>
      </p:pic>
      <p:sp>
        <p:nvSpPr>
          <p:cNvPr id="15" name="kart"/>
          <p:cNvSpPr/>
          <p:nvPr/>
        </p:nvSpPr>
        <p:spPr>
          <a:xfrm>
            <a:off x="8396935" y="1783080"/>
            <a:ext cx="3246120" cy="2651760"/>
          </a:xfrm>
          <a:prstGeom prst="roundRect">
            <a:avLst>
              <a:gd name="adj" fmla="val 2759"/>
            </a:avLst>
          </a:prstGeom>
          <a:solidFill>
            <a:schemeClr val="bg2"/>
          </a:solidFill>
          <a:ln/>
        </p:spPr>
      </p:sp>
      <p:sp>
        <p:nvSpPr>
          <p:cNvPr id="16" name="Shape 11"/>
          <p:cNvSpPr/>
          <p:nvPr/>
        </p:nvSpPr>
        <p:spPr>
          <a:xfrm>
            <a:off x="8671255" y="2011680"/>
            <a:ext cx="548640" cy="548640"/>
          </a:xfrm>
          <a:prstGeom prst="ellipse">
            <a:avLst/>
          </a:prstGeom>
          <a:solidFill>
            <a:schemeClr val="accent2"/>
          </a:solidFill>
          <a:ln/>
        </p:spPr>
      </p:sp>
      <p:sp>
        <p:nvSpPr>
          <p:cNvPr id="17" name="Text 12"/>
          <p:cNvSpPr txBox="1"/>
          <p:nvPr/>
        </p:nvSpPr>
        <p:spPr>
          <a:xfrm>
            <a:off x="8671255" y="201168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18" name="Text 13"/>
          <p:cNvSpPr txBox="1"/>
          <p:nvPr/>
        </p:nvSpPr>
        <p:spPr>
          <a:xfrm>
            <a:off x="8671255" y="2743200"/>
            <a:ext cx="2697480" cy="1554480"/>
          </a:xfrm>
          <a:prstGeom prst="rect">
            <a:avLst/>
          </a:prstGeom>
          <a:noFill/>
          <a:ln/>
        </p:spPr>
        <p:txBody>
          <a:bodyPr wrap="square" lIns="0" tIns="0" rIns="0" bIns="0" rtlCol="0" anchor="t"/>
          <a:lstStyle/>
          <a:p>
            <a:pPr indent="0" marL="0">
              <a:spcAft>
                <a:spcPts val="600"/>
              </a:spcAft>
              <a:buNone/>
            </a:pPr>
            <a:r>
              <a:rPr lang="en-US" sz="2000" b="1" dirty="0">
                <a:solidFill>
                  <a:schemeClr val="tx2"/>
                </a:solidFill>
              </a:rPr>
              <a:t>Sıralama</a:t>
            </a:r>
            <a:endParaRPr lang="en-US" sz="2000" dirty="0"/>
          </a:p>
          <a:p>
            <a:pPr indent="0" marL="0">
              <a:spcAft>
                <a:spcPts val="600"/>
              </a:spcAft>
              <a:buNone/>
            </a:pPr>
            <a:r>
              <a:rPr lang="en-US" sz="1500" dirty="0">
                <a:solidFill>
                  <a:schemeClr val="tx1"/>
                </a:solidFill>
              </a:rPr>
              <a:t>Adaylar puanlanır, eleme soruları uygulanır</a:t>
            </a:r>
            <a:endParaRPr lang="en-US" sz="2000" dirty="0"/>
          </a:p>
        </p:txBody>
      </p:sp>
      <p:sp>
        <p:nvSpPr>
          <p:cNvPr id="19" name="kart"/>
          <p:cNvSpPr/>
          <p:nvPr/>
        </p:nvSpPr>
        <p:spPr>
          <a:xfrm>
            <a:off x="548640" y="4800600"/>
            <a:ext cx="11094415" cy="1051560"/>
          </a:xfrm>
          <a:prstGeom prst="roundRect">
            <a:avLst>
              <a:gd name="adj" fmla="val 6957"/>
            </a:avLst>
          </a:prstGeom>
          <a:solidFill>
            <a:schemeClr val="bg2"/>
          </a:solidFill>
          <a:ln/>
        </p:spPr>
      </p:sp>
      <p:sp>
        <p:nvSpPr>
          <p:cNvPr id="20" name="ikon-daire"/>
          <p:cNvSpPr/>
          <p:nvPr/>
        </p:nvSpPr>
        <p:spPr>
          <a:xfrm>
            <a:off x="822960" y="4983480"/>
            <a:ext cx="685800" cy="685800"/>
          </a:xfrm>
          <a:prstGeom prst="ellipse">
            <a:avLst/>
          </a:prstGeom>
          <a:solidFill>
            <a:schemeClr val="accent2"/>
          </a:solidFill>
          <a:ln/>
        </p:spPr>
      </p:sp>
      <p:pic>
        <p:nvPicPr>
          <p:cNvPr id="21" name="ikon" descr="preencoded.png">    </p:cNvPr>
          <p:cNvPicPr>
            <a:picLocks noChangeAspect="1"/>
          </p:cNvPicPr>
          <p:nvPr/>
        </p:nvPicPr>
        <p:blipFill>
          <a:blip r:embed="rId3"/>
          <a:stretch>
            <a:fillRect/>
          </a:stretch>
        </p:blipFill>
        <p:spPr>
          <a:xfrm>
            <a:off x="994410" y="5154930"/>
            <a:ext cx="342900" cy="342900"/>
          </a:xfrm>
          <a:prstGeom prst="rect">
            <a:avLst/>
          </a:prstGeom>
        </p:spPr>
      </p:pic>
      <p:sp>
        <p:nvSpPr>
          <p:cNvPr id="22" name="Text 16"/>
          <p:cNvSpPr txBox="1"/>
          <p:nvPr/>
        </p:nvSpPr>
        <p:spPr>
          <a:xfrm>
            <a:off x="1737360" y="4800600"/>
            <a:ext cx="9631375" cy="1051560"/>
          </a:xfrm>
          <a:prstGeom prst="rect">
            <a:avLst/>
          </a:prstGeom>
          <a:noFill/>
          <a:ln/>
        </p:spPr>
        <p:txBody>
          <a:bodyPr wrap="square" lIns="0" tIns="0" rIns="0" bIns="0" rtlCol="0" anchor="ctr"/>
          <a:lstStyle/>
          <a:p>
            <a:pPr indent="0" marL="0">
              <a:buNone/>
            </a:pPr>
            <a:r>
              <a:rPr lang="en-US" sz="1600" dirty="0">
                <a:solidFill>
                  <a:schemeClr val="tx1"/>
                </a:solidFill>
              </a:rPr>
              <a:t>Son kararı insan verir. Kendi PDF'inizi OpenResume ayrıştırıcısıyla test edin: ATS'nin gördüğü metni görürsünüz.</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17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1" type="body" hasCustomPrompt="1"/>
          </p:nvPr>
        </p:nvSpPr>
        <p:spPr>
          <a:xfrm>
            <a:off x="548640" y="320040"/>
            <a:ext cx="8778240" cy="320040"/>
          </a:xfrm>
          <a:prstGeom prst="rect">
            <a:avLst/>
          </a:prstGeom>
          <a:noFill/>
          <a:ln/>
        </p:spPr>
        <p:txBody>
          <a:bodyPr wrap="square" lIns="0" tIns="0" rIns="0" bIns="0" rtlCol="0" anchor="ctr"/>
          <a:lstStyle/>
          <a:p>
            <a:pPr indent="0" marL="0">
              <a:buNone/>
            </a:pPr>
            <a:r>
              <a:rPr lang="en-US" sz="1300" b="1" spc="200" kern="0" dirty="0">
                <a:solidFill>
                  <a:schemeClr val="accent3"/>
                </a:solidFill>
              </a:rPr>
              <a:t>01 · CV VE ATS</a:t>
            </a:r>
            <a:endParaRPr lang="en-US" sz="1300" dirty="0"/>
          </a:p>
        </p:txBody>
      </p:sp>
      <p:sp>
        <p:nvSpPr>
          <p:cNvPr id="3" name="Text 0"/>
          <p:cNvSpPr/>
          <p:nvPr>
            <p:ph idx="102" type="title" hasCustomPrompt="1"/>
          </p:nvPr>
        </p:nvSpPr>
        <p:spPr>
          <a:xfrm>
            <a:off x="548640" y="658368"/>
            <a:ext cx="9052560" cy="731520"/>
          </a:xfrm>
          <a:prstGeom prst="rect">
            <a:avLst/>
          </a:prstGeom>
          <a:noFill/>
          <a:ln/>
        </p:spPr>
        <p:txBody>
          <a:bodyPr wrap="square" lIns="0" tIns="0" rIns="0" bIns="0" rtlCol="0" anchor="t"/>
          <a:lstStyle/>
          <a:p>
            <a:pPr algn="l" indent="0" marL="0">
              <a:buNone/>
            </a:pPr>
            <a:r>
              <a:rPr lang="en-US" sz="3400" b="1" dirty="0">
                <a:solidFill>
                  <a:schemeClr val="tx2"/>
                </a:solidFill>
              </a:rPr>
              <a:t>ATS Uyumlu CV: Yap ve Yapma</a:t>
            </a:r>
            <a:endParaRPr lang="en-US" sz="3400" dirty="0"/>
          </a:p>
        </p:txBody>
      </p:sp>
      <p:sp>
        <p:nvSpPr>
          <p:cNvPr id="5" name="kart"/>
          <p:cNvSpPr/>
          <p:nvPr/>
        </p:nvSpPr>
        <p:spPr>
          <a:xfrm>
            <a:off x="548640" y="1691640"/>
            <a:ext cx="5364328" cy="4160520"/>
          </a:xfrm>
          <a:prstGeom prst="roundRect">
            <a:avLst>
              <a:gd name="adj" fmla="val 1758"/>
            </a:avLst>
          </a:prstGeom>
          <a:solidFill>
            <a:schemeClr val="accent5">
              <a:alpha val="8000"/>
            </a:schemeClr>
          </a:solidFill>
          <a:ln/>
        </p:spPr>
      </p:sp>
      <p:sp>
        <p:nvSpPr>
          <p:cNvPr id="6" name="Text 3"/>
          <p:cNvSpPr txBox="1"/>
          <p:nvPr/>
        </p:nvSpPr>
        <p:spPr>
          <a:xfrm>
            <a:off x="868680" y="1874520"/>
            <a:ext cx="4724248" cy="365760"/>
          </a:xfrm>
          <a:prstGeom prst="rect">
            <a:avLst/>
          </a:prstGeom>
          <a:noFill/>
          <a:ln/>
        </p:spPr>
        <p:txBody>
          <a:bodyPr wrap="square" lIns="0" tIns="0" rIns="0" bIns="0" rtlCol="0" anchor="ctr"/>
          <a:lstStyle/>
          <a:p>
            <a:pPr indent="0" marL="0">
              <a:buNone/>
            </a:pPr>
            <a:r>
              <a:rPr lang="en-US" sz="1400" b="1" spc="200" kern="0" dirty="0">
                <a:solidFill>
                  <a:schemeClr val="accent5"/>
                </a:solidFill>
              </a:rPr>
              <a:t>YAP</a:t>
            </a:r>
            <a:endParaRPr lang="en-US" sz="1400" dirty="0"/>
          </a:p>
        </p:txBody>
      </p:sp>
      <p:sp>
        <p:nvSpPr>
          <p:cNvPr id="7" name="ikon-daire"/>
          <p:cNvSpPr/>
          <p:nvPr/>
        </p:nvSpPr>
        <p:spPr>
          <a:xfrm>
            <a:off x="868680" y="2423160"/>
            <a:ext cx="438912" cy="438912"/>
          </a:xfrm>
          <a:prstGeom prst="ellipse">
            <a:avLst/>
          </a:prstGeom>
          <a:solidFill>
            <a:schemeClr val="accent5"/>
          </a:solidFill>
          <a:ln/>
        </p:spPr>
      </p:sp>
      <p:pic>
        <p:nvPicPr>
          <p:cNvPr id="8" name="ikon" descr="preencoded.png">    </p:cNvPr>
          <p:cNvPicPr>
            <a:picLocks noChangeAspect="1"/>
          </p:cNvPicPr>
          <p:nvPr/>
        </p:nvPicPr>
        <p:blipFill>
          <a:blip r:embed="rId1"/>
          <a:stretch>
            <a:fillRect/>
          </a:stretch>
        </p:blipFill>
        <p:spPr>
          <a:xfrm>
            <a:off x="978408" y="2532888"/>
            <a:ext cx="219456" cy="219456"/>
          </a:xfrm>
          <a:prstGeom prst="rect">
            <a:avLst/>
          </a:prstGeom>
        </p:spPr>
      </p:pic>
      <p:sp>
        <p:nvSpPr>
          <p:cNvPr id="9" name="Text 5"/>
          <p:cNvSpPr txBox="1"/>
          <p:nvPr/>
        </p:nvSpPr>
        <p:spPr>
          <a:xfrm>
            <a:off x="1536192" y="2377440"/>
            <a:ext cx="4056736" cy="548640"/>
          </a:xfrm>
          <a:prstGeom prst="rect">
            <a:avLst/>
          </a:prstGeom>
          <a:noFill/>
          <a:ln/>
        </p:spPr>
        <p:txBody>
          <a:bodyPr wrap="square" lIns="0" tIns="0" rIns="0" bIns="0" rtlCol="0" anchor="t"/>
          <a:lstStyle/>
          <a:p>
            <a:pPr indent="0" marL="0">
              <a:spcAft>
                <a:spcPts val="200"/>
              </a:spcAft>
              <a:buNone/>
            </a:pPr>
            <a:r>
              <a:rPr lang="en-US" sz="1700" b="1" dirty="0">
                <a:solidFill>
                  <a:schemeClr val="tx2"/>
                </a:solidFill>
              </a:rPr>
              <a:t>Tek sütun, standart başlıklar</a:t>
            </a:r>
            <a:endParaRPr lang="en-US" sz="1700" dirty="0"/>
          </a:p>
        </p:txBody>
      </p:sp>
      <p:sp>
        <p:nvSpPr>
          <p:cNvPr id="10" name="ikon-daire"/>
          <p:cNvSpPr/>
          <p:nvPr/>
        </p:nvSpPr>
        <p:spPr>
          <a:xfrm>
            <a:off x="868680" y="3081528"/>
            <a:ext cx="438912" cy="438912"/>
          </a:xfrm>
          <a:prstGeom prst="ellipse">
            <a:avLst/>
          </a:prstGeom>
          <a:solidFill>
            <a:schemeClr val="accent5"/>
          </a:solidFill>
          <a:ln/>
        </p:spPr>
      </p:sp>
      <p:pic>
        <p:nvPicPr>
          <p:cNvPr id="11" name="ikon" descr="preencoded.png">    </p:cNvPr>
          <p:cNvPicPr>
            <a:picLocks noChangeAspect="1"/>
          </p:cNvPicPr>
          <p:nvPr/>
        </p:nvPicPr>
        <p:blipFill>
          <a:blip r:embed="rId2"/>
          <a:stretch>
            <a:fillRect/>
          </a:stretch>
        </p:blipFill>
        <p:spPr>
          <a:xfrm>
            <a:off x="978408" y="3191256"/>
            <a:ext cx="219456" cy="219456"/>
          </a:xfrm>
          <a:prstGeom prst="rect">
            <a:avLst/>
          </a:prstGeom>
        </p:spPr>
      </p:pic>
      <p:sp>
        <p:nvSpPr>
          <p:cNvPr id="12" name="Text 7"/>
          <p:cNvSpPr txBox="1"/>
          <p:nvPr/>
        </p:nvSpPr>
        <p:spPr>
          <a:xfrm>
            <a:off x="1536192" y="3035808"/>
            <a:ext cx="4056736" cy="548640"/>
          </a:xfrm>
          <a:prstGeom prst="rect">
            <a:avLst/>
          </a:prstGeom>
          <a:noFill/>
          <a:ln/>
        </p:spPr>
        <p:txBody>
          <a:bodyPr wrap="square" lIns="0" tIns="0" rIns="0" bIns="0" rtlCol="0" anchor="t"/>
          <a:lstStyle/>
          <a:p>
            <a:pPr indent="0" marL="0">
              <a:spcAft>
                <a:spcPts val="200"/>
              </a:spcAft>
              <a:buNone/>
            </a:pPr>
            <a:r>
              <a:rPr lang="en-US" sz="1700" b="1" dirty="0">
                <a:solidFill>
                  <a:schemeClr val="tx2"/>
                </a:solidFill>
              </a:rPr>
              <a:t>Metni seçilebilen PDF</a:t>
            </a:r>
            <a:endParaRPr lang="en-US" sz="1700" dirty="0"/>
          </a:p>
        </p:txBody>
      </p:sp>
      <p:sp>
        <p:nvSpPr>
          <p:cNvPr id="13" name="ikon-daire"/>
          <p:cNvSpPr/>
          <p:nvPr/>
        </p:nvSpPr>
        <p:spPr>
          <a:xfrm>
            <a:off x="868680" y="3739896"/>
            <a:ext cx="438912" cy="438912"/>
          </a:xfrm>
          <a:prstGeom prst="ellipse">
            <a:avLst/>
          </a:prstGeom>
          <a:solidFill>
            <a:schemeClr val="accent5"/>
          </a:solidFill>
          <a:ln/>
        </p:spPr>
      </p:sp>
      <p:pic>
        <p:nvPicPr>
          <p:cNvPr id="14" name="ikon" descr="preencoded.png">    </p:cNvPr>
          <p:cNvPicPr>
            <a:picLocks noChangeAspect="1"/>
          </p:cNvPicPr>
          <p:nvPr/>
        </p:nvPicPr>
        <p:blipFill>
          <a:blip r:embed="rId3"/>
          <a:stretch>
            <a:fillRect/>
          </a:stretch>
        </p:blipFill>
        <p:spPr>
          <a:xfrm>
            <a:off x="978408" y="3849624"/>
            <a:ext cx="219456" cy="219456"/>
          </a:xfrm>
          <a:prstGeom prst="rect">
            <a:avLst/>
          </a:prstGeom>
        </p:spPr>
      </p:pic>
      <p:sp>
        <p:nvSpPr>
          <p:cNvPr id="15" name="Text 9"/>
          <p:cNvSpPr txBox="1"/>
          <p:nvPr/>
        </p:nvSpPr>
        <p:spPr>
          <a:xfrm>
            <a:off x="1536192" y="3694176"/>
            <a:ext cx="4056736" cy="548640"/>
          </a:xfrm>
          <a:prstGeom prst="rect">
            <a:avLst/>
          </a:prstGeom>
          <a:noFill/>
          <a:ln/>
        </p:spPr>
        <p:txBody>
          <a:bodyPr wrap="square" lIns="0" tIns="0" rIns="0" bIns="0" rtlCol="0" anchor="t"/>
          <a:lstStyle/>
          <a:p>
            <a:pPr indent="0" marL="0">
              <a:spcAft>
                <a:spcPts val="200"/>
              </a:spcAft>
              <a:buNone/>
            </a:pPr>
            <a:r>
              <a:rPr lang="en-US" sz="1700" b="1" dirty="0">
                <a:solidFill>
                  <a:schemeClr val="tx2"/>
                </a:solidFill>
              </a:rPr>
              <a:t>İlandaki terimleri birebir kullan</a:t>
            </a:r>
            <a:endParaRPr lang="en-US" sz="1700" dirty="0"/>
          </a:p>
        </p:txBody>
      </p:sp>
      <p:sp>
        <p:nvSpPr>
          <p:cNvPr id="16" name="ikon-daire"/>
          <p:cNvSpPr/>
          <p:nvPr/>
        </p:nvSpPr>
        <p:spPr>
          <a:xfrm>
            <a:off x="868680" y="4398264"/>
            <a:ext cx="438912" cy="438912"/>
          </a:xfrm>
          <a:prstGeom prst="ellipse">
            <a:avLst/>
          </a:prstGeom>
          <a:solidFill>
            <a:schemeClr val="accent5"/>
          </a:solidFill>
          <a:ln/>
        </p:spPr>
      </p:sp>
      <p:pic>
        <p:nvPicPr>
          <p:cNvPr id="17" name="ikon" descr="preencoded.png">    </p:cNvPr>
          <p:cNvPicPr>
            <a:picLocks noChangeAspect="1"/>
          </p:cNvPicPr>
          <p:nvPr/>
        </p:nvPicPr>
        <p:blipFill>
          <a:blip r:embed="rId4"/>
          <a:stretch>
            <a:fillRect/>
          </a:stretch>
        </p:blipFill>
        <p:spPr>
          <a:xfrm>
            <a:off x="978408" y="4507992"/>
            <a:ext cx="219456" cy="219456"/>
          </a:xfrm>
          <a:prstGeom prst="rect">
            <a:avLst/>
          </a:prstGeom>
        </p:spPr>
      </p:pic>
      <p:sp>
        <p:nvSpPr>
          <p:cNvPr id="18" name="Text 11"/>
          <p:cNvSpPr txBox="1"/>
          <p:nvPr/>
        </p:nvSpPr>
        <p:spPr>
          <a:xfrm>
            <a:off x="1536192" y="4352544"/>
            <a:ext cx="4056736" cy="548640"/>
          </a:xfrm>
          <a:prstGeom prst="rect">
            <a:avLst/>
          </a:prstGeom>
          <a:noFill/>
          <a:ln/>
        </p:spPr>
        <p:txBody>
          <a:bodyPr wrap="square" lIns="0" tIns="0" rIns="0" bIns="0" rtlCol="0" anchor="t"/>
          <a:lstStyle/>
          <a:p>
            <a:pPr indent="0" marL="0">
              <a:spcAft>
                <a:spcPts val="200"/>
              </a:spcAft>
              <a:buNone/>
            </a:pPr>
            <a:r>
              <a:rPr lang="en-US" sz="1700" b="1" dirty="0">
                <a:solidFill>
                  <a:schemeClr val="tx2"/>
                </a:solidFill>
              </a:rPr>
              <a:t>Ters kronolojik sıra</a:t>
            </a:r>
            <a:endParaRPr lang="en-US" sz="1700" dirty="0"/>
          </a:p>
        </p:txBody>
      </p:sp>
      <p:sp>
        <p:nvSpPr>
          <p:cNvPr id="19" name="kart"/>
          <p:cNvSpPr/>
          <p:nvPr/>
        </p:nvSpPr>
        <p:spPr>
          <a:xfrm>
            <a:off x="6278728" y="1691640"/>
            <a:ext cx="5364328" cy="4160520"/>
          </a:xfrm>
          <a:prstGeom prst="roundRect">
            <a:avLst>
              <a:gd name="adj" fmla="val 1758"/>
            </a:avLst>
          </a:prstGeom>
          <a:solidFill>
            <a:schemeClr val="accent4">
              <a:alpha val="8000"/>
            </a:schemeClr>
          </a:solidFill>
          <a:ln/>
        </p:spPr>
      </p:sp>
      <p:sp>
        <p:nvSpPr>
          <p:cNvPr id="20" name="Text 13"/>
          <p:cNvSpPr txBox="1"/>
          <p:nvPr/>
        </p:nvSpPr>
        <p:spPr>
          <a:xfrm>
            <a:off x="6598768" y="1874520"/>
            <a:ext cx="4724248" cy="365760"/>
          </a:xfrm>
          <a:prstGeom prst="rect">
            <a:avLst/>
          </a:prstGeom>
          <a:noFill/>
          <a:ln/>
        </p:spPr>
        <p:txBody>
          <a:bodyPr wrap="square" lIns="0" tIns="0" rIns="0" bIns="0" rtlCol="0" anchor="ctr"/>
          <a:lstStyle/>
          <a:p>
            <a:pPr indent="0" marL="0">
              <a:buNone/>
            </a:pPr>
            <a:r>
              <a:rPr lang="en-US" sz="1400" b="1" spc="200" kern="0" dirty="0">
                <a:solidFill>
                  <a:schemeClr val="accent4"/>
                </a:solidFill>
              </a:rPr>
              <a:t>YAPMA</a:t>
            </a:r>
            <a:endParaRPr lang="en-US" sz="1400" dirty="0"/>
          </a:p>
        </p:txBody>
      </p:sp>
      <p:sp>
        <p:nvSpPr>
          <p:cNvPr id="21" name="ikon-daire"/>
          <p:cNvSpPr/>
          <p:nvPr/>
        </p:nvSpPr>
        <p:spPr>
          <a:xfrm>
            <a:off x="6598768" y="2423160"/>
            <a:ext cx="438912" cy="438912"/>
          </a:xfrm>
          <a:prstGeom prst="ellipse">
            <a:avLst/>
          </a:prstGeom>
          <a:solidFill>
            <a:schemeClr val="accent4"/>
          </a:solidFill>
          <a:ln/>
        </p:spPr>
      </p:sp>
      <p:pic>
        <p:nvPicPr>
          <p:cNvPr id="22" name="ikon" descr="preencoded.png">    </p:cNvPr>
          <p:cNvPicPr>
            <a:picLocks noChangeAspect="1"/>
          </p:cNvPicPr>
          <p:nvPr/>
        </p:nvPicPr>
        <p:blipFill>
          <a:blip r:embed="rId5"/>
          <a:stretch>
            <a:fillRect/>
          </a:stretch>
        </p:blipFill>
        <p:spPr>
          <a:xfrm>
            <a:off x="6708496" y="2532888"/>
            <a:ext cx="219456" cy="219456"/>
          </a:xfrm>
          <a:prstGeom prst="rect">
            <a:avLst/>
          </a:prstGeom>
        </p:spPr>
      </p:pic>
      <p:sp>
        <p:nvSpPr>
          <p:cNvPr id="23" name="Text 15"/>
          <p:cNvSpPr txBox="1"/>
          <p:nvPr/>
        </p:nvSpPr>
        <p:spPr>
          <a:xfrm>
            <a:off x="7266280" y="2377440"/>
            <a:ext cx="4056736" cy="548640"/>
          </a:xfrm>
          <a:prstGeom prst="rect">
            <a:avLst/>
          </a:prstGeom>
          <a:noFill/>
          <a:ln/>
        </p:spPr>
        <p:txBody>
          <a:bodyPr wrap="square" lIns="0" tIns="0" rIns="0" bIns="0" rtlCol="0" anchor="t"/>
          <a:lstStyle/>
          <a:p>
            <a:pPr indent="0" marL="0">
              <a:spcAft>
                <a:spcPts val="200"/>
              </a:spcAft>
              <a:buNone/>
            </a:pPr>
            <a:r>
              <a:rPr lang="en-US" sz="1700" b="1" dirty="0">
                <a:solidFill>
                  <a:schemeClr val="tx2"/>
                </a:solidFill>
              </a:rPr>
              <a:t>Medeni durum, din gibi kişisel bilgi</a:t>
            </a:r>
            <a:endParaRPr lang="en-US" sz="1700" dirty="0"/>
          </a:p>
        </p:txBody>
      </p:sp>
      <p:sp>
        <p:nvSpPr>
          <p:cNvPr id="24" name="ikon-daire"/>
          <p:cNvSpPr/>
          <p:nvPr/>
        </p:nvSpPr>
        <p:spPr>
          <a:xfrm>
            <a:off x="6598768" y="3081528"/>
            <a:ext cx="438912" cy="438912"/>
          </a:xfrm>
          <a:prstGeom prst="ellipse">
            <a:avLst/>
          </a:prstGeom>
          <a:solidFill>
            <a:schemeClr val="accent4"/>
          </a:solidFill>
          <a:ln/>
        </p:spPr>
      </p:sp>
      <p:pic>
        <p:nvPicPr>
          <p:cNvPr id="25" name="ikon" descr="preencoded.png">    </p:cNvPr>
          <p:cNvPicPr>
            <a:picLocks noChangeAspect="1"/>
          </p:cNvPicPr>
          <p:nvPr/>
        </p:nvPicPr>
        <p:blipFill>
          <a:blip r:embed="rId6"/>
          <a:stretch>
            <a:fillRect/>
          </a:stretch>
        </p:blipFill>
        <p:spPr>
          <a:xfrm>
            <a:off x="6708496" y="3191256"/>
            <a:ext cx="219456" cy="219456"/>
          </a:xfrm>
          <a:prstGeom prst="rect">
            <a:avLst/>
          </a:prstGeom>
        </p:spPr>
      </p:pic>
      <p:sp>
        <p:nvSpPr>
          <p:cNvPr id="26" name="Text 17"/>
          <p:cNvSpPr txBox="1"/>
          <p:nvPr/>
        </p:nvSpPr>
        <p:spPr>
          <a:xfrm>
            <a:off x="7266280" y="3035808"/>
            <a:ext cx="4056736" cy="548640"/>
          </a:xfrm>
          <a:prstGeom prst="rect">
            <a:avLst/>
          </a:prstGeom>
          <a:noFill/>
          <a:ln/>
        </p:spPr>
        <p:txBody>
          <a:bodyPr wrap="square" lIns="0" tIns="0" rIns="0" bIns="0" rtlCol="0" anchor="t"/>
          <a:lstStyle/>
          <a:p>
            <a:pPr indent="0" marL="0">
              <a:spcAft>
                <a:spcPts val="200"/>
              </a:spcAft>
              <a:buNone/>
            </a:pPr>
            <a:r>
              <a:rPr lang="en-US" sz="1700" b="1" dirty="0">
                <a:solidFill>
                  <a:schemeClr val="tx2"/>
                </a:solidFill>
              </a:rPr>
              <a:t>"CV" veya "Özgeçmiş" başlığı</a:t>
            </a:r>
            <a:endParaRPr lang="en-US" sz="1700" dirty="0"/>
          </a:p>
        </p:txBody>
      </p:sp>
      <p:sp>
        <p:nvSpPr>
          <p:cNvPr id="27" name="ikon-daire"/>
          <p:cNvSpPr/>
          <p:nvPr/>
        </p:nvSpPr>
        <p:spPr>
          <a:xfrm>
            <a:off x="6598768" y="3739896"/>
            <a:ext cx="438912" cy="438912"/>
          </a:xfrm>
          <a:prstGeom prst="ellipse">
            <a:avLst/>
          </a:prstGeom>
          <a:solidFill>
            <a:schemeClr val="accent4"/>
          </a:solidFill>
          <a:ln/>
        </p:spPr>
      </p:sp>
      <p:pic>
        <p:nvPicPr>
          <p:cNvPr id="28" name="ikon" descr="preencoded.png">    </p:cNvPr>
          <p:cNvPicPr>
            <a:picLocks noChangeAspect="1"/>
          </p:cNvPicPr>
          <p:nvPr/>
        </p:nvPicPr>
        <p:blipFill>
          <a:blip r:embed="rId7"/>
          <a:stretch>
            <a:fillRect/>
          </a:stretch>
        </p:blipFill>
        <p:spPr>
          <a:xfrm>
            <a:off x="6708496" y="3849624"/>
            <a:ext cx="219456" cy="219456"/>
          </a:xfrm>
          <a:prstGeom prst="rect">
            <a:avLst/>
          </a:prstGeom>
        </p:spPr>
      </p:pic>
      <p:sp>
        <p:nvSpPr>
          <p:cNvPr id="29" name="Text 19"/>
          <p:cNvSpPr txBox="1"/>
          <p:nvPr/>
        </p:nvSpPr>
        <p:spPr>
          <a:xfrm>
            <a:off x="7266280" y="3694176"/>
            <a:ext cx="4056736" cy="548640"/>
          </a:xfrm>
          <a:prstGeom prst="rect">
            <a:avLst/>
          </a:prstGeom>
          <a:noFill/>
          <a:ln/>
        </p:spPr>
        <p:txBody>
          <a:bodyPr wrap="square" lIns="0" tIns="0" rIns="0" bIns="0" rtlCol="0" anchor="t"/>
          <a:lstStyle/>
          <a:p>
            <a:pPr indent="0" marL="0">
              <a:spcAft>
                <a:spcPts val="200"/>
              </a:spcAft>
              <a:buNone/>
            </a:pPr>
            <a:r>
              <a:rPr lang="en-US" sz="1700" b="1" dirty="0">
                <a:solidFill>
                  <a:schemeClr val="tx2"/>
                </a:solidFill>
              </a:rPr>
              <a:t>Açıklanmamış kısaltma</a:t>
            </a:r>
            <a:endParaRPr lang="en-US" sz="1700" dirty="0"/>
          </a:p>
        </p:txBody>
      </p:sp>
      <p:sp>
        <p:nvSpPr>
          <p:cNvPr id="30" name="ikon-daire"/>
          <p:cNvSpPr/>
          <p:nvPr/>
        </p:nvSpPr>
        <p:spPr>
          <a:xfrm>
            <a:off x="6598768" y="4398264"/>
            <a:ext cx="438912" cy="438912"/>
          </a:xfrm>
          <a:prstGeom prst="ellipse">
            <a:avLst/>
          </a:prstGeom>
          <a:solidFill>
            <a:schemeClr val="accent4"/>
          </a:solidFill>
          <a:ln/>
        </p:spPr>
      </p:sp>
      <p:pic>
        <p:nvPicPr>
          <p:cNvPr id="31" name="ikon" descr="preencoded.png">    </p:cNvPr>
          <p:cNvPicPr>
            <a:picLocks noChangeAspect="1"/>
          </p:cNvPicPr>
          <p:nvPr/>
        </p:nvPicPr>
        <p:blipFill>
          <a:blip r:embed="rId8"/>
          <a:stretch>
            <a:fillRect/>
          </a:stretch>
        </p:blipFill>
        <p:spPr>
          <a:xfrm>
            <a:off x="6708496" y="4507992"/>
            <a:ext cx="219456" cy="219456"/>
          </a:xfrm>
          <a:prstGeom prst="rect">
            <a:avLst/>
          </a:prstGeom>
        </p:spPr>
      </p:pic>
      <p:sp>
        <p:nvSpPr>
          <p:cNvPr id="32" name="Text 21"/>
          <p:cNvSpPr txBox="1"/>
          <p:nvPr/>
        </p:nvSpPr>
        <p:spPr>
          <a:xfrm>
            <a:off x="7266280" y="4352544"/>
            <a:ext cx="4056736" cy="548640"/>
          </a:xfrm>
          <a:prstGeom prst="rect">
            <a:avLst/>
          </a:prstGeom>
          <a:noFill/>
          <a:ln/>
        </p:spPr>
        <p:txBody>
          <a:bodyPr wrap="square" lIns="0" tIns="0" rIns="0" bIns="0" rtlCol="0" anchor="t"/>
          <a:lstStyle/>
          <a:p>
            <a:pPr indent="0" marL="0">
              <a:spcAft>
                <a:spcPts val="200"/>
              </a:spcAft>
              <a:buNone/>
            </a:pPr>
            <a:r>
              <a:rPr lang="en-US" sz="1700" b="1" dirty="0">
                <a:solidFill>
                  <a:schemeClr val="tx2"/>
                </a:solidFill>
              </a:rPr>
              <a:t>Aynı bilginin tekrarı</a:t>
            </a:r>
            <a:endParaRPr lang="en-US" sz="1700" dirty="0"/>
          </a:p>
        </p:txBody>
      </p:sp>
      <p:sp>
        <p:nvSpPr>
          <p:cNvPr id="33" name="ikon-daire"/>
          <p:cNvSpPr/>
          <p:nvPr/>
        </p:nvSpPr>
        <p:spPr>
          <a:xfrm>
            <a:off x="6598768" y="5056632"/>
            <a:ext cx="438912" cy="438912"/>
          </a:xfrm>
          <a:prstGeom prst="ellipse">
            <a:avLst/>
          </a:prstGeom>
          <a:solidFill>
            <a:schemeClr val="accent4"/>
          </a:solidFill>
          <a:ln/>
        </p:spPr>
      </p:sp>
      <p:pic>
        <p:nvPicPr>
          <p:cNvPr id="34" name="ikon" descr="preencoded.png">    </p:cNvPr>
          <p:cNvPicPr>
            <a:picLocks noChangeAspect="1"/>
          </p:cNvPicPr>
          <p:nvPr/>
        </p:nvPicPr>
        <p:blipFill>
          <a:blip r:embed="rId9"/>
          <a:stretch>
            <a:fillRect/>
          </a:stretch>
        </p:blipFill>
        <p:spPr>
          <a:xfrm>
            <a:off x="6708496" y="5166360"/>
            <a:ext cx="219456" cy="219456"/>
          </a:xfrm>
          <a:prstGeom prst="rect">
            <a:avLst/>
          </a:prstGeom>
        </p:spPr>
      </p:pic>
      <p:sp>
        <p:nvSpPr>
          <p:cNvPr id="35" name="Text 23"/>
          <p:cNvSpPr txBox="1"/>
          <p:nvPr/>
        </p:nvSpPr>
        <p:spPr>
          <a:xfrm>
            <a:off x="7266280" y="5010912"/>
            <a:ext cx="4056736" cy="548640"/>
          </a:xfrm>
          <a:prstGeom prst="rect">
            <a:avLst/>
          </a:prstGeom>
          <a:noFill/>
          <a:ln/>
        </p:spPr>
        <p:txBody>
          <a:bodyPr wrap="square" lIns="0" tIns="0" rIns="0" bIns="0" rtlCol="0" anchor="t"/>
          <a:lstStyle/>
          <a:p>
            <a:pPr indent="0" marL="0">
              <a:spcAft>
                <a:spcPts val="200"/>
              </a:spcAft>
              <a:buNone/>
            </a:pPr>
            <a:r>
              <a:rPr lang="en-US" sz="1700" b="1" dirty="0">
                <a:solidFill>
                  <a:schemeClr val="tx2"/>
                </a:solidFill>
              </a:rPr>
              <a:t>Gerçek olmayan bilgi</a:t>
            </a:r>
            <a:endParaRPr lang="en-US" sz="17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17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1" type="body" hasCustomPrompt="1"/>
          </p:nvPr>
        </p:nvSpPr>
        <p:spPr>
          <a:xfrm>
            <a:off x="548640" y="320040"/>
            <a:ext cx="8778240" cy="320040"/>
          </a:xfrm>
          <a:prstGeom prst="rect">
            <a:avLst/>
          </a:prstGeom>
          <a:noFill/>
          <a:ln/>
        </p:spPr>
        <p:txBody>
          <a:bodyPr wrap="square" lIns="0" tIns="0" rIns="0" bIns="0" rtlCol="0" anchor="ctr"/>
          <a:lstStyle/>
          <a:p>
            <a:pPr indent="0" marL="0">
              <a:buNone/>
            </a:pPr>
            <a:r>
              <a:rPr lang="en-US" sz="1300" b="1" spc="200" kern="0" dirty="0">
                <a:solidFill>
                  <a:schemeClr val="accent3"/>
                </a:solidFill>
              </a:rPr>
              <a:t>01 · CV VE ATS</a:t>
            </a:r>
            <a:endParaRPr lang="en-US" sz="1300" dirty="0"/>
          </a:p>
        </p:txBody>
      </p:sp>
      <p:sp>
        <p:nvSpPr>
          <p:cNvPr id="3" name="Text 0"/>
          <p:cNvSpPr/>
          <p:nvPr>
            <p:ph idx="102" type="title" hasCustomPrompt="1"/>
          </p:nvPr>
        </p:nvSpPr>
        <p:spPr>
          <a:xfrm>
            <a:off x="548640" y="658368"/>
            <a:ext cx="9052560" cy="731520"/>
          </a:xfrm>
          <a:prstGeom prst="rect">
            <a:avLst/>
          </a:prstGeom>
          <a:noFill/>
          <a:ln/>
        </p:spPr>
        <p:txBody>
          <a:bodyPr wrap="square" lIns="0" tIns="0" rIns="0" bIns="0" rtlCol="0" anchor="t"/>
          <a:lstStyle/>
          <a:p>
            <a:pPr algn="l" indent="0" marL="0">
              <a:buNone/>
            </a:pPr>
            <a:r>
              <a:rPr lang="en-US" sz="3400" b="1" dirty="0">
                <a:solidFill>
                  <a:schemeClr val="tx2"/>
                </a:solidFill>
              </a:rPr>
              <a:t>İyi Bir Madde Nasıl Yazılır?</a:t>
            </a:r>
            <a:endParaRPr lang="en-US" sz="3400" dirty="0"/>
          </a:p>
        </p:txBody>
      </p:sp>
      <p:sp>
        <p:nvSpPr>
          <p:cNvPr id="5" name="formul"/>
          <p:cNvSpPr/>
          <p:nvPr/>
        </p:nvSpPr>
        <p:spPr>
          <a:xfrm>
            <a:off x="548640" y="1783080"/>
            <a:ext cx="2423160" cy="822960"/>
          </a:xfrm>
          <a:prstGeom prst="roundRect">
            <a:avLst>
              <a:gd name="adj" fmla="val 8889"/>
            </a:avLst>
          </a:prstGeom>
          <a:solidFill>
            <a:schemeClr val="accent1"/>
          </a:solidFill>
          <a:ln/>
        </p:spPr>
      </p:sp>
      <p:sp>
        <p:nvSpPr>
          <p:cNvPr id="6" name="Text 3"/>
          <p:cNvSpPr txBox="1"/>
          <p:nvPr/>
        </p:nvSpPr>
        <p:spPr>
          <a:xfrm>
            <a:off x="548640" y="1783080"/>
            <a:ext cx="2423160" cy="822960"/>
          </a:xfrm>
          <a:prstGeom prst="rect">
            <a:avLst/>
          </a:prstGeom>
          <a:noFill/>
          <a:ln/>
        </p:spPr>
        <p:txBody>
          <a:bodyPr wrap="square" lIns="0" tIns="0" rIns="0" bIns="0" rtlCol="0" anchor="ctr"/>
          <a:lstStyle/>
          <a:p>
            <a:pPr algn="ctr" indent="0" marL="0">
              <a:buNone/>
            </a:pPr>
            <a:r>
              <a:rPr lang="en-US" sz="1800" b="1" dirty="0">
                <a:solidFill>
                  <a:schemeClr val="bg1"/>
                </a:solidFill>
              </a:rPr>
              <a:t>Aktif fiil</a:t>
            </a:r>
            <a:endParaRPr lang="en-US" sz="1800" dirty="0"/>
          </a:p>
        </p:txBody>
      </p:sp>
      <p:sp>
        <p:nvSpPr>
          <p:cNvPr id="7" name="Text 4"/>
          <p:cNvSpPr txBox="1"/>
          <p:nvPr/>
        </p:nvSpPr>
        <p:spPr>
          <a:xfrm>
            <a:off x="2971800" y="1783080"/>
            <a:ext cx="467258" cy="822960"/>
          </a:xfrm>
          <a:prstGeom prst="rect">
            <a:avLst/>
          </a:prstGeom>
          <a:noFill/>
          <a:ln/>
        </p:spPr>
        <p:txBody>
          <a:bodyPr wrap="square" lIns="0" tIns="0" rIns="0" bIns="0" rtlCol="0" anchor="ctr"/>
          <a:lstStyle/>
          <a:p>
            <a:pPr algn="ctr" indent="0" marL="0">
              <a:buNone/>
            </a:pPr>
            <a:r>
              <a:rPr lang="en-US" sz="3000" b="1" dirty="0">
                <a:solidFill>
                  <a:schemeClr val="accent2"/>
                </a:solidFill>
              </a:rPr>
              <a:t>+</a:t>
            </a:r>
            <a:endParaRPr lang="en-US" sz="3000" dirty="0"/>
          </a:p>
        </p:txBody>
      </p:sp>
      <p:sp>
        <p:nvSpPr>
          <p:cNvPr id="8" name="formul"/>
          <p:cNvSpPr/>
          <p:nvPr/>
        </p:nvSpPr>
        <p:spPr>
          <a:xfrm>
            <a:off x="3439058" y="1783080"/>
            <a:ext cx="2423160" cy="822960"/>
          </a:xfrm>
          <a:prstGeom prst="roundRect">
            <a:avLst>
              <a:gd name="adj" fmla="val 8889"/>
            </a:avLst>
          </a:prstGeom>
          <a:solidFill>
            <a:schemeClr val="accent1"/>
          </a:solidFill>
          <a:ln/>
        </p:spPr>
      </p:sp>
      <p:sp>
        <p:nvSpPr>
          <p:cNvPr id="9" name="Text 6"/>
          <p:cNvSpPr txBox="1"/>
          <p:nvPr/>
        </p:nvSpPr>
        <p:spPr>
          <a:xfrm>
            <a:off x="3439058" y="1783080"/>
            <a:ext cx="2423160" cy="822960"/>
          </a:xfrm>
          <a:prstGeom prst="rect">
            <a:avLst/>
          </a:prstGeom>
          <a:noFill/>
          <a:ln/>
        </p:spPr>
        <p:txBody>
          <a:bodyPr wrap="square" lIns="0" tIns="0" rIns="0" bIns="0" rtlCol="0" anchor="ctr"/>
          <a:lstStyle/>
          <a:p>
            <a:pPr algn="ctr" indent="0" marL="0">
              <a:buNone/>
            </a:pPr>
            <a:r>
              <a:rPr lang="en-US" sz="1800" b="1" dirty="0">
                <a:solidFill>
                  <a:schemeClr val="bg1"/>
                </a:solidFill>
              </a:rPr>
              <a:t>Ne yaptın</a:t>
            </a:r>
            <a:endParaRPr lang="en-US" sz="1800" dirty="0"/>
          </a:p>
        </p:txBody>
      </p:sp>
      <p:sp>
        <p:nvSpPr>
          <p:cNvPr id="10" name="Text 7"/>
          <p:cNvSpPr txBox="1"/>
          <p:nvPr/>
        </p:nvSpPr>
        <p:spPr>
          <a:xfrm>
            <a:off x="5862218" y="1783080"/>
            <a:ext cx="467258" cy="822960"/>
          </a:xfrm>
          <a:prstGeom prst="rect">
            <a:avLst/>
          </a:prstGeom>
          <a:noFill/>
          <a:ln/>
        </p:spPr>
        <p:txBody>
          <a:bodyPr wrap="square" lIns="0" tIns="0" rIns="0" bIns="0" rtlCol="0" anchor="ctr"/>
          <a:lstStyle/>
          <a:p>
            <a:pPr algn="ctr" indent="0" marL="0">
              <a:buNone/>
            </a:pPr>
            <a:r>
              <a:rPr lang="en-US" sz="3000" b="1" dirty="0">
                <a:solidFill>
                  <a:schemeClr val="accent2"/>
                </a:solidFill>
              </a:rPr>
              <a:t>+</a:t>
            </a:r>
            <a:endParaRPr lang="en-US" sz="3000" dirty="0"/>
          </a:p>
        </p:txBody>
      </p:sp>
      <p:sp>
        <p:nvSpPr>
          <p:cNvPr id="11" name="formul"/>
          <p:cNvSpPr/>
          <p:nvPr/>
        </p:nvSpPr>
        <p:spPr>
          <a:xfrm>
            <a:off x="6329477" y="1783080"/>
            <a:ext cx="2423160" cy="822960"/>
          </a:xfrm>
          <a:prstGeom prst="roundRect">
            <a:avLst>
              <a:gd name="adj" fmla="val 8889"/>
            </a:avLst>
          </a:prstGeom>
          <a:solidFill>
            <a:schemeClr val="accent1"/>
          </a:solidFill>
          <a:ln/>
        </p:spPr>
      </p:sp>
      <p:sp>
        <p:nvSpPr>
          <p:cNvPr id="12" name="Text 9"/>
          <p:cNvSpPr txBox="1"/>
          <p:nvPr/>
        </p:nvSpPr>
        <p:spPr>
          <a:xfrm>
            <a:off x="6329477" y="1783080"/>
            <a:ext cx="2423160" cy="822960"/>
          </a:xfrm>
          <a:prstGeom prst="rect">
            <a:avLst/>
          </a:prstGeom>
          <a:noFill/>
          <a:ln/>
        </p:spPr>
        <p:txBody>
          <a:bodyPr wrap="square" lIns="0" tIns="0" rIns="0" bIns="0" rtlCol="0" anchor="ctr"/>
          <a:lstStyle/>
          <a:p>
            <a:pPr algn="ctr" indent="0" marL="0">
              <a:buNone/>
            </a:pPr>
            <a:r>
              <a:rPr lang="en-US" sz="1800" b="1" dirty="0">
                <a:solidFill>
                  <a:schemeClr val="bg1"/>
                </a:solidFill>
              </a:rPr>
              <a:t>Nasıl (teknoloji)</a:t>
            </a:r>
            <a:endParaRPr lang="en-US" sz="1800" dirty="0"/>
          </a:p>
        </p:txBody>
      </p:sp>
      <p:sp>
        <p:nvSpPr>
          <p:cNvPr id="13" name="Text 10"/>
          <p:cNvSpPr txBox="1"/>
          <p:nvPr/>
        </p:nvSpPr>
        <p:spPr>
          <a:xfrm>
            <a:off x="8752637" y="1783080"/>
            <a:ext cx="467258" cy="822960"/>
          </a:xfrm>
          <a:prstGeom prst="rect">
            <a:avLst/>
          </a:prstGeom>
          <a:noFill/>
          <a:ln/>
        </p:spPr>
        <p:txBody>
          <a:bodyPr wrap="square" lIns="0" tIns="0" rIns="0" bIns="0" rtlCol="0" anchor="ctr"/>
          <a:lstStyle/>
          <a:p>
            <a:pPr algn="ctr" indent="0" marL="0">
              <a:buNone/>
            </a:pPr>
            <a:r>
              <a:rPr lang="en-US" sz="3000" b="1" dirty="0">
                <a:solidFill>
                  <a:schemeClr val="accent2"/>
                </a:solidFill>
              </a:rPr>
              <a:t>+</a:t>
            </a:r>
            <a:endParaRPr lang="en-US" sz="3000" dirty="0"/>
          </a:p>
        </p:txBody>
      </p:sp>
      <p:sp>
        <p:nvSpPr>
          <p:cNvPr id="14" name="formul"/>
          <p:cNvSpPr/>
          <p:nvPr/>
        </p:nvSpPr>
        <p:spPr>
          <a:xfrm>
            <a:off x="9219895" y="1783080"/>
            <a:ext cx="2423160" cy="822960"/>
          </a:xfrm>
          <a:prstGeom prst="roundRect">
            <a:avLst>
              <a:gd name="adj" fmla="val 8889"/>
            </a:avLst>
          </a:prstGeom>
          <a:solidFill>
            <a:schemeClr val="accent1"/>
          </a:solidFill>
          <a:ln/>
        </p:spPr>
      </p:sp>
      <p:sp>
        <p:nvSpPr>
          <p:cNvPr id="15" name="Text 12"/>
          <p:cNvSpPr txBox="1"/>
          <p:nvPr/>
        </p:nvSpPr>
        <p:spPr>
          <a:xfrm>
            <a:off x="9219895" y="1783080"/>
            <a:ext cx="2423160" cy="822960"/>
          </a:xfrm>
          <a:prstGeom prst="rect">
            <a:avLst/>
          </a:prstGeom>
          <a:noFill/>
          <a:ln/>
        </p:spPr>
        <p:txBody>
          <a:bodyPr wrap="square" lIns="0" tIns="0" rIns="0" bIns="0" rtlCol="0" anchor="ctr"/>
          <a:lstStyle/>
          <a:p>
            <a:pPr algn="ctr" indent="0" marL="0">
              <a:buNone/>
            </a:pPr>
            <a:r>
              <a:rPr lang="en-US" sz="1800" b="1" dirty="0">
                <a:solidFill>
                  <a:schemeClr val="bg1"/>
                </a:solidFill>
              </a:rPr>
              <a:t>Ölçülebilir sonuç</a:t>
            </a:r>
            <a:endParaRPr lang="en-US" sz="1800" dirty="0"/>
          </a:p>
        </p:txBody>
      </p:sp>
      <p:sp>
        <p:nvSpPr>
          <p:cNvPr id="16" name="kart"/>
          <p:cNvSpPr/>
          <p:nvPr/>
        </p:nvSpPr>
        <p:spPr>
          <a:xfrm>
            <a:off x="548640" y="3017520"/>
            <a:ext cx="5364328" cy="1828800"/>
          </a:xfrm>
          <a:prstGeom prst="roundRect">
            <a:avLst>
              <a:gd name="adj" fmla="val 4000"/>
            </a:avLst>
          </a:prstGeom>
          <a:solidFill>
            <a:schemeClr val="accent4">
              <a:alpha val="10000"/>
            </a:schemeClr>
          </a:solidFill>
          <a:ln/>
        </p:spPr>
      </p:sp>
      <p:sp>
        <p:nvSpPr>
          <p:cNvPr id="17" name="Text 14"/>
          <p:cNvSpPr txBox="1"/>
          <p:nvPr/>
        </p:nvSpPr>
        <p:spPr>
          <a:xfrm>
            <a:off x="868680" y="3246120"/>
            <a:ext cx="4724248" cy="1463040"/>
          </a:xfrm>
          <a:prstGeom prst="rect">
            <a:avLst/>
          </a:prstGeom>
          <a:noFill/>
          <a:ln/>
        </p:spPr>
        <p:txBody>
          <a:bodyPr wrap="square" lIns="0" tIns="0" rIns="0" bIns="0" rtlCol="0" anchor="t"/>
          <a:lstStyle/>
          <a:p>
            <a:pPr indent="0" marL="0">
              <a:spcAft>
                <a:spcPts val="800"/>
              </a:spcAft>
              <a:buNone/>
            </a:pPr>
            <a:r>
              <a:rPr lang="en-US" sz="1400" b="1" spc="200" kern="0" dirty="0">
                <a:solidFill>
                  <a:schemeClr val="accent4"/>
                </a:solidFill>
              </a:rPr>
              <a:t>ZAYIF</a:t>
            </a:r>
            <a:endParaRPr lang="en-US" sz="1400" dirty="0"/>
          </a:p>
          <a:p>
            <a:pPr indent="0" marL="0">
              <a:spcAft>
                <a:spcPts val="800"/>
              </a:spcAft>
              <a:buNone/>
            </a:pPr>
            <a:r>
              <a:rPr lang="en-US" sz="1800" dirty="0">
                <a:solidFill>
                  <a:schemeClr val="tx1"/>
                </a:solidFill>
              </a:rPr>
              <a:t>"Backend geliştirmelerinde görev aldım."</a:t>
            </a:r>
            <a:endParaRPr lang="en-US" sz="1400" dirty="0"/>
          </a:p>
        </p:txBody>
      </p:sp>
      <p:sp>
        <p:nvSpPr>
          <p:cNvPr id="18" name="kart"/>
          <p:cNvSpPr/>
          <p:nvPr/>
        </p:nvSpPr>
        <p:spPr>
          <a:xfrm>
            <a:off x="6278728" y="3017520"/>
            <a:ext cx="5364328" cy="1828800"/>
          </a:xfrm>
          <a:prstGeom prst="roundRect">
            <a:avLst>
              <a:gd name="adj" fmla="val 4000"/>
            </a:avLst>
          </a:prstGeom>
          <a:solidFill>
            <a:schemeClr val="accent5">
              <a:alpha val="10000"/>
            </a:schemeClr>
          </a:solidFill>
          <a:ln/>
        </p:spPr>
      </p:sp>
      <p:sp>
        <p:nvSpPr>
          <p:cNvPr id="19" name="Text 16"/>
          <p:cNvSpPr txBox="1"/>
          <p:nvPr/>
        </p:nvSpPr>
        <p:spPr>
          <a:xfrm>
            <a:off x="6598768" y="3246120"/>
            <a:ext cx="4724248" cy="1463040"/>
          </a:xfrm>
          <a:prstGeom prst="rect">
            <a:avLst/>
          </a:prstGeom>
          <a:noFill/>
          <a:ln/>
        </p:spPr>
        <p:txBody>
          <a:bodyPr wrap="square" lIns="0" tIns="0" rIns="0" bIns="0" rtlCol="0" anchor="t"/>
          <a:lstStyle/>
          <a:p>
            <a:pPr indent="0" marL="0">
              <a:spcAft>
                <a:spcPts val="800"/>
              </a:spcAft>
              <a:buNone/>
            </a:pPr>
            <a:r>
              <a:rPr lang="en-US" sz="1400" b="1" spc="200" kern="0" dirty="0">
                <a:solidFill>
                  <a:schemeClr val="accent5"/>
                </a:solidFill>
              </a:rPr>
              <a:t>GÜÇLÜ</a:t>
            </a:r>
            <a:endParaRPr lang="en-US" sz="1400" dirty="0"/>
          </a:p>
          <a:p>
            <a:pPr indent="0" marL="0">
              <a:spcAft>
                <a:spcPts val="800"/>
              </a:spcAft>
              <a:buNone/>
            </a:pPr>
            <a:r>
              <a:rPr lang="en-US" sz="1800" dirty="0">
                <a:solidFill>
                  <a:schemeClr val="tx1"/>
                </a:solidFill>
              </a:rPr>
              <a:t>"Java 21 ve virtual thread'lerle REST servisini yeniden tasarladım; p95 gecikmeyi %40 düşürdüm."</a:t>
            </a:r>
            <a:endParaRPr lang="en-US" sz="1400" dirty="0"/>
          </a:p>
        </p:txBody>
      </p:sp>
      <p:sp>
        <p:nvSpPr>
          <p:cNvPr id="20" name="Text 17"/>
          <p:cNvSpPr txBox="1"/>
          <p:nvPr/>
        </p:nvSpPr>
        <p:spPr>
          <a:xfrm>
            <a:off x="548640" y="5029200"/>
            <a:ext cx="11094415" cy="320040"/>
          </a:xfrm>
          <a:prstGeom prst="rect">
            <a:avLst/>
          </a:prstGeom>
          <a:noFill/>
          <a:ln/>
        </p:spPr>
        <p:txBody>
          <a:bodyPr wrap="square" lIns="0" tIns="0" rIns="0" bIns="0" rtlCol="0" anchor="ctr"/>
          <a:lstStyle/>
          <a:p>
            <a:pPr indent="0" marL="0">
              <a:buNone/>
            </a:pPr>
            <a:r>
              <a:rPr lang="en-US" sz="1200" i="1" dirty="0">
                <a:solidFill>
                  <a:schemeClr val="tx1"/>
                </a:solidFill>
              </a:rPr>
              <a:t>Örnek kurgusaldır; formülü göstermek içindir.</a:t>
            </a:r>
            <a:endParaRPr lang="en-US" sz="12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17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1" type="body" hasCustomPrompt="1"/>
          </p:nvPr>
        </p:nvSpPr>
        <p:spPr>
          <a:xfrm>
            <a:off x="548640" y="320040"/>
            <a:ext cx="8778240" cy="320040"/>
          </a:xfrm>
          <a:prstGeom prst="rect">
            <a:avLst/>
          </a:prstGeom>
          <a:noFill/>
          <a:ln/>
        </p:spPr>
        <p:txBody>
          <a:bodyPr wrap="square" lIns="0" tIns="0" rIns="0" bIns="0" rtlCol="0" anchor="ctr"/>
          <a:lstStyle/>
          <a:p>
            <a:pPr indent="0" marL="0">
              <a:buNone/>
            </a:pPr>
            <a:r>
              <a:rPr lang="en-US" sz="1300" b="1" spc="200" kern="0" dirty="0">
                <a:solidFill>
                  <a:schemeClr val="accent3"/>
                </a:solidFill>
              </a:rPr>
              <a:t>01 · CV VE ATS</a:t>
            </a:r>
            <a:endParaRPr lang="en-US" sz="1300" dirty="0"/>
          </a:p>
        </p:txBody>
      </p:sp>
      <p:sp>
        <p:nvSpPr>
          <p:cNvPr id="3" name="Text 0"/>
          <p:cNvSpPr/>
          <p:nvPr>
            <p:ph idx="102" type="title" hasCustomPrompt="1"/>
          </p:nvPr>
        </p:nvSpPr>
        <p:spPr>
          <a:xfrm>
            <a:off x="548640" y="658368"/>
            <a:ext cx="9052560" cy="731520"/>
          </a:xfrm>
          <a:prstGeom prst="rect">
            <a:avLst/>
          </a:prstGeom>
          <a:noFill/>
          <a:ln/>
        </p:spPr>
        <p:txBody>
          <a:bodyPr wrap="square" lIns="0" tIns="0" rIns="0" bIns="0" rtlCol="0" anchor="t"/>
          <a:lstStyle/>
          <a:p>
            <a:pPr algn="l" indent="0" marL="0">
              <a:buNone/>
            </a:pPr>
            <a:r>
              <a:rPr lang="en-US" sz="3400" b="1" dirty="0">
                <a:solidFill>
                  <a:schemeClr val="tx2"/>
                </a:solidFill>
              </a:rPr>
              <a:t>Aynı Deneyim, Farklı Vurgu</a:t>
            </a:r>
            <a:endParaRPr lang="en-US" sz="3400" dirty="0"/>
          </a:p>
        </p:txBody>
      </p:sp>
      <p:sp>
        <p:nvSpPr>
          <p:cNvPr id="5" name="kart"/>
          <p:cNvSpPr/>
          <p:nvPr/>
        </p:nvSpPr>
        <p:spPr>
          <a:xfrm>
            <a:off x="548640" y="1691640"/>
            <a:ext cx="11094415" cy="1325880"/>
          </a:xfrm>
          <a:prstGeom prst="roundRect">
            <a:avLst>
              <a:gd name="adj" fmla="val 5517"/>
            </a:avLst>
          </a:prstGeom>
          <a:solidFill>
            <a:schemeClr val="bg2"/>
          </a:solidFill>
          <a:ln/>
        </p:spPr>
      </p:sp>
      <p:sp>
        <p:nvSpPr>
          <p:cNvPr id="6" name="Text 3"/>
          <p:cNvSpPr txBox="1"/>
          <p:nvPr/>
        </p:nvSpPr>
        <p:spPr>
          <a:xfrm>
            <a:off x="868680" y="1783080"/>
            <a:ext cx="10454335" cy="1143000"/>
          </a:xfrm>
          <a:prstGeom prst="rect">
            <a:avLst/>
          </a:prstGeom>
          <a:noFill/>
          <a:ln/>
        </p:spPr>
        <p:txBody>
          <a:bodyPr wrap="square" lIns="0" tIns="0" rIns="0" bIns="0" rtlCol="0" anchor="ctr"/>
          <a:lstStyle/>
          <a:p>
            <a:pPr indent="0" marL="0">
              <a:spcAft>
                <a:spcPts val="400"/>
              </a:spcAft>
              <a:buNone/>
            </a:pPr>
            <a:r>
              <a:rPr lang="en-US" sz="1300" b="1" spc="200" kern="0" dirty="0">
                <a:solidFill>
                  <a:schemeClr val="accent3"/>
                </a:solidFill>
              </a:rPr>
              <a:t>GENEL CV</a:t>
            </a:r>
            <a:endParaRPr lang="en-US" sz="1300" dirty="0"/>
          </a:p>
          <a:p>
            <a:pPr indent="0" marL="0">
              <a:spcAft>
                <a:spcPts val="400"/>
              </a:spcAft>
              <a:buNone/>
            </a:pPr>
            <a:r>
              <a:rPr lang="en-US" sz="1600" dirty="0">
                <a:solidFill>
                  <a:schemeClr val="tx1"/>
                </a:solidFill>
              </a:rPr>
              <a:t>"C++ uygulamalarında güvenli veri kalıcılığı için Wt::Dbo ORM kütüphanesini ve veri serileştirme amacıyla Protobuf araçlarını entegre ettim."</a:t>
            </a:r>
            <a:endParaRPr lang="en-US" sz="1300" dirty="0"/>
          </a:p>
        </p:txBody>
      </p:sp>
      <p:pic>
        <p:nvPicPr>
          <p:cNvPr id="7" name="Image 0" descr="preencoded.png">    </p:cNvPr>
          <p:cNvPicPr>
            <a:picLocks noChangeAspect="1"/>
          </p:cNvPicPr>
          <p:nvPr/>
        </p:nvPicPr>
        <p:blipFill>
          <a:blip r:embed="rId1"/>
          <a:stretch>
            <a:fillRect/>
          </a:stretch>
        </p:blipFill>
        <p:spPr>
          <a:xfrm>
            <a:off x="5940400" y="3090672"/>
            <a:ext cx="310896" cy="310896"/>
          </a:xfrm>
          <a:prstGeom prst="rect">
            <a:avLst/>
          </a:prstGeom>
        </p:spPr>
      </p:pic>
      <p:sp>
        <p:nvSpPr>
          <p:cNvPr id="8" name="kart"/>
          <p:cNvSpPr/>
          <p:nvPr/>
        </p:nvSpPr>
        <p:spPr>
          <a:xfrm>
            <a:off x="548640" y="3474720"/>
            <a:ext cx="11094415" cy="1600200"/>
          </a:xfrm>
          <a:prstGeom prst="roundRect">
            <a:avLst>
              <a:gd name="adj" fmla="val 4571"/>
            </a:avLst>
          </a:prstGeom>
          <a:solidFill>
            <a:schemeClr val="accent2">
              <a:alpha val="18000"/>
            </a:schemeClr>
          </a:solidFill>
          <a:ln/>
        </p:spPr>
      </p:sp>
      <p:sp>
        <p:nvSpPr>
          <p:cNvPr id="9" name="Text 5"/>
          <p:cNvSpPr txBox="1"/>
          <p:nvPr/>
        </p:nvSpPr>
        <p:spPr>
          <a:xfrm>
            <a:off x="868680" y="3566160"/>
            <a:ext cx="10454335" cy="1417320"/>
          </a:xfrm>
          <a:prstGeom prst="rect">
            <a:avLst/>
          </a:prstGeom>
          <a:noFill/>
          <a:ln/>
        </p:spPr>
        <p:txBody>
          <a:bodyPr wrap="square" lIns="0" tIns="0" rIns="0" bIns="0" rtlCol="0" anchor="ctr"/>
          <a:lstStyle/>
          <a:p>
            <a:pPr indent="0" marL="0">
              <a:spcAft>
                <a:spcPts val="400"/>
              </a:spcAft>
              <a:buNone/>
            </a:pPr>
            <a:r>
              <a:rPr lang="en-US" sz="1300" b="1" spc="200" kern="0" dirty="0">
                <a:solidFill>
                  <a:schemeClr val="accent3"/>
                </a:solidFill>
              </a:rPr>
              <a:t>JAVA CV</a:t>
            </a:r>
            <a:endParaRPr lang="en-US" sz="1300" dirty="0"/>
          </a:p>
          <a:p>
            <a:pPr indent="0" marL="0">
              <a:spcAft>
                <a:spcPts val="400"/>
              </a:spcAft>
              <a:buNone/>
            </a:pPr>
            <a:r>
              <a:rPr lang="en-US" sz="1600" dirty="0">
                <a:solidFill>
                  <a:schemeClr val="tx1"/>
                </a:solidFill>
              </a:rPr>
              <a:t>"</a:t>
            </a:r>
            <a:pPr indent="0" marL="0">
              <a:spcAft>
                <a:spcPts val="400"/>
              </a:spcAft>
              <a:buNone/>
            </a:pPr>
            <a:r>
              <a:rPr lang="en-US" sz="1600" b="1" dirty="0">
                <a:solidFill>
                  <a:schemeClr val="tx2"/>
                </a:solidFill>
              </a:rPr>
              <a:t>PostgreSQL</a:t>
            </a:r>
            <a:pPr indent="0" marL="0">
              <a:spcAft>
                <a:spcPts val="400"/>
              </a:spcAft>
              <a:buNone/>
            </a:pPr>
            <a:r>
              <a:rPr lang="en-US" sz="1600" dirty="0">
                <a:solidFill>
                  <a:schemeClr val="tx1"/>
                </a:solidFill>
              </a:rPr>
              <a:t> üzerinde Wt::Dbo </a:t>
            </a:r>
            <a:pPr indent="0" marL="0">
              <a:spcAft>
                <a:spcPts val="400"/>
              </a:spcAft>
              <a:buNone/>
            </a:pPr>
            <a:r>
              <a:rPr lang="en-US" sz="1600" b="1" dirty="0">
                <a:solidFill>
                  <a:schemeClr val="tx2"/>
                </a:solidFill>
              </a:rPr>
              <a:t>ORM</a:t>
            </a:r>
            <a:pPr indent="0" marL="0">
              <a:spcAft>
                <a:spcPts val="400"/>
              </a:spcAft>
              <a:buNone/>
            </a:pPr>
            <a:r>
              <a:rPr lang="en-US" sz="1600" dirty="0">
                <a:solidFill>
                  <a:schemeClr val="tx1"/>
                </a:solidFill>
              </a:rPr>
              <a:t> kütüphanesi, </a:t>
            </a:r>
            <a:pPr indent="0" marL="0">
              <a:spcAft>
                <a:spcPts val="400"/>
              </a:spcAft>
              <a:buNone/>
            </a:pPr>
            <a:r>
              <a:rPr lang="en-US" sz="1600" b="1" dirty="0">
                <a:solidFill>
                  <a:schemeClr val="tx2"/>
                </a:solidFill>
              </a:rPr>
              <a:t>ilişkisel veri modelleme</a:t>
            </a:r>
            <a:pPr indent="0" marL="0">
              <a:spcAft>
                <a:spcPts val="400"/>
              </a:spcAft>
              <a:buNone/>
            </a:pPr>
            <a:r>
              <a:rPr lang="en-US" sz="1600" dirty="0">
                <a:solidFill>
                  <a:schemeClr val="tx1"/>
                </a:solidFill>
              </a:rPr>
              <a:t> ve Protobuf veri serileştirme entegrasyonu ile </a:t>
            </a:r>
            <a:pPr indent="0" marL="0">
              <a:spcAft>
                <a:spcPts val="400"/>
              </a:spcAft>
              <a:buNone/>
            </a:pPr>
            <a:r>
              <a:rPr lang="en-US" sz="1600" b="1" dirty="0">
                <a:solidFill>
                  <a:schemeClr val="tx2"/>
                </a:solidFill>
              </a:rPr>
              <a:t>nesne yönelimli</a:t>
            </a:r>
            <a:pPr indent="0" marL="0">
              <a:spcAft>
                <a:spcPts val="400"/>
              </a:spcAft>
              <a:buNone/>
            </a:pPr>
            <a:r>
              <a:rPr lang="en-US" sz="1600" dirty="0">
                <a:solidFill>
                  <a:schemeClr val="tx1"/>
                </a:solidFill>
              </a:rPr>
              <a:t> veri kalıcılık katmanı tasarladım. Temel </a:t>
            </a:r>
            <a:pPr indent="0" marL="0">
              <a:spcAft>
                <a:spcPts val="400"/>
              </a:spcAft>
              <a:buNone/>
            </a:pPr>
            <a:r>
              <a:rPr lang="en-US" sz="1600" b="1" dirty="0">
                <a:solidFill>
                  <a:schemeClr val="tx2"/>
                </a:solidFill>
              </a:rPr>
              <a:t>tasarım kalıplarını</a:t>
            </a:r>
            <a:pPr indent="0" marL="0">
              <a:spcAft>
                <a:spcPts val="400"/>
              </a:spcAft>
              <a:buNone/>
            </a:pPr>
            <a:r>
              <a:rPr lang="en-US" sz="1600" dirty="0">
                <a:solidFill>
                  <a:schemeClr val="tx1"/>
                </a:solidFill>
              </a:rPr>
              <a:t> uyguladım."</a:t>
            </a:r>
            <a:endParaRPr lang="en-US" sz="1300" dirty="0"/>
          </a:p>
        </p:txBody>
      </p:sp>
      <p:sp>
        <p:nvSpPr>
          <p:cNvPr id="10" name="ana-mesaj"/>
          <p:cNvSpPr/>
          <p:nvPr/>
        </p:nvSpPr>
        <p:spPr>
          <a:xfrm>
            <a:off x="548640" y="5349240"/>
            <a:ext cx="11094415" cy="685800"/>
          </a:xfrm>
          <a:prstGeom prst="roundRect">
            <a:avLst>
              <a:gd name="adj" fmla="val 10667"/>
            </a:avLst>
          </a:prstGeom>
          <a:solidFill>
            <a:schemeClr val="accent1"/>
          </a:solidFill>
          <a:ln/>
        </p:spPr>
      </p:sp>
      <p:sp>
        <p:nvSpPr>
          <p:cNvPr id="11" name="Text 7"/>
          <p:cNvSpPr txBox="1"/>
          <p:nvPr/>
        </p:nvSpPr>
        <p:spPr>
          <a:xfrm>
            <a:off x="868680" y="5349240"/>
            <a:ext cx="10454335" cy="685800"/>
          </a:xfrm>
          <a:prstGeom prst="rect">
            <a:avLst/>
          </a:prstGeom>
          <a:noFill/>
          <a:ln/>
        </p:spPr>
        <p:txBody>
          <a:bodyPr wrap="square" lIns="0" tIns="0" rIns="0" bIns="0" rtlCol="0" anchor="ctr"/>
          <a:lstStyle/>
          <a:p>
            <a:pPr indent="0" marL="0">
              <a:buNone/>
            </a:pPr>
            <a:r>
              <a:rPr lang="en-US" sz="1800" b="1" dirty="0">
                <a:solidFill>
                  <a:schemeClr val="bg1"/>
                </a:solidFill>
              </a:rPr>
              <a:t>Yalan yok, vurgu var: hedef alanla ilişkili kavram maddenin başına alınır.</a:t>
            </a:r>
            <a:endParaRPr lang="en-US" sz="18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17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1" type="body" hasCustomPrompt="1"/>
          </p:nvPr>
        </p:nvSpPr>
        <p:spPr>
          <a:xfrm>
            <a:off x="548640" y="320040"/>
            <a:ext cx="8778240" cy="320040"/>
          </a:xfrm>
          <a:prstGeom prst="rect">
            <a:avLst/>
          </a:prstGeom>
          <a:noFill/>
          <a:ln/>
        </p:spPr>
        <p:txBody>
          <a:bodyPr wrap="square" lIns="0" tIns="0" rIns="0" bIns="0" rtlCol="0" anchor="ctr"/>
          <a:lstStyle/>
          <a:p>
            <a:pPr indent="0" marL="0">
              <a:buNone/>
            </a:pPr>
            <a:r>
              <a:rPr lang="en-US" sz="1300" b="1" spc="200" kern="0" dirty="0">
                <a:solidFill>
                  <a:schemeClr val="accent3"/>
                </a:solidFill>
              </a:rPr>
              <a:t>01 · CV VE ATS</a:t>
            </a:r>
            <a:endParaRPr lang="en-US" sz="1300" dirty="0"/>
          </a:p>
        </p:txBody>
      </p:sp>
      <p:sp>
        <p:nvSpPr>
          <p:cNvPr id="3" name="Text 0"/>
          <p:cNvSpPr/>
          <p:nvPr>
            <p:ph idx="102" type="title" hasCustomPrompt="1"/>
          </p:nvPr>
        </p:nvSpPr>
        <p:spPr>
          <a:xfrm>
            <a:off x="548640" y="658368"/>
            <a:ext cx="9052560" cy="731520"/>
          </a:xfrm>
          <a:prstGeom prst="rect">
            <a:avLst/>
          </a:prstGeom>
          <a:noFill/>
          <a:ln/>
        </p:spPr>
        <p:txBody>
          <a:bodyPr wrap="square" lIns="0" tIns="0" rIns="0" bIns="0" rtlCol="0" anchor="t"/>
          <a:lstStyle/>
          <a:p>
            <a:pPr algn="l" indent="0" marL="0">
              <a:buNone/>
            </a:pPr>
            <a:r>
              <a:rPr lang="en-US" sz="3400" b="1" dirty="0">
                <a:solidFill>
                  <a:schemeClr val="tx2"/>
                </a:solidFill>
              </a:rPr>
              <a:t>LLM ile Madde İyileştirme</a:t>
            </a:r>
            <a:endParaRPr lang="en-US" sz="3400" dirty="0"/>
          </a:p>
        </p:txBody>
      </p:sp>
      <p:sp>
        <p:nvSpPr>
          <p:cNvPr id="5" name="ikon-daire"/>
          <p:cNvSpPr/>
          <p:nvPr/>
        </p:nvSpPr>
        <p:spPr>
          <a:xfrm>
            <a:off x="548640" y="1920240"/>
            <a:ext cx="566928" cy="566928"/>
          </a:xfrm>
          <a:prstGeom prst="ellipse">
            <a:avLst/>
          </a:prstGeom>
          <a:solidFill>
            <a:schemeClr val="accent1"/>
          </a:solidFill>
          <a:ln/>
        </p:spPr>
      </p:sp>
      <p:pic>
        <p:nvPicPr>
          <p:cNvPr id="6" name="ikon" descr="preencoded.png">    </p:cNvPr>
          <p:cNvPicPr>
            <a:picLocks noChangeAspect="1"/>
          </p:cNvPicPr>
          <p:nvPr/>
        </p:nvPicPr>
        <p:blipFill>
          <a:blip r:embed="rId1"/>
          <a:stretch>
            <a:fillRect/>
          </a:stretch>
        </p:blipFill>
        <p:spPr>
          <a:xfrm>
            <a:off x="690372" y="2061972"/>
            <a:ext cx="283464" cy="283464"/>
          </a:xfrm>
          <a:prstGeom prst="rect">
            <a:avLst/>
          </a:prstGeom>
        </p:spPr>
      </p:pic>
      <p:sp>
        <p:nvSpPr>
          <p:cNvPr id="7" name="Text 3"/>
          <p:cNvSpPr txBox="1"/>
          <p:nvPr/>
        </p:nvSpPr>
        <p:spPr>
          <a:xfrm>
            <a:off x="1344168" y="1874520"/>
            <a:ext cx="3227832" cy="868680"/>
          </a:xfrm>
          <a:prstGeom prst="rect">
            <a:avLst/>
          </a:prstGeom>
          <a:noFill/>
          <a:ln/>
        </p:spPr>
        <p:txBody>
          <a:bodyPr wrap="square" lIns="0" tIns="0" rIns="0" bIns="0" rtlCol="0" anchor="t"/>
          <a:lstStyle/>
          <a:p>
            <a:pPr indent="0" marL="0">
              <a:spcAft>
                <a:spcPts val="200"/>
              </a:spcAft>
              <a:buNone/>
            </a:pPr>
            <a:r>
              <a:rPr lang="en-US" sz="1800" b="1" dirty="0">
                <a:solidFill>
                  <a:schemeClr val="tx2"/>
                </a:solidFill>
              </a:rPr>
              <a:t>Boşluk analizi</a:t>
            </a:r>
            <a:endParaRPr lang="en-US" sz="1800" dirty="0"/>
          </a:p>
          <a:p>
            <a:pPr indent="0" marL="0">
              <a:spcAft>
                <a:spcPts val="200"/>
              </a:spcAft>
              <a:buNone/>
            </a:pPr>
            <a:r>
              <a:rPr lang="en-US" sz="1500" dirty="0">
                <a:solidFill>
                  <a:schemeClr val="tx1"/>
                </a:solidFill>
              </a:rPr>
              <a:t>İlanda olup CV'de olmayanı bul</a:t>
            </a:r>
            <a:endParaRPr lang="en-US" sz="1800" dirty="0"/>
          </a:p>
        </p:txBody>
      </p:sp>
      <p:sp>
        <p:nvSpPr>
          <p:cNvPr id="8" name="ikon-daire"/>
          <p:cNvSpPr/>
          <p:nvPr/>
        </p:nvSpPr>
        <p:spPr>
          <a:xfrm>
            <a:off x="548640" y="3154680"/>
            <a:ext cx="566928" cy="566928"/>
          </a:xfrm>
          <a:prstGeom prst="ellipse">
            <a:avLst/>
          </a:prstGeom>
          <a:solidFill>
            <a:schemeClr val="accent1"/>
          </a:solidFill>
          <a:ln/>
        </p:spPr>
      </p:sp>
      <p:pic>
        <p:nvPicPr>
          <p:cNvPr id="9" name="ikon" descr="preencoded.png">    </p:cNvPr>
          <p:cNvPicPr>
            <a:picLocks noChangeAspect="1"/>
          </p:cNvPicPr>
          <p:nvPr/>
        </p:nvPicPr>
        <p:blipFill>
          <a:blip r:embed="rId2"/>
          <a:stretch>
            <a:fillRect/>
          </a:stretch>
        </p:blipFill>
        <p:spPr>
          <a:xfrm>
            <a:off x="690372" y="3296412"/>
            <a:ext cx="283464" cy="283464"/>
          </a:xfrm>
          <a:prstGeom prst="rect">
            <a:avLst/>
          </a:prstGeom>
        </p:spPr>
      </p:pic>
      <p:sp>
        <p:nvSpPr>
          <p:cNvPr id="10" name="Text 5"/>
          <p:cNvSpPr txBox="1"/>
          <p:nvPr/>
        </p:nvSpPr>
        <p:spPr>
          <a:xfrm>
            <a:off x="1344168" y="3108960"/>
            <a:ext cx="3227832" cy="868680"/>
          </a:xfrm>
          <a:prstGeom prst="rect">
            <a:avLst/>
          </a:prstGeom>
          <a:noFill/>
          <a:ln/>
        </p:spPr>
        <p:txBody>
          <a:bodyPr wrap="square" lIns="0" tIns="0" rIns="0" bIns="0" rtlCol="0" anchor="t"/>
          <a:lstStyle/>
          <a:p>
            <a:pPr indent="0" marL="0">
              <a:spcAft>
                <a:spcPts val="200"/>
              </a:spcAft>
              <a:buNone/>
            </a:pPr>
            <a:r>
              <a:rPr lang="en-US" sz="1800" b="1" dirty="0">
                <a:solidFill>
                  <a:schemeClr val="tx2"/>
                </a:solidFill>
              </a:rPr>
              <a:t>Biçim</a:t>
            </a:r>
            <a:endParaRPr lang="en-US" sz="1800" dirty="0"/>
          </a:p>
          <a:p>
            <a:pPr indent="0" marL="0">
              <a:spcAft>
                <a:spcPts val="200"/>
              </a:spcAft>
              <a:buNone/>
            </a:pPr>
            <a:r>
              <a:rPr lang="en-US" sz="1500" dirty="0">
                <a:solidFill>
                  <a:schemeClr val="tx1"/>
                </a:solidFill>
              </a:rPr>
              <a:t>Aktif fiil + iş + sonuç</a:t>
            </a:r>
            <a:endParaRPr lang="en-US" sz="1800" dirty="0"/>
          </a:p>
        </p:txBody>
      </p:sp>
      <p:sp>
        <p:nvSpPr>
          <p:cNvPr id="11" name="ikon-daire"/>
          <p:cNvSpPr/>
          <p:nvPr/>
        </p:nvSpPr>
        <p:spPr>
          <a:xfrm>
            <a:off x="548640" y="4389120"/>
            <a:ext cx="566928" cy="566928"/>
          </a:xfrm>
          <a:prstGeom prst="ellipse">
            <a:avLst/>
          </a:prstGeom>
          <a:solidFill>
            <a:schemeClr val="accent4"/>
          </a:solidFill>
          <a:ln/>
        </p:spPr>
      </p:sp>
      <p:pic>
        <p:nvPicPr>
          <p:cNvPr id="12" name="ikon" descr="preencoded.png">    </p:cNvPr>
          <p:cNvPicPr>
            <a:picLocks noChangeAspect="1"/>
          </p:cNvPicPr>
          <p:nvPr/>
        </p:nvPicPr>
        <p:blipFill>
          <a:blip r:embed="rId3"/>
          <a:stretch>
            <a:fillRect/>
          </a:stretch>
        </p:blipFill>
        <p:spPr>
          <a:xfrm>
            <a:off x="690372" y="4530852"/>
            <a:ext cx="283464" cy="283464"/>
          </a:xfrm>
          <a:prstGeom prst="rect">
            <a:avLst/>
          </a:prstGeom>
        </p:spPr>
      </p:pic>
      <p:sp>
        <p:nvSpPr>
          <p:cNvPr id="13" name="Text 7"/>
          <p:cNvSpPr txBox="1"/>
          <p:nvPr/>
        </p:nvSpPr>
        <p:spPr>
          <a:xfrm>
            <a:off x="1344168" y="4343400"/>
            <a:ext cx="3227832" cy="868680"/>
          </a:xfrm>
          <a:prstGeom prst="rect">
            <a:avLst/>
          </a:prstGeom>
          <a:noFill/>
          <a:ln/>
        </p:spPr>
        <p:txBody>
          <a:bodyPr wrap="square" lIns="0" tIns="0" rIns="0" bIns="0" rtlCol="0" anchor="t"/>
          <a:lstStyle/>
          <a:p>
            <a:pPr indent="0" marL="0">
              <a:spcAft>
                <a:spcPts val="200"/>
              </a:spcAft>
              <a:buNone/>
            </a:pPr>
            <a:r>
              <a:rPr lang="en-US" sz="1800" b="1" dirty="0">
                <a:solidFill>
                  <a:schemeClr val="tx2"/>
                </a:solidFill>
              </a:rPr>
              <a:t>Uydurma freni</a:t>
            </a:r>
            <a:endParaRPr lang="en-US" sz="1800" dirty="0"/>
          </a:p>
          <a:p>
            <a:pPr indent="0" marL="0">
              <a:spcAft>
                <a:spcPts val="200"/>
              </a:spcAft>
              <a:buNone/>
            </a:pPr>
            <a:r>
              <a:rPr lang="en-US" sz="1500" dirty="0">
                <a:solidFill>
                  <a:schemeClr val="tx1"/>
                </a:solidFill>
              </a:rPr>
              <a:t>Olmayan bilgiyi ekletme</a:t>
            </a:r>
            <a:endParaRPr lang="en-US" sz="1800" dirty="0"/>
          </a:p>
        </p:txBody>
      </p:sp>
      <p:sp>
        <p:nvSpPr>
          <p:cNvPr id="14" name="kod-kutusu"/>
          <p:cNvSpPr/>
          <p:nvPr/>
        </p:nvSpPr>
        <p:spPr>
          <a:xfrm>
            <a:off x="4846320" y="1737360"/>
            <a:ext cx="6796735" cy="3429000"/>
          </a:xfrm>
          <a:prstGeom prst="roundRect">
            <a:avLst>
              <a:gd name="adj" fmla="val 2133"/>
            </a:avLst>
          </a:prstGeom>
          <a:solidFill>
            <a:schemeClr val="tx2"/>
          </a:solidFill>
          <a:ln/>
        </p:spPr>
      </p:sp>
      <p:sp>
        <p:nvSpPr>
          <p:cNvPr id="15" name="Text 9"/>
          <p:cNvSpPr txBox="1"/>
          <p:nvPr/>
        </p:nvSpPr>
        <p:spPr>
          <a:xfrm>
            <a:off x="5120640" y="1965960"/>
            <a:ext cx="6248095" cy="2971800"/>
          </a:xfrm>
          <a:prstGeom prst="rect">
            <a:avLst/>
          </a:prstGeom>
          <a:noFill/>
          <a:ln/>
        </p:spPr>
        <p:txBody>
          <a:bodyPr wrap="square" lIns="0" tIns="0" rIns="0" bIns="0" rtlCol="0" anchor="t"/>
          <a:lstStyle/>
          <a:p>
            <a:pPr indent="0" marL="0">
              <a:buNone/>
            </a:pPr>
            <a:r>
              <a:rPr lang="en-US" sz="1600" dirty="0">
                <a:solidFill>
                  <a:schemeClr val="bg1"/>
                </a:solidFill>
                <a:latin typeface="Courier New" pitchFamily="34" charset="0"/>
                <a:ea typeface="Courier New" pitchFamily="34" charset="-122"/>
                <a:cs typeface="Courier New" pitchFamily="34" charset="-120"/>
              </a:rPr>
              <a:t>Aşağıdaki ilan metnini ve CV</a:t>
            </a:r>
            <a:endParaRPr lang="en-US" sz="1600" dirty="0"/>
          </a:p>
          <a:p>
            <a:pPr indent="0" marL="0">
              <a:buNone/>
            </a:pPr>
            <a:r>
              <a:rPr lang="en-US" sz="1600" dirty="0">
                <a:solidFill>
                  <a:schemeClr val="bg1"/>
                </a:solidFill>
                <a:latin typeface="Courier New" pitchFamily="34" charset="0"/>
                <a:ea typeface="Courier New" pitchFamily="34" charset="-122"/>
                <a:cs typeface="Courier New" pitchFamily="34" charset="-120"/>
              </a:rPr>
              <a:t>maddemi karşılaştır.</a:t>
            </a:r>
            <a:endParaRPr lang="en-US" sz="1600" dirty="0"/>
          </a:p>
          <a:p>
            <a:pPr indent="0" marL="0">
              <a:buNone/>
            </a:pPr>
            <a:endParaRPr lang="en-US" sz="1600" dirty="0"/>
          </a:p>
          <a:p>
            <a:pPr indent="0" marL="0">
              <a:buNone/>
            </a:pPr>
            <a:r>
              <a:rPr lang="en-US" sz="1600" dirty="0">
                <a:solidFill>
                  <a:schemeClr val="bg1"/>
                </a:solidFill>
                <a:latin typeface="Courier New" pitchFamily="34" charset="0"/>
                <a:ea typeface="Courier New" pitchFamily="34" charset="-122"/>
                <a:cs typeface="Courier New" pitchFamily="34" charset="-120"/>
              </a:rPr>
              <a:t>1) İlanda geçen ama CV'mde olmayan</a:t>
            </a:r>
            <a:endParaRPr lang="en-US" sz="1600" dirty="0"/>
          </a:p>
          <a:p>
            <a:pPr indent="0" marL="0">
              <a:buNone/>
            </a:pPr>
            <a:r>
              <a:rPr lang="en-US" sz="1600" dirty="0">
                <a:solidFill>
                  <a:schemeClr val="bg1"/>
                </a:solidFill>
                <a:latin typeface="Courier New" pitchFamily="34" charset="0"/>
                <a:ea typeface="Courier New" pitchFamily="34" charset="-122"/>
                <a:cs typeface="Courier New" pitchFamily="34" charset="-120"/>
              </a:rPr>
              <a:t>   kavramları listele.</a:t>
            </a:r>
            <a:endParaRPr lang="en-US" sz="1600" dirty="0"/>
          </a:p>
          <a:p>
            <a:pPr indent="0" marL="0">
              <a:buNone/>
            </a:pPr>
            <a:r>
              <a:rPr lang="en-US" sz="1600" dirty="0">
                <a:solidFill>
                  <a:schemeClr val="bg1"/>
                </a:solidFill>
                <a:latin typeface="Courier New" pitchFamily="34" charset="0"/>
                <a:ea typeface="Courier New" pitchFamily="34" charset="-122"/>
                <a:cs typeface="Courier New" pitchFamily="34" charset="-120"/>
              </a:rPr>
              <a:t>2) Maddeyi "aktif fiil + iş + sonuç"</a:t>
            </a:r>
            <a:endParaRPr lang="en-US" sz="1600" dirty="0"/>
          </a:p>
          <a:p>
            <a:pPr indent="0" marL="0">
              <a:buNone/>
            </a:pPr>
            <a:r>
              <a:rPr lang="en-US" sz="1600" dirty="0">
                <a:solidFill>
                  <a:schemeClr val="bg1"/>
                </a:solidFill>
                <a:latin typeface="Courier New" pitchFamily="34" charset="0"/>
                <a:ea typeface="Courier New" pitchFamily="34" charset="-122"/>
                <a:cs typeface="Courier New" pitchFamily="34" charset="-120"/>
              </a:rPr>
              <a:t>   biçiminde yeniden yaz.</a:t>
            </a:r>
            <a:endParaRPr lang="en-US" sz="1600" dirty="0"/>
          </a:p>
          <a:p>
            <a:pPr indent="0" marL="0">
              <a:buNone/>
            </a:pPr>
            <a:r>
              <a:rPr lang="en-US" sz="1600" dirty="0">
                <a:solidFill>
                  <a:schemeClr val="bg1"/>
                </a:solidFill>
                <a:latin typeface="Courier New" pitchFamily="34" charset="0"/>
                <a:ea typeface="Courier New" pitchFamily="34" charset="-122"/>
                <a:cs typeface="Courier New" pitchFamily="34" charset="-120"/>
              </a:rPr>
              <a:t>3) CV'mde olmayan hiçbir deneyim,</a:t>
            </a:r>
            <a:endParaRPr lang="en-US" sz="1600" dirty="0"/>
          </a:p>
          <a:p>
            <a:pPr indent="0" marL="0">
              <a:buNone/>
            </a:pPr>
            <a:r>
              <a:rPr lang="en-US" sz="1600" dirty="0">
                <a:solidFill>
                  <a:schemeClr val="bg1"/>
                </a:solidFill>
                <a:latin typeface="Courier New" pitchFamily="34" charset="0"/>
                <a:ea typeface="Courier New" pitchFamily="34" charset="-122"/>
                <a:cs typeface="Courier New" pitchFamily="34" charset="-120"/>
              </a:rPr>
              <a:t>   sayı veya teknoloji ekleme.</a:t>
            </a:r>
            <a:endParaRPr lang="en-US" sz="1600" dirty="0"/>
          </a:p>
          <a:p>
            <a:pPr indent="0" marL="0">
              <a:buNone/>
            </a:pPr>
            <a:r>
              <a:rPr lang="en-US" sz="1600" dirty="0">
                <a:solidFill>
                  <a:schemeClr val="bg1"/>
                </a:solidFill>
                <a:latin typeface="Courier New" pitchFamily="34" charset="0"/>
                <a:ea typeface="Courier New" pitchFamily="34" charset="-122"/>
                <a:cs typeface="Courier New" pitchFamily="34" charset="-120"/>
              </a:rPr>
              <a:t>   Emin değilsen bana soru sor.</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17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1" type="body" hasCustomPrompt="1"/>
          </p:nvPr>
        </p:nvSpPr>
        <p:spPr>
          <a:xfrm>
            <a:off x="548640" y="320040"/>
            <a:ext cx="8778240" cy="320040"/>
          </a:xfrm>
          <a:prstGeom prst="rect">
            <a:avLst/>
          </a:prstGeom>
          <a:noFill/>
          <a:ln/>
        </p:spPr>
        <p:txBody>
          <a:bodyPr wrap="square" lIns="0" tIns="0" rIns="0" bIns="0" rtlCol="0" anchor="ctr"/>
          <a:lstStyle/>
          <a:p>
            <a:pPr indent="0" marL="0">
              <a:buNone/>
            </a:pPr>
            <a:r>
              <a:rPr lang="en-US" sz="1300" b="1" spc="200" kern="0" dirty="0">
                <a:solidFill>
                  <a:schemeClr val="accent3"/>
                </a:solidFill>
              </a:rPr>
              <a:t>02 · CV'Yİ KOD GİBİ YÖNETMEK</a:t>
            </a:r>
            <a:endParaRPr lang="en-US" sz="1300" dirty="0"/>
          </a:p>
        </p:txBody>
      </p:sp>
      <p:sp>
        <p:nvSpPr>
          <p:cNvPr id="3" name="Text 0"/>
          <p:cNvSpPr/>
          <p:nvPr>
            <p:ph idx="102" type="title" hasCustomPrompt="1"/>
          </p:nvPr>
        </p:nvSpPr>
        <p:spPr>
          <a:xfrm>
            <a:off x="548640" y="658368"/>
            <a:ext cx="9052560" cy="731520"/>
          </a:xfrm>
          <a:prstGeom prst="rect">
            <a:avLst/>
          </a:prstGeom>
          <a:noFill/>
          <a:ln/>
        </p:spPr>
        <p:txBody>
          <a:bodyPr wrap="square" lIns="0" tIns="0" rIns="0" bIns="0" rtlCol="0" anchor="t"/>
          <a:lstStyle/>
          <a:p>
            <a:pPr algn="l" indent="0" marL="0">
              <a:buNone/>
            </a:pPr>
            <a:r>
              <a:rPr lang="en-US" sz="3400" b="1" dirty="0">
                <a:solidFill>
                  <a:schemeClr val="tx2"/>
                </a:solidFill>
              </a:rPr>
              <a:t>Sorun: Tek CV Her İlana Uymaz</a:t>
            </a:r>
            <a:endParaRPr lang="en-US" sz="3400" dirty="0"/>
          </a:p>
        </p:txBody>
      </p:sp>
      <p:sp>
        <p:nvSpPr>
          <p:cNvPr id="5" name="Text 2"/>
          <p:cNvSpPr txBox="1"/>
          <p:nvPr/>
        </p:nvSpPr>
        <p:spPr>
          <a:xfrm>
            <a:off x="548640" y="1600200"/>
            <a:ext cx="5486400" cy="274320"/>
          </a:xfrm>
          <a:prstGeom prst="rect">
            <a:avLst/>
          </a:prstGeom>
          <a:noFill/>
          <a:ln/>
        </p:spPr>
        <p:txBody>
          <a:bodyPr wrap="square" lIns="0" tIns="0" rIns="0" bIns="0" rtlCol="0" anchor="ctr"/>
          <a:lstStyle/>
          <a:p>
            <a:pPr indent="0" marL="0">
              <a:buNone/>
            </a:pPr>
            <a:r>
              <a:rPr lang="en-US" sz="1200" b="1" spc="200" kern="0" dirty="0">
                <a:solidFill>
                  <a:schemeClr val="accent3"/>
                </a:solidFill>
              </a:rPr>
              <a:t>ÖRNEK · KENDİ CV DEPOM</a:t>
            </a:r>
            <a:endParaRPr lang="en-US" sz="1200" dirty="0"/>
          </a:p>
        </p:txBody>
      </p:sp>
      <p:sp>
        <p:nvSpPr>
          <p:cNvPr id="6" name="Text 3"/>
          <p:cNvSpPr txBox="1"/>
          <p:nvPr/>
        </p:nvSpPr>
        <p:spPr>
          <a:xfrm>
            <a:off x="548640" y="1874520"/>
            <a:ext cx="1005840" cy="1371600"/>
          </a:xfrm>
          <a:prstGeom prst="rect">
            <a:avLst/>
          </a:prstGeom>
          <a:noFill/>
          <a:ln/>
        </p:spPr>
        <p:txBody>
          <a:bodyPr wrap="square" lIns="0" tIns="0" rIns="0" bIns="0" rtlCol="0" anchor="t"/>
          <a:lstStyle/>
          <a:p>
            <a:pPr algn="ctr" indent="0" marL="0">
              <a:buNone/>
            </a:pPr>
            <a:r>
              <a:rPr lang="en-US" sz="5400" b="1" dirty="0">
                <a:solidFill>
                  <a:schemeClr val="accent3"/>
                </a:solidFill>
                <a:latin typeface="Cambria" pitchFamily="34" charset="0"/>
                <a:ea typeface="Cambria" pitchFamily="34" charset="-122"/>
                <a:cs typeface="Cambria" pitchFamily="34" charset="-120"/>
              </a:rPr>
              <a:t>4</a:t>
            </a:r>
            <a:endParaRPr lang="en-US" sz="5400" dirty="0"/>
          </a:p>
          <a:p>
            <a:pPr algn="ctr" indent="0" marL="0">
              <a:buNone/>
            </a:pPr>
            <a:r>
              <a:rPr lang="en-US" sz="1600" dirty="0">
                <a:solidFill>
                  <a:schemeClr val="tx1"/>
                </a:solidFill>
              </a:rPr>
              <a:t>alan</a:t>
            </a:r>
            <a:endParaRPr lang="en-US" sz="5400" dirty="0"/>
          </a:p>
        </p:txBody>
      </p:sp>
      <p:sp>
        <p:nvSpPr>
          <p:cNvPr id="7" name="Text 4"/>
          <p:cNvSpPr txBox="1"/>
          <p:nvPr/>
        </p:nvSpPr>
        <p:spPr>
          <a:xfrm>
            <a:off x="1554480" y="1920240"/>
            <a:ext cx="640080" cy="822960"/>
          </a:xfrm>
          <a:prstGeom prst="rect">
            <a:avLst/>
          </a:prstGeom>
          <a:noFill/>
          <a:ln/>
        </p:spPr>
        <p:txBody>
          <a:bodyPr wrap="square" lIns="0" tIns="0" rIns="0" bIns="0" rtlCol="0" anchor="ctr"/>
          <a:lstStyle/>
          <a:p>
            <a:pPr algn="ctr" indent="0" marL="0">
              <a:buNone/>
            </a:pPr>
            <a:r>
              <a:rPr lang="en-US" sz="3600" b="1" dirty="0">
                <a:solidFill>
                  <a:schemeClr val="accent2"/>
                </a:solidFill>
              </a:rPr>
              <a:t>×</a:t>
            </a:r>
            <a:endParaRPr lang="en-US" sz="3600" dirty="0"/>
          </a:p>
        </p:txBody>
      </p:sp>
      <p:sp>
        <p:nvSpPr>
          <p:cNvPr id="8" name="Text 5"/>
          <p:cNvSpPr txBox="1"/>
          <p:nvPr/>
        </p:nvSpPr>
        <p:spPr>
          <a:xfrm>
            <a:off x="2194560" y="1874520"/>
            <a:ext cx="1005840" cy="1371600"/>
          </a:xfrm>
          <a:prstGeom prst="rect">
            <a:avLst/>
          </a:prstGeom>
          <a:noFill/>
          <a:ln/>
        </p:spPr>
        <p:txBody>
          <a:bodyPr wrap="square" lIns="0" tIns="0" rIns="0" bIns="0" rtlCol="0" anchor="t"/>
          <a:lstStyle/>
          <a:p>
            <a:pPr algn="ctr" indent="0" marL="0">
              <a:buNone/>
            </a:pPr>
            <a:r>
              <a:rPr lang="en-US" sz="5400" b="1" dirty="0">
                <a:solidFill>
                  <a:schemeClr val="accent3"/>
                </a:solidFill>
                <a:latin typeface="Cambria" pitchFamily="34" charset="0"/>
                <a:ea typeface="Cambria" pitchFamily="34" charset="-122"/>
                <a:cs typeface="Cambria" pitchFamily="34" charset="-120"/>
              </a:rPr>
              <a:t>2</a:t>
            </a:r>
            <a:endParaRPr lang="en-US" sz="5400" dirty="0"/>
          </a:p>
          <a:p>
            <a:pPr algn="ctr" indent="0" marL="0">
              <a:buNone/>
            </a:pPr>
            <a:r>
              <a:rPr lang="en-US" sz="1600" dirty="0">
                <a:solidFill>
                  <a:schemeClr val="tx1"/>
                </a:solidFill>
              </a:rPr>
              <a:t>dil</a:t>
            </a:r>
            <a:endParaRPr lang="en-US" sz="5400" dirty="0"/>
          </a:p>
        </p:txBody>
      </p:sp>
      <p:sp>
        <p:nvSpPr>
          <p:cNvPr id="9" name="Text 6"/>
          <p:cNvSpPr txBox="1"/>
          <p:nvPr/>
        </p:nvSpPr>
        <p:spPr>
          <a:xfrm>
            <a:off x="3200400" y="1920240"/>
            <a:ext cx="640080" cy="822960"/>
          </a:xfrm>
          <a:prstGeom prst="rect">
            <a:avLst/>
          </a:prstGeom>
          <a:noFill/>
          <a:ln/>
        </p:spPr>
        <p:txBody>
          <a:bodyPr wrap="square" lIns="0" tIns="0" rIns="0" bIns="0" rtlCol="0" anchor="ctr"/>
          <a:lstStyle/>
          <a:p>
            <a:pPr algn="ctr" indent="0" marL="0">
              <a:buNone/>
            </a:pPr>
            <a:r>
              <a:rPr lang="en-US" sz="3600" b="1" dirty="0">
                <a:solidFill>
                  <a:schemeClr val="accent2"/>
                </a:solidFill>
              </a:rPr>
              <a:t>+</a:t>
            </a:r>
            <a:endParaRPr lang="en-US" sz="3600" dirty="0"/>
          </a:p>
        </p:txBody>
      </p:sp>
      <p:sp>
        <p:nvSpPr>
          <p:cNvPr id="10" name="Text 7"/>
          <p:cNvSpPr txBox="1"/>
          <p:nvPr/>
        </p:nvSpPr>
        <p:spPr>
          <a:xfrm>
            <a:off x="3840480" y="1874520"/>
            <a:ext cx="1737360" cy="1371600"/>
          </a:xfrm>
          <a:prstGeom prst="rect">
            <a:avLst/>
          </a:prstGeom>
          <a:noFill/>
          <a:ln/>
        </p:spPr>
        <p:txBody>
          <a:bodyPr wrap="square" lIns="0" tIns="0" rIns="0" bIns="0" rtlCol="0" anchor="t"/>
          <a:lstStyle/>
          <a:p>
            <a:pPr algn="ctr" indent="0" marL="0">
              <a:buNone/>
            </a:pPr>
            <a:r>
              <a:rPr lang="en-US" sz="5400" b="1" dirty="0">
                <a:solidFill>
                  <a:schemeClr val="accent3"/>
                </a:solidFill>
                <a:latin typeface="Cambria" pitchFamily="34" charset="0"/>
                <a:ea typeface="Cambria" pitchFamily="34" charset="-122"/>
                <a:cs typeface="Cambria" pitchFamily="34" charset="-120"/>
              </a:rPr>
              <a:t>64</a:t>
            </a:r>
            <a:endParaRPr lang="en-US" sz="5400" dirty="0"/>
          </a:p>
          <a:p>
            <a:pPr algn="ctr" indent="0" marL="0">
              <a:buNone/>
            </a:pPr>
            <a:r>
              <a:rPr lang="en-US" sz="1600" dirty="0">
                <a:solidFill>
                  <a:schemeClr val="tx1"/>
                </a:solidFill>
              </a:rPr>
              <a:t>ilan paketi</a:t>
            </a:r>
            <a:endParaRPr lang="en-US" sz="5400" dirty="0"/>
          </a:p>
        </p:txBody>
      </p:sp>
      <p:sp>
        <p:nvSpPr>
          <p:cNvPr id="11" name="Text 8"/>
          <p:cNvSpPr txBox="1"/>
          <p:nvPr/>
        </p:nvSpPr>
        <p:spPr>
          <a:xfrm>
            <a:off x="5577840" y="1920240"/>
            <a:ext cx="640080" cy="822960"/>
          </a:xfrm>
          <a:prstGeom prst="rect">
            <a:avLst/>
          </a:prstGeom>
          <a:noFill/>
          <a:ln/>
        </p:spPr>
        <p:txBody>
          <a:bodyPr wrap="square" lIns="0" tIns="0" rIns="0" bIns="0" rtlCol="0" anchor="ctr"/>
          <a:lstStyle/>
          <a:p>
            <a:pPr algn="ctr" indent="0" marL="0">
              <a:buNone/>
            </a:pPr>
            <a:r>
              <a:rPr lang="en-US" sz="3600" b="1" dirty="0">
                <a:solidFill>
                  <a:schemeClr val="accent2"/>
                </a:solidFill>
              </a:rPr>
              <a:t>=</a:t>
            </a:r>
            <a:endParaRPr lang="en-US" sz="3600" dirty="0"/>
          </a:p>
        </p:txBody>
      </p:sp>
      <p:sp>
        <p:nvSpPr>
          <p:cNvPr id="12" name="Text 9"/>
          <p:cNvSpPr txBox="1"/>
          <p:nvPr/>
        </p:nvSpPr>
        <p:spPr>
          <a:xfrm>
            <a:off x="6217920" y="1920240"/>
            <a:ext cx="3657600" cy="822960"/>
          </a:xfrm>
          <a:prstGeom prst="rect">
            <a:avLst/>
          </a:prstGeom>
          <a:noFill/>
          <a:ln/>
        </p:spPr>
        <p:txBody>
          <a:bodyPr wrap="square" lIns="0" tIns="0" rIns="0" bIns="0" rtlCol="0" anchor="ctr"/>
          <a:lstStyle/>
          <a:p>
            <a:pPr indent="0" marL="0">
              <a:buNone/>
            </a:pPr>
            <a:r>
              <a:rPr lang="en-US" sz="3000" b="1" dirty="0">
                <a:solidFill>
                  <a:schemeClr val="tx2"/>
                </a:solidFill>
              </a:rPr>
              <a:t>onlarca dosya</a:t>
            </a:r>
            <a:endParaRPr lang="en-US" sz="3000" dirty="0"/>
          </a:p>
        </p:txBody>
      </p:sp>
      <p:sp>
        <p:nvSpPr>
          <p:cNvPr id="13" name="ikon-daire"/>
          <p:cNvSpPr/>
          <p:nvPr/>
        </p:nvSpPr>
        <p:spPr>
          <a:xfrm>
            <a:off x="548640" y="3337560"/>
            <a:ext cx="457200" cy="457200"/>
          </a:xfrm>
          <a:prstGeom prst="ellipse">
            <a:avLst/>
          </a:prstGeom>
          <a:solidFill>
            <a:schemeClr val="accent2"/>
          </a:solidFill>
          <a:ln/>
        </p:spPr>
      </p:sp>
      <p:pic>
        <p:nvPicPr>
          <p:cNvPr id="14" name="ikon" descr="preencoded.png">    </p:cNvPr>
          <p:cNvPicPr>
            <a:picLocks noChangeAspect="1"/>
          </p:cNvPicPr>
          <p:nvPr/>
        </p:nvPicPr>
        <p:blipFill>
          <a:blip r:embed="rId1"/>
          <a:stretch>
            <a:fillRect/>
          </a:stretch>
        </p:blipFill>
        <p:spPr>
          <a:xfrm>
            <a:off x="662940" y="3451860"/>
            <a:ext cx="228600" cy="228600"/>
          </a:xfrm>
          <a:prstGeom prst="rect">
            <a:avLst/>
          </a:prstGeom>
        </p:spPr>
      </p:pic>
      <p:sp>
        <p:nvSpPr>
          <p:cNvPr id="15" name="Text 11"/>
          <p:cNvSpPr txBox="1"/>
          <p:nvPr/>
        </p:nvSpPr>
        <p:spPr>
          <a:xfrm>
            <a:off x="1234440" y="3291840"/>
            <a:ext cx="10408615" cy="548640"/>
          </a:xfrm>
          <a:prstGeom prst="rect">
            <a:avLst/>
          </a:prstGeom>
          <a:noFill/>
          <a:ln/>
        </p:spPr>
        <p:txBody>
          <a:bodyPr wrap="square" lIns="0" tIns="0" rIns="0" bIns="0" rtlCol="0" anchor="t"/>
          <a:lstStyle/>
          <a:p>
            <a:pPr indent="0" marL="0">
              <a:spcAft>
                <a:spcPts val="200"/>
              </a:spcAft>
              <a:buNone/>
            </a:pPr>
            <a:r>
              <a:rPr lang="en-US" sz="1800" b="1" dirty="0">
                <a:solidFill>
                  <a:schemeClr val="tx2"/>
                </a:solidFill>
              </a:rPr>
              <a:t>Hangi sürüm güncel?</a:t>
            </a:r>
            <a:endParaRPr lang="en-US" sz="1800" dirty="0"/>
          </a:p>
        </p:txBody>
      </p:sp>
      <p:sp>
        <p:nvSpPr>
          <p:cNvPr id="16" name="ikon-daire"/>
          <p:cNvSpPr/>
          <p:nvPr/>
        </p:nvSpPr>
        <p:spPr>
          <a:xfrm>
            <a:off x="548640" y="3995928"/>
            <a:ext cx="457200" cy="457200"/>
          </a:xfrm>
          <a:prstGeom prst="ellipse">
            <a:avLst/>
          </a:prstGeom>
          <a:solidFill>
            <a:schemeClr val="accent2"/>
          </a:solidFill>
          <a:ln/>
        </p:spPr>
      </p:sp>
      <p:pic>
        <p:nvPicPr>
          <p:cNvPr id="17" name="ikon" descr="preencoded.png">    </p:cNvPr>
          <p:cNvPicPr>
            <a:picLocks noChangeAspect="1"/>
          </p:cNvPicPr>
          <p:nvPr/>
        </p:nvPicPr>
        <p:blipFill>
          <a:blip r:embed="rId2"/>
          <a:stretch>
            <a:fillRect/>
          </a:stretch>
        </p:blipFill>
        <p:spPr>
          <a:xfrm>
            <a:off x="662940" y="4110228"/>
            <a:ext cx="228600" cy="228600"/>
          </a:xfrm>
          <a:prstGeom prst="rect">
            <a:avLst/>
          </a:prstGeom>
        </p:spPr>
      </p:pic>
      <p:sp>
        <p:nvSpPr>
          <p:cNvPr id="18" name="Text 13"/>
          <p:cNvSpPr txBox="1"/>
          <p:nvPr/>
        </p:nvSpPr>
        <p:spPr>
          <a:xfrm>
            <a:off x="1234440" y="3950208"/>
            <a:ext cx="10408615" cy="548640"/>
          </a:xfrm>
          <a:prstGeom prst="rect">
            <a:avLst/>
          </a:prstGeom>
          <a:noFill/>
          <a:ln/>
        </p:spPr>
        <p:txBody>
          <a:bodyPr wrap="square" lIns="0" tIns="0" rIns="0" bIns="0" rtlCol="0" anchor="t"/>
          <a:lstStyle/>
          <a:p>
            <a:pPr indent="0" marL="0">
              <a:spcAft>
                <a:spcPts val="200"/>
              </a:spcAft>
              <a:buNone/>
            </a:pPr>
            <a:r>
              <a:rPr lang="en-US" sz="1800" b="1" dirty="0">
                <a:solidFill>
                  <a:schemeClr val="tx2"/>
                </a:solidFill>
              </a:rPr>
              <a:t>Yeni proje hangi CV'lere girdi?</a:t>
            </a:r>
            <a:endParaRPr lang="en-US" sz="1800" dirty="0"/>
          </a:p>
        </p:txBody>
      </p:sp>
      <p:sp>
        <p:nvSpPr>
          <p:cNvPr id="19" name="ikon-daire"/>
          <p:cNvSpPr/>
          <p:nvPr/>
        </p:nvSpPr>
        <p:spPr>
          <a:xfrm>
            <a:off x="548640" y="4654296"/>
            <a:ext cx="457200" cy="457200"/>
          </a:xfrm>
          <a:prstGeom prst="ellipse">
            <a:avLst/>
          </a:prstGeom>
          <a:solidFill>
            <a:schemeClr val="accent2"/>
          </a:solidFill>
          <a:ln/>
        </p:spPr>
      </p:sp>
      <p:pic>
        <p:nvPicPr>
          <p:cNvPr id="20" name="ikon" descr="preencoded.png">    </p:cNvPr>
          <p:cNvPicPr>
            <a:picLocks noChangeAspect="1"/>
          </p:cNvPicPr>
          <p:nvPr/>
        </p:nvPicPr>
        <p:blipFill>
          <a:blip r:embed="rId3"/>
          <a:stretch>
            <a:fillRect/>
          </a:stretch>
        </p:blipFill>
        <p:spPr>
          <a:xfrm>
            <a:off x="662940" y="4768596"/>
            <a:ext cx="228600" cy="228600"/>
          </a:xfrm>
          <a:prstGeom prst="rect">
            <a:avLst/>
          </a:prstGeom>
        </p:spPr>
      </p:pic>
      <p:sp>
        <p:nvSpPr>
          <p:cNvPr id="21" name="Text 15"/>
          <p:cNvSpPr txBox="1"/>
          <p:nvPr/>
        </p:nvSpPr>
        <p:spPr>
          <a:xfrm>
            <a:off x="1234440" y="4608576"/>
            <a:ext cx="10408615" cy="548640"/>
          </a:xfrm>
          <a:prstGeom prst="rect">
            <a:avLst/>
          </a:prstGeom>
          <a:noFill/>
          <a:ln/>
        </p:spPr>
        <p:txBody>
          <a:bodyPr wrap="square" lIns="0" tIns="0" rIns="0" bIns="0" rtlCol="0" anchor="t"/>
          <a:lstStyle/>
          <a:p>
            <a:pPr indent="0" marL="0">
              <a:spcAft>
                <a:spcPts val="200"/>
              </a:spcAft>
              <a:buNone/>
            </a:pPr>
            <a:r>
              <a:rPr lang="en-US" sz="1800" b="1" dirty="0">
                <a:solidFill>
                  <a:schemeClr val="tx2"/>
                </a:solidFill>
              </a:rPr>
              <a:t>Türkçe ve İngilizce sürümler tutarlı mı?</a:t>
            </a:r>
            <a:endParaRPr lang="en-US" sz="1800" dirty="0"/>
          </a:p>
        </p:txBody>
      </p:sp>
      <p:sp>
        <p:nvSpPr>
          <p:cNvPr id="22" name="ana-mesaj"/>
          <p:cNvSpPr/>
          <p:nvPr/>
        </p:nvSpPr>
        <p:spPr>
          <a:xfrm>
            <a:off x="548640" y="5349240"/>
            <a:ext cx="11094415" cy="731520"/>
          </a:xfrm>
          <a:prstGeom prst="roundRect">
            <a:avLst>
              <a:gd name="adj" fmla="val 10000"/>
            </a:avLst>
          </a:prstGeom>
          <a:solidFill>
            <a:schemeClr val="accent1"/>
          </a:solidFill>
          <a:ln/>
        </p:spPr>
      </p:sp>
      <p:sp>
        <p:nvSpPr>
          <p:cNvPr id="23" name="Text 17"/>
          <p:cNvSpPr txBox="1"/>
          <p:nvPr/>
        </p:nvSpPr>
        <p:spPr>
          <a:xfrm>
            <a:off x="868680" y="5349240"/>
            <a:ext cx="10454335" cy="731520"/>
          </a:xfrm>
          <a:prstGeom prst="rect">
            <a:avLst/>
          </a:prstGeom>
          <a:noFill/>
          <a:ln/>
        </p:spPr>
        <p:txBody>
          <a:bodyPr wrap="square" lIns="0" tIns="0" rIns="0" bIns="0" rtlCol="0" anchor="ctr"/>
          <a:lstStyle/>
          <a:p>
            <a:pPr indent="0" marL="0">
              <a:buNone/>
            </a:pPr>
            <a:r>
              <a:rPr lang="en-US" sz="1800" b="1" dirty="0">
                <a:solidFill>
                  <a:schemeClr val="bg1"/>
                </a:solidFill>
              </a:rPr>
              <a:t>Çözüm: tek doğruluk kaynağı + derleme + sürüm kontrolü + eylemci otomasyonu</a:t>
            </a:r>
            <a:endParaRPr lang="en-US" sz="18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17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1" type="body" hasCustomPrompt="1"/>
          </p:nvPr>
        </p:nvSpPr>
        <p:spPr>
          <a:xfrm>
            <a:off x="548640" y="320040"/>
            <a:ext cx="8778240" cy="320040"/>
          </a:xfrm>
          <a:prstGeom prst="rect">
            <a:avLst/>
          </a:prstGeom>
          <a:noFill/>
          <a:ln/>
        </p:spPr>
        <p:txBody>
          <a:bodyPr wrap="square" lIns="0" tIns="0" rIns="0" bIns="0" rtlCol="0" anchor="ctr"/>
          <a:lstStyle/>
          <a:p>
            <a:pPr indent="0" marL="0">
              <a:buNone/>
            </a:pPr>
            <a:r>
              <a:rPr lang="en-US" sz="1300" b="1" spc="200" kern="0" dirty="0">
                <a:solidFill>
                  <a:schemeClr val="accent3"/>
                </a:solidFill>
              </a:rPr>
              <a:t>02 · CV'Yİ KOD GİBİ YÖNETMEK</a:t>
            </a:r>
            <a:endParaRPr lang="en-US" sz="1300" dirty="0"/>
          </a:p>
        </p:txBody>
      </p:sp>
      <p:sp>
        <p:nvSpPr>
          <p:cNvPr id="3" name="Text 0"/>
          <p:cNvSpPr/>
          <p:nvPr>
            <p:ph idx="102" type="title" hasCustomPrompt="1"/>
          </p:nvPr>
        </p:nvSpPr>
        <p:spPr>
          <a:xfrm>
            <a:off x="548640" y="658368"/>
            <a:ext cx="9052560" cy="731520"/>
          </a:xfrm>
          <a:prstGeom prst="rect">
            <a:avLst/>
          </a:prstGeom>
          <a:noFill/>
          <a:ln/>
        </p:spPr>
        <p:txBody>
          <a:bodyPr wrap="square" lIns="0" tIns="0" rIns="0" bIns="0" rtlCol="0" anchor="t"/>
          <a:lstStyle/>
          <a:p>
            <a:pPr algn="l" indent="0" marL="0">
              <a:buNone/>
            </a:pPr>
            <a:r>
              <a:rPr lang="en-US" sz="3400" b="1" dirty="0">
                <a:solidFill>
                  <a:schemeClr val="tx2"/>
                </a:solidFill>
              </a:rPr>
              <a:t>Mimari: Tek Kaynaktan Onlarca CV</a:t>
            </a:r>
            <a:endParaRPr lang="en-US" sz="3400" dirty="0"/>
          </a:p>
        </p:txBody>
      </p:sp>
      <p:sp>
        <p:nvSpPr>
          <p:cNvPr id="5" name="Text 2"/>
          <p:cNvSpPr txBox="1"/>
          <p:nvPr/>
        </p:nvSpPr>
        <p:spPr>
          <a:xfrm>
            <a:off x="548640" y="1600200"/>
            <a:ext cx="11094415" cy="274320"/>
          </a:xfrm>
          <a:prstGeom prst="rect">
            <a:avLst/>
          </a:prstGeom>
          <a:noFill/>
          <a:ln/>
        </p:spPr>
        <p:txBody>
          <a:bodyPr wrap="square" lIns="0" tIns="0" rIns="0" bIns="0" rtlCol="0" anchor="ctr"/>
          <a:lstStyle/>
          <a:p>
            <a:pPr indent="0" marL="0">
              <a:buNone/>
            </a:pPr>
            <a:r>
              <a:rPr lang="en-US" sz="1200" b="1" spc="200" kern="0" dirty="0">
                <a:solidFill>
                  <a:schemeClr val="accent3"/>
                </a:solidFill>
              </a:rPr>
              <a:t>GENEL AKIŞ · ALTTA KENDİ DEPOMDAKİ KARŞILIĞI</a:t>
            </a:r>
            <a:endParaRPr lang="en-US" sz="1200" dirty="0"/>
          </a:p>
        </p:txBody>
      </p:sp>
      <p:sp>
        <p:nvSpPr>
          <p:cNvPr id="6" name="kart"/>
          <p:cNvSpPr/>
          <p:nvPr/>
        </p:nvSpPr>
        <p:spPr>
          <a:xfrm>
            <a:off x="548640" y="1965960"/>
            <a:ext cx="1883664" cy="1417320"/>
          </a:xfrm>
          <a:prstGeom prst="roundRect">
            <a:avLst>
              <a:gd name="adj" fmla="val 5161"/>
            </a:avLst>
          </a:prstGeom>
          <a:solidFill>
            <a:schemeClr val="bg2"/>
          </a:solidFill>
          <a:ln/>
        </p:spPr>
      </p:sp>
      <p:sp>
        <p:nvSpPr>
          <p:cNvPr id="7" name="Text 4"/>
          <p:cNvSpPr txBox="1"/>
          <p:nvPr/>
        </p:nvSpPr>
        <p:spPr>
          <a:xfrm>
            <a:off x="658368" y="1965960"/>
            <a:ext cx="1664208" cy="1417320"/>
          </a:xfrm>
          <a:prstGeom prst="rect">
            <a:avLst/>
          </a:prstGeom>
          <a:noFill/>
          <a:ln/>
        </p:spPr>
        <p:txBody>
          <a:bodyPr wrap="square" lIns="0" tIns="0" rIns="0" bIns="0" rtlCol="0" anchor="ctr"/>
          <a:lstStyle/>
          <a:p>
            <a:pPr algn="ctr" indent="0" marL="0">
              <a:spcAft>
                <a:spcPts val="600"/>
              </a:spcAft>
              <a:buNone/>
            </a:pPr>
            <a:r>
              <a:rPr lang="en-US" sz="1600" b="1" dirty="0">
                <a:solidFill>
                  <a:schemeClr val="tx2"/>
                </a:solidFill>
              </a:rPr>
              <a:t>Tek kaynak</a:t>
            </a:r>
            <a:endParaRPr lang="en-US" sz="1600" dirty="0"/>
          </a:p>
          <a:p>
            <a:pPr algn="ctr" indent="0" marL="0">
              <a:spcAft>
                <a:spcPts val="600"/>
              </a:spcAft>
              <a:buNone/>
            </a:pPr>
            <a:r>
              <a:rPr lang="en-US" sz="1300" dirty="0">
                <a:solidFill>
                  <a:schemeClr val="tx1"/>
                </a:solidFill>
              </a:rPr>
              <a:t>YAML veya JSON</a:t>
            </a:r>
            <a:endParaRPr lang="en-US" sz="1600" dirty="0"/>
          </a:p>
          <a:p>
            <a:pPr algn="ctr" indent="0" marL="0">
              <a:spcAft>
                <a:spcPts val="600"/>
              </a:spcAft>
              <a:buNone/>
            </a:pPr>
            <a:r>
              <a:rPr lang="en-US" sz="1100" dirty="0">
                <a:solidFill>
                  <a:schemeClr val="accent3"/>
                </a:solidFill>
                <a:latin typeface="Courier New" pitchFamily="34" charset="0"/>
                <a:ea typeface="Courier New" pitchFamily="34" charset="-122"/>
                <a:cs typeface="Courier New" pitchFamily="34" charset="-120"/>
              </a:rPr>
              <a:t>info/*.yml</a:t>
            </a:r>
            <a:endParaRPr lang="en-US" sz="1600" dirty="0"/>
          </a:p>
        </p:txBody>
      </p:sp>
      <p:pic>
        <p:nvPicPr>
          <p:cNvPr id="8" name="Image 0" descr="preencoded.png">    </p:cNvPr>
          <p:cNvPicPr>
            <a:picLocks noChangeAspect="1"/>
          </p:cNvPicPr>
          <p:nvPr/>
        </p:nvPicPr>
        <p:blipFill>
          <a:blip r:embed="rId1"/>
          <a:stretch>
            <a:fillRect/>
          </a:stretch>
        </p:blipFill>
        <p:spPr>
          <a:xfrm>
            <a:off x="2522944" y="2560320"/>
            <a:ext cx="237744" cy="237744"/>
          </a:xfrm>
          <a:prstGeom prst="rect">
            <a:avLst/>
          </a:prstGeom>
        </p:spPr>
      </p:pic>
      <p:sp>
        <p:nvSpPr>
          <p:cNvPr id="9" name="kart"/>
          <p:cNvSpPr/>
          <p:nvPr/>
        </p:nvSpPr>
        <p:spPr>
          <a:xfrm>
            <a:off x="2851328" y="1965960"/>
            <a:ext cx="1883664" cy="1417320"/>
          </a:xfrm>
          <a:prstGeom prst="roundRect">
            <a:avLst>
              <a:gd name="adj" fmla="val 5161"/>
            </a:avLst>
          </a:prstGeom>
          <a:solidFill>
            <a:schemeClr val="bg2"/>
          </a:solidFill>
          <a:ln/>
        </p:spPr>
      </p:sp>
      <p:sp>
        <p:nvSpPr>
          <p:cNvPr id="10" name="Text 6"/>
          <p:cNvSpPr txBox="1"/>
          <p:nvPr/>
        </p:nvSpPr>
        <p:spPr>
          <a:xfrm>
            <a:off x="2961056" y="1965960"/>
            <a:ext cx="1664208" cy="1417320"/>
          </a:xfrm>
          <a:prstGeom prst="rect">
            <a:avLst/>
          </a:prstGeom>
          <a:noFill/>
          <a:ln/>
        </p:spPr>
        <p:txBody>
          <a:bodyPr wrap="square" lIns="0" tIns="0" rIns="0" bIns="0" rtlCol="0" anchor="ctr"/>
          <a:lstStyle/>
          <a:p>
            <a:pPr algn="ctr" indent="0" marL="0">
              <a:spcAft>
                <a:spcPts val="600"/>
              </a:spcAft>
              <a:buNone/>
            </a:pPr>
            <a:r>
              <a:rPr lang="en-US" sz="1600" b="1" dirty="0">
                <a:solidFill>
                  <a:schemeClr val="tx2"/>
                </a:solidFill>
              </a:rPr>
              <a:t>Alan CV'leri</a:t>
            </a:r>
            <a:endParaRPr lang="en-US" sz="1600" dirty="0"/>
          </a:p>
          <a:p>
            <a:pPr algn="ctr" indent="0" marL="0">
              <a:spcAft>
                <a:spcPts val="600"/>
              </a:spcAft>
              <a:buNone/>
            </a:pPr>
            <a:r>
              <a:rPr lang="en-US" sz="1300" dirty="0">
                <a:solidFill>
                  <a:schemeClr val="tx1"/>
                </a:solidFill>
              </a:rPr>
              <a:t>Hedef role göre</a:t>
            </a:r>
            <a:endParaRPr lang="en-US" sz="1600" dirty="0"/>
          </a:p>
          <a:p>
            <a:pPr algn="ctr" indent="0" marL="0">
              <a:spcAft>
                <a:spcPts val="600"/>
              </a:spcAft>
              <a:buNone/>
            </a:pPr>
            <a:r>
              <a:rPr lang="en-US" sz="1100" dirty="0">
                <a:solidFill>
                  <a:schemeClr val="accent3"/>
                </a:solidFill>
                <a:latin typeface="Courier New" pitchFamily="34" charset="0"/>
                <a:ea typeface="Courier New" pitchFamily="34" charset="-122"/>
                <a:cs typeface="Courier New" pitchFamily="34" charset="-120"/>
              </a:rPr>
              <a:t>genel_cvler/</a:t>
            </a:r>
            <a:endParaRPr lang="en-US" sz="1600" dirty="0"/>
          </a:p>
        </p:txBody>
      </p:sp>
      <p:pic>
        <p:nvPicPr>
          <p:cNvPr id="11" name="Image 1" descr="preencoded.png">    </p:cNvPr>
          <p:cNvPicPr>
            <a:picLocks noChangeAspect="1"/>
          </p:cNvPicPr>
          <p:nvPr/>
        </p:nvPicPr>
        <p:blipFill>
          <a:blip r:embed="rId2"/>
          <a:stretch>
            <a:fillRect/>
          </a:stretch>
        </p:blipFill>
        <p:spPr>
          <a:xfrm>
            <a:off x="4825632" y="2560320"/>
            <a:ext cx="237744" cy="237744"/>
          </a:xfrm>
          <a:prstGeom prst="rect">
            <a:avLst/>
          </a:prstGeom>
        </p:spPr>
      </p:pic>
      <p:sp>
        <p:nvSpPr>
          <p:cNvPr id="12" name="kart"/>
          <p:cNvSpPr/>
          <p:nvPr/>
        </p:nvSpPr>
        <p:spPr>
          <a:xfrm>
            <a:off x="5154016" y="1965960"/>
            <a:ext cx="1883664" cy="1417320"/>
          </a:xfrm>
          <a:prstGeom prst="roundRect">
            <a:avLst>
              <a:gd name="adj" fmla="val 5161"/>
            </a:avLst>
          </a:prstGeom>
          <a:solidFill>
            <a:schemeClr val="bg2"/>
          </a:solidFill>
          <a:ln/>
        </p:spPr>
      </p:sp>
      <p:sp>
        <p:nvSpPr>
          <p:cNvPr id="13" name="Text 8"/>
          <p:cNvSpPr txBox="1"/>
          <p:nvPr/>
        </p:nvSpPr>
        <p:spPr>
          <a:xfrm>
            <a:off x="5263744" y="1965960"/>
            <a:ext cx="1664208" cy="1417320"/>
          </a:xfrm>
          <a:prstGeom prst="rect">
            <a:avLst/>
          </a:prstGeom>
          <a:noFill/>
          <a:ln/>
        </p:spPr>
        <p:txBody>
          <a:bodyPr wrap="square" lIns="0" tIns="0" rIns="0" bIns="0" rtlCol="0" anchor="ctr"/>
          <a:lstStyle/>
          <a:p>
            <a:pPr algn="ctr" indent="0" marL="0">
              <a:spcAft>
                <a:spcPts val="600"/>
              </a:spcAft>
              <a:buNone/>
            </a:pPr>
            <a:r>
              <a:rPr lang="en-US" sz="1600" b="1" dirty="0">
                <a:solidFill>
                  <a:schemeClr val="tx2"/>
                </a:solidFill>
              </a:rPr>
              <a:t>İlana özel CV'ler</a:t>
            </a:r>
            <a:endParaRPr lang="en-US" sz="1600" dirty="0"/>
          </a:p>
          <a:p>
            <a:pPr algn="ctr" indent="0" marL="0">
              <a:spcAft>
                <a:spcPts val="600"/>
              </a:spcAft>
              <a:buNone/>
            </a:pPr>
            <a:r>
              <a:rPr lang="en-US" sz="1300" dirty="0">
                <a:solidFill>
                  <a:schemeClr val="tx1"/>
                </a:solidFill>
              </a:rPr>
              <a:t>Gerektiğinde</a:t>
            </a:r>
            <a:endParaRPr lang="en-US" sz="1600" dirty="0"/>
          </a:p>
          <a:p>
            <a:pPr algn="ctr" indent="0" marL="0">
              <a:spcAft>
                <a:spcPts val="600"/>
              </a:spcAft>
              <a:buNone/>
            </a:pPr>
            <a:r>
              <a:rPr lang="en-US" sz="1100" dirty="0">
                <a:solidFill>
                  <a:schemeClr val="accent3"/>
                </a:solidFill>
                <a:latin typeface="Courier New" pitchFamily="34" charset="0"/>
                <a:ea typeface="Courier New" pitchFamily="34" charset="-122"/>
                <a:cs typeface="Courier New" pitchFamily="34" charset="-120"/>
              </a:rPr>
              <a:t>ilana_ozel_cvler/</a:t>
            </a:r>
            <a:endParaRPr lang="en-US" sz="1600" dirty="0"/>
          </a:p>
        </p:txBody>
      </p:sp>
      <p:pic>
        <p:nvPicPr>
          <p:cNvPr id="14" name="Image 2" descr="preencoded.png">    </p:cNvPr>
          <p:cNvPicPr>
            <a:picLocks noChangeAspect="1"/>
          </p:cNvPicPr>
          <p:nvPr/>
        </p:nvPicPr>
        <p:blipFill>
          <a:blip r:embed="rId3"/>
          <a:stretch>
            <a:fillRect/>
          </a:stretch>
        </p:blipFill>
        <p:spPr>
          <a:xfrm>
            <a:off x="7128320" y="2560320"/>
            <a:ext cx="237744" cy="237744"/>
          </a:xfrm>
          <a:prstGeom prst="rect">
            <a:avLst/>
          </a:prstGeom>
        </p:spPr>
      </p:pic>
      <p:sp>
        <p:nvSpPr>
          <p:cNvPr id="15" name="kart"/>
          <p:cNvSpPr/>
          <p:nvPr/>
        </p:nvSpPr>
        <p:spPr>
          <a:xfrm>
            <a:off x="7456703" y="1965960"/>
            <a:ext cx="1883664" cy="1417320"/>
          </a:xfrm>
          <a:prstGeom prst="roundRect">
            <a:avLst>
              <a:gd name="adj" fmla="val 5161"/>
            </a:avLst>
          </a:prstGeom>
          <a:solidFill>
            <a:schemeClr val="bg2"/>
          </a:solidFill>
          <a:ln/>
        </p:spPr>
      </p:sp>
      <p:sp>
        <p:nvSpPr>
          <p:cNvPr id="16" name="Text 10"/>
          <p:cNvSpPr txBox="1"/>
          <p:nvPr/>
        </p:nvSpPr>
        <p:spPr>
          <a:xfrm>
            <a:off x="7566431" y="1965960"/>
            <a:ext cx="1664208" cy="1417320"/>
          </a:xfrm>
          <a:prstGeom prst="rect">
            <a:avLst/>
          </a:prstGeom>
          <a:noFill/>
          <a:ln/>
        </p:spPr>
        <p:txBody>
          <a:bodyPr wrap="square" lIns="0" tIns="0" rIns="0" bIns="0" rtlCol="0" anchor="ctr"/>
          <a:lstStyle/>
          <a:p>
            <a:pPr algn="ctr" indent="0" marL="0">
              <a:spcAft>
                <a:spcPts val="600"/>
              </a:spcAft>
              <a:buNone/>
            </a:pPr>
            <a:r>
              <a:rPr lang="en-US" sz="1600" b="1" dirty="0">
                <a:solidFill>
                  <a:schemeClr val="tx2"/>
                </a:solidFill>
              </a:rPr>
              <a:t>Derleme</a:t>
            </a:r>
            <a:endParaRPr lang="en-US" sz="1600" dirty="0"/>
          </a:p>
          <a:p>
            <a:pPr algn="ctr" indent="0" marL="0">
              <a:spcAft>
                <a:spcPts val="600"/>
              </a:spcAft>
              <a:buNone/>
            </a:pPr>
            <a:r>
              <a:rPr lang="en-US" sz="1300" dirty="0">
                <a:solidFill>
                  <a:schemeClr val="tx1"/>
                </a:solidFill>
              </a:rPr>
              <a:t>LaTeX, RenderCV</a:t>
            </a:r>
            <a:endParaRPr lang="en-US" sz="1600" dirty="0"/>
          </a:p>
          <a:p>
            <a:pPr algn="ctr" indent="0" marL="0">
              <a:spcAft>
                <a:spcPts val="600"/>
              </a:spcAft>
              <a:buNone/>
            </a:pPr>
            <a:r>
              <a:rPr lang="en-US" sz="1100" dirty="0">
                <a:solidFill>
                  <a:schemeClr val="accent3"/>
                </a:solidFill>
                <a:latin typeface="Courier New" pitchFamily="34" charset="0"/>
                <a:ea typeface="Courier New" pitchFamily="34" charset="-122"/>
                <a:cs typeface="Courier New" pitchFamily="34" charset="-120"/>
              </a:rPr>
              <a:t>build.sh</a:t>
            </a:r>
            <a:endParaRPr lang="en-US" sz="1600" dirty="0"/>
          </a:p>
        </p:txBody>
      </p:sp>
      <p:pic>
        <p:nvPicPr>
          <p:cNvPr id="17" name="Image 3" descr="preencoded.png">    </p:cNvPr>
          <p:cNvPicPr>
            <a:picLocks noChangeAspect="1"/>
          </p:cNvPicPr>
          <p:nvPr/>
        </p:nvPicPr>
        <p:blipFill>
          <a:blip r:embed="rId4"/>
          <a:stretch>
            <a:fillRect/>
          </a:stretch>
        </p:blipFill>
        <p:spPr>
          <a:xfrm>
            <a:off x="9431007" y="2560320"/>
            <a:ext cx="237744" cy="237744"/>
          </a:xfrm>
          <a:prstGeom prst="rect">
            <a:avLst/>
          </a:prstGeom>
        </p:spPr>
      </p:pic>
      <p:sp>
        <p:nvSpPr>
          <p:cNvPr id="18" name="kart"/>
          <p:cNvSpPr/>
          <p:nvPr/>
        </p:nvSpPr>
        <p:spPr>
          <a:xfrm>
            <a:off x="9759391" y="1965960"/>
            <a:ext cx="1883664" cy="1417320"/>
          </a:xfrm>
          <a:prstGeom prst="roundRect">
            <a:avLst>
              <a:gd name="adj" fmla="val 5161"/>
            </a:avLst>
          </a:prstGeom>
          <a:solidFill>
            <a:schemeClr val="accent1"/>
          </a:solidFill>
          <a:ln/>
        </p:spPr>
      </p:sp>
      <p:sp>
        <p:nvSpPr>
          <p:cNvPr id="19" name="Text 12"/>
          <p:cNvSpPr txBox="1"/>
          <p:nvPr/>
        </p:nvSpPr>
        <p:spPr>
          <a:xfrm>
            <a:off x="9869119" y="1965960"/>
            <a:ext cx="1664208" cy="1417320"/>
          </a:xfrm>
          <a:prstGeom prst="rect">
            <a:avLst/>
          </a:prstGeom>
          <a:noFill/>
          <a:ln/>
        </p:spPr>
        <p:txBody>
          <a:bodyPr wrap="square" lIns="0" tIns="0" rIns="0" bIns="0" rtlCol="0" anchor="ctr"/>
          <a:lstStyle/>
          <a:p>
            <a:pPr algn="ctr" indent="0" marL="0">
              <a:spcAft>
                <a:spcPts val="600"/>
              </a:spcAft>
              <a:buNone/>
            </a:pPr>
            <a:r>
              <a:rPr lang="en-US" sz="1600" b="1" dirty="0">
                <a:solidFill>
                  <a:schemeClr val="bg1"/>
                </a:solidFill>
              </a:rPr>
              <a:t>ATS uyumlu PDF</a:t>
            </a:r>
            <a:endParaRPr lang="en-US" sz="1600" dirty="0"/>
          </a:p>
          <a:p>
            <a:pPr algn="ctr" indent="0" marL="0">
              <a:spcAft>
                <a:spcPts val="600"/>
              </a:spcAft>
              <a:buNone/>
            </a:pPr>
            <a:r>
              <a:rPr lang="en-US" sz="1300" dirty="0">
                <a:solidFill>
                  <a:schemeClr val="bg2"/>
                </a:solidFill>
              </a:rPr>
              <a:t>Türkçe ve İngilizce</a:t>
            </a:r>
            <a:endParaRPr lang="en-US" sz="1600" dirty="0"/>
          </a:p>
          <a:p>
            <a:pPr algn="ctr" indent="0" marL="0">
              <a:spcAft>
                <a:spcPts val="600"/>
              </a:spcAft>
              <a:buNone/>
            </a:pPr>
            <a:r>
              <a:rPr lang="en-US" sz="1100" dirty="0">
                <a:solidFill>
                  <a:schemeClr val="accent2"/>
                </a:solidFill>
                <a:latin typeface="Courier New" pitchFamily="34" charset="0"/>
                <a:ea typeface="Courier New" pitchFamily="34" charset="-122"/>
                <a:cs typeface="Courier New" pitchFamily="34" charset="-120"/>
              </a:rPr>
              <a:t>TR / EN PDF</a:t>
            </a:r>
            <a:endParaRPr lang="en-US" sz="1600" dirty="0"/>
          </a:p>
        </p:txBody>
      </p:sp>
      <p:sp>
        <p:nvSpPr>
          <p:cNvPr id="20" name="kart"/>
          <p:cNvSpPr/>
          <p:nvPr/>
        </p:nvSpPr>
        <p:spPr>
          <a:xfrm>
            <a:off x="548640" y="3611880"/>
            <a:ext cx="11094415" cy="548640"/>
          </a:xfrm>
          <a:prstGeom prst="roundRect">
            <a:avLst>
              <a:gd name="adj" fmla="val 13333"/>
            </a:avLst>
          </a:prstGeom>
          <a:solidFill>
            <a:schemeClr val="accent2">
              <a:alpha val="18000"/>
            </a:schemeClr>
          </a:solidFill>
          <a:ln/>
        </p:spPr>
      </p:sp>
      <p:sp>
        <p:nvSpPr>
          <p:cNvPr id="21" name="Text 14"/>
          <p:cNvSpPr txBox="1"/>
          <p:nvPr/>
        </p:nvSpPr>
        <p:spPr>
          <a:xfrm>
            <a:off x="548640" y="3611880"/>
            <a:ext cx="11094415" cy="548640"/>
          </a:xfrm>
          <a:prstGeom prst="rect">
            <a:avLst/>
          </a:prstGeom>
          <a:noFill/>
          <a:ln/>
        </p:spPr>
        <p:txBody>
          <a:bodyPr wrap="square" lIns="0" tIns="0" rIns="0" bIns="0" rtlCol="0" anchor="ctr"/>
          <a:lstStyle/>
          <a:p>
            <a:pPr algn="ctr" indent="0" marL="0">
              <a:buNone/>
            </a:pPr>
            <a:r>
              <a:rPr lang="en-US" sz="1600" b="1" dirty="0">
                <a:solidFill>
                  <a:schemeClr val="tx2"/>
                </a:solidFill>
              </a:rPr>
              <a:t>Git ile sürümlenir · Kurallar eylemcilere dosyada verilir</a:t>
            </a:r>
            <a:endParaRPr lang="en-US" sz="1600" dirty="0"/>
          </a:p>
        </p:txBody>
      </p:sp>
      <p:sp>
        <p:nvSpPr>
          <p:cNvPr id="22" name="Text 15"/>
          <p:cNvSpPr txBox="1"/>
          <p:nvPr/>
        </p:nvSpPr>
        <p:spPr>
          <a:xfrm>
            <a:off x="548640" y="4389120"/>
            <a:ext cx="5486400" cy="274320"/>
          </a:xfrm>
          <a:prstGeom prst="rect">
            <a:avLst/>
          </a:prstGeom>
          <a:noFill/>
          <a:ln/>
        </p:spPr>
        <p:txBody>
          <a:bodyPr wrap="square" lIns="0" tIns="0" rIns="0" bIns="0" rtlCol="0" anchor="ctr"/>
          <a:lstStyle/>
          <a:p>
            <a:pPr indent="0" marL="0">
              <a:buNone/>
            </a:pPr>
            <a:r>
              <a:rPr lang="en-US" sz="1200" b="1" spc="200" kern="0" dirty="0">
                <a:solidFill>
                  <a:schemeClr val="accent3"/>
                </a:solidFill>
              </a:rPr>
              <a:t>ÖRNEK UYGULAMA · KENDİ CV DEPOM</a:t>
            </a:r>
            <a:endParaRPr lang="en-US" sz="1200" dirty="0"/>
          </a:p>
        </p:txBody>
      </p:sp>
      <p:sp>
        <p:nvSpPr>
          <p:cNvPr id="23" name="Text 16"/>
          <p:cNvSpPr txBox="1"/>
          <p:nvPr/>
        </p:nvSpPr>
        <p:spPr>
          <a:xfrm>
            <a:off x="548640" y="4709160"/>
            <a:ext cx="2773604" cy="1280160"/>
          </a:xfrm>
          <a:prstGeom prst="rect">
            <a:avLst/>
          </a:prstGeom>
          <a:noFill/>
          <a:ln/>
        </p:spPr>
        <p:txBody>
          <a:bodyPr wrap="square" lIns="0" tIns="0" rIns="0" bIns="0" rtlCol="0" anchor="t"/>
          <a:lstStyle/>
          <a:p>
            <a:pPr algn="ctr" indent="0" marL="0">
              <a:buNone/>
            </a:pPr>
            <a:r>
              <a:rPr lang="en-US" sz="4400" b="1" dirty="0">
                <a:solidFill>
                  <a:schemeClr val="accent3"/>
                </a:solidFill>
                <a:latin typeface="Cambria" pitchFamily="34" charset="0"/>
                <a:ea typeface="Cambria" pitchFamily="34" charset="-122"/>
                <a:cs typeface="Cambria" pitchFamily="34" charset="-120"/>
              </a:rPr>
              <a:t>71</a:t>
            </a:r>
            <a:endParaRPr lang="en-US" sz="4400" dirty="0"/>
          </a:p>
          <a:p>
            <a:pPr algn="ctr" indent="0" marL="0">
              <a:buNone/>
            </a:pPr>
            <a:r>
              <a:rPr lang="en-US" sz="1600" dirty="0">
                <a:solidFill>
                  <a:schemeClr val="tx1"/>
                </a:solidFill>
              </a:rPr>
              <a:t>proje kaydı</a:t>
            </a:r>
            <a:endParaRPr lang="en-US" sz="4400" dirty="0"/>
          </a:p>
        </p:txBody>
      </p:sp>
      <p:sp>
        <p:nvSpPr>
          <p:cNvPr id="24" name="Text 17"/>
          <p:cNvSpPr txBox="1"/>
          <p:nvPr/>
        </p:nvSpPr>
        <p:spPr>
          <a:xfrm>
            <a:off x="3322244" y="4709160"/>
            <a:ext cx="2773604" cy="1280160"/>
          </a:xfrm>
          <a:prstGeom prst="rect">
            <a:avLst/>
          </a:prstGeom>
          <a:noFill/>
          <a:ln/>
        </p:spPr>
        <p:txBody>
          <a:bodyPr wrap="square" lIns="0" tIns="0" rIns="0" bIns="0" rtlCol="0" anchor="t"/>
          <a:lstStyle/>
          <a:p>
            <a:pPr algn="ctr" indent="0" marL="0">
              <a:buNone/>
            </a:pPr>
            <a:r>
              <a:rPr lang="en-US" sz="4400" b="1" dirty="0">
                <a:solidFill>
                  <a:schemeClr val="accent3"/>
                </a:solidFill>
                <a:latin typeface="Cambria" pitchFamily="34" charset="0"/>
                <a:ea typeface="Cambria" pitchFamily="34" charset="-122"/>
                <a:cs typeface="Cambria" pitchFamily="34" charset="-120"/>
              </a:rPr>
              <a:t>4</a:t>
            </a:r>
            <a:endParaRPr lang="en-US" sz="4400" dirty="0"/>
          </a:p>
          <a:p>
            <a:pPr algn="ctr" indent="0" marL="0">
              <a:buNone/>
            </a:pPr>
            <a:r>
              <a:rPr lang="en-US" sz="1600" dirty="0">
                <a:solidFill>
                  <a:schemeClr val="tx1"/>
                </a:solidFill>
              </a:rPr>
              <a:t>alan CV'si</a:t>
            </a:r>
            <a:endParaRPr lang="en-US" sz="4400" dirty="0"/>
          </a:p>
        </p:txBody>
      </p:sp>
      <p:sp>
        <p:nvSpPr>
          <p:cNvPr id="25" name="Text 18"/>
          <p:cNvSpPr txBox="1"/>
          <p:nvPr/>
        </p:nvSpPr>
        <p:spPr>
          <a:xfrm>
            <a:off x="6095848" y="4709160"/>
            <a:ext cx="2773604" cy="1280160"/>
          </a:xfrm>
          <a:prstGeom prst="rect">
            <a:avLst/>
          </a:prstGeom>
          <a:noFill/>
          <a:ln/>
        </p:spPr>
        <p:txBody>
          <a:bodyPr wrap="square" lIns="0" tIns="0" rIns="0" bIns="0" rtlCol="0" anchor="t"/>
          <a:lstStyle/>
          <a:p>
            <a:pPr algn="ctr" indent="0" marL="0">
              <a:buNone/>
            </a:pPr>
            <a:r>
              <a:rPr lang="en-US" sz="4400" b="1" dirty="0">
                <a:solidFill>
                  <a:schemeClr val="accent3"/>
                </a:solidFill>
                <a:latin typeface="Cambria" pitchFamily="34" charset="0"/>
                <a:ea typeface="Cambria" pitchFamily="34" charset="-122"/>
                <a:cs typeface="Cambria" pitchFamily="34" charset="-120"/>
              </a:rPr>
              <a:t>64</a:t>
            </a:r>
            <a:endParaRPr lang="en-US" sz="4400" dirty="0"/>
          </a:p>
          <a:p>
            <a:pPr algn="ctr" indent="0" marL="0">
              <a:buNone/>
            </a:pPr>
            <a:r>
              <a:rPr lang="en-US" sz="1600" dirty="0">
                <a:solidFill>
                  <a:schemeClr val="tx1"/>
                </a:solidFill>
              </a:rPr>
              <a:t>ilan paketi</a:t>
            </a:r>
            <a:endParaRPr lang="en-US" sz="4400" dirty="0"/>
          </a:p>
        </p:txBody>
      </p:sp>
      <p:sp>
        <p:nvSpPr>
          <p:cNvPr id="26" name="Text 19"/>
          <p:cNvSpPr txBox="1"/>
          <p:nvPr/>
        </p:nvSpPr>
        <p:spPr>
          <a:xfrm>
            <a:off x="8869451" y="4709160"/>
            <a:ext cx="2773604" cy="1280160"/>
          </a:xfrm>
          <a:prstGeom prst="rect">
            <a:avLst/>
          </a:prstGeom>
          <a:noFill/>
          <a:ln/>
        </p:spPr>
        <p:txBody>
          <a:bodyPr wrap="square" lIns="0" tIns="0" rIns="0" bIns="0" rtlCol="0" anchor="t"/>
          <a:lstStyle/>
          <a:p>
            <a:pPr algn="ctr" indent="0" marL="0">
              <a:buNone/>
            </a:pPr>
            <a:r>
              <a:rPr lang="en-US" sz="4400" b="1" dirty="0">
                <a:solidFill>
                  <a:schemeClr val="accent3"/>
                </a:solidFill>
                <a:latin typeface="Cambria" pitchFamily="34" charset="0"/>
                <a:ea typeface="Cambria" pitchFamily="34" charset="-122"/>
                <a:cs typeface="Cambria" pitchFamily="34" charset="-120"/>
              </a:rPr>
              <a:t>76</a:t>
            </a:r>
            <a:endParaRPr lang="en-US" sz="4400" dirty="0"/>
          </a:p>
          <a:p>
            <a:pPr algn="ctr" indent="0" marL="0">
              <a:buNone/>
            </a:pPr>
            <a:r>
              <a:rPr lang="en-US" sz="1600" dirty="0">
                <a:solidFill>
                  <a:schemeClr val="tx1"/>
                </a:solidFill>
              </a:rPr>
              <a:t>commit</a:t>
            </a:r>
            <a:endParaRPr lang="en-US" sz="4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17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1" type="body" hasCustomPrompt="1"/>
          </p:nvPr>
        </p:nvSpPr>
        <p:spPr>
          <a:xfrm>
            <a:off x="548640" y="320040"/>
            <a:ext cx="8778240" cy="320040"/>
          </a:xfrm>
          <a:prstGeom prst="rect">
            <a:avLst/>
          </a:prstGeom>
          <a:noFill/>
          <a:ln/>
        </p:spPr>
        <p:txBody>
          <a:bodyPr wrap="square" lIns="0" tIns="0" rIns="0" bIns="0" rtlCol="0" anchor="ctr"/>
          <a:lstStyle/>
          <a:p>
            <a:pPr indent="0" marL="0">
              <a:buNone/>
            </a:pPr>
            <a:r>
              <a:rPr lang="en-US" sz="1300" b="1" spc="200" kern="0" dirty="0">
                <a:solidFill>
                  <a:schemeClr val="accent3"/>
                </a:solidFill>
              </a:rPr>
              <a:t>02 · CV'Yİ KOD GİBİ YÖNETMEK</a:t>
            </a:r>
            <a:endParaRPr lang="en-US" sz="1300" dirty="0"/>
          </a:p>
        </p:txBody>
      </p:sp>
      <p:sp>
        <p:nvSpPr>
          <p:cNvPr id="3" name="Text 0"/>
          <p:cNvSpPr/>
          <p:nvPr>
            <p:ph idx="102" type="title" hasCustomPrompt="1"/>
          </p:nvPr>
        </p:nvSpPr>
        <p:spPr>
          <a:xfrm>
            <a:off x="548640" y="658368"/>
            <a:ext cx="9052560" cy="731520"/>
          </a:xfrm>
          <a:prstGeom prst="rect">
            <a:avLst/>
          </a:prstGeom>
          <a:noFill/>
          <a:ln/>
        </p:spPr>
        <p:txBody>
          <a:bodyPr wrap="square" lIns="0" tIns="0" rIns="0" bIns="0" rtlCol="0" anchor="t"/>
          <a:lstStyle/>
          <a:p>
            <a:pPr algn="l" indent="0" marL="0">
              <a:buNone/>
            </a:pPr>
            <a:r>
              <a:rPr lang="en-US" sz="3400" b="1" dirty="0">
                <a:solidFill>
                  <a:schemeClr val="tx2"/>
                </a:solidFill>
              </a:rPr>
              <a:t>Tek Doğruluk Kaynağı Olmalı</a:t>
            </a:r>
            <a:endParaRPr lang="en-US" sz="3400" dirty="0"/>
          </a:p>
        </p:txBody>
      </p:sp>
      <p:sp>
        <p:nvSpPr>
          <p:cNvPr id="5" name="Text 2"/>
          <p:cNvSpPr txBox="1"/>
          <p:nvPr/>
        </p:nvSpPr>
        <p:spPr>
          <a:xfrm>
            <a:off x="548640" y="1600200"/>
            <a:ext cx="6400800" cy="274320"/>
          </a:xfrm>
          <a:prstGeom prst="rect">
            <a:avLst/>
          </a:prstGeom>
          <a:noFill/>
          <a:ln/>
        </p:spPr>
        <p:txBody>
          <a:bodyPr wrap="square" lIns="0" tIns="0" rIns="0" bIns="0" rtlCol="0" anchor="ctr"/>
          <a:lstStyle/>
          <a:p>
            <a:pPr indent="0" marL="0">
              <a:buNone/>
            </a:pPr>
            <a:r>
              <a:rPr lang="en-US" sz="1200" b="1" spc="200" kern="0" dirty="0">
                <a:solidFill>
                  <a:schemeClr val="accent3"/>
                </a:solidFill>
              </a:rPr>
              <a:t>ÖRNEK ·</a:t>
            </a:r>
            <a:pPr indent="0" marL="0">
              <a:buNone/>
            </a:pPr>
            <a:r>
              <a:rPr lang="en-US" sz="1200" b="1" dirty="0">
                <a:solidFill>
                  <a:schemeClr val="accent3"/>
                </a:solidFill>
                <a:latin typeface="Courier New" pitchFamily="34" charset="0"/>
                <a:ea typeface="Courier New" pitchFamily="34" charset="-122"/>
                <a:cs typeface="Courier New" pitchFamily="34" charset="-120"/>
              </a:rPr>
              <a:t> info/projects.yml</a:t>
            </a:r>
            <a:endParaRPr lang="en-US" sz="1200" dirty="0"/>
          </a:p>
        </p:txBody>
      </p:sp>
      <p:sp>
        <p:nvSpPr>
          <p:cNvPr id="6" name="kod-kutusu"/>
          <p:cNvSpPr/>
          <p:nvPr/>
        </p:nvSpPr>
        <p:spPr>
          <a:xfrm>
            <a:off x="548640" y="1965960"/>
            <a:ext cx="6400800" cy="3246120"/>
          </a:xfrm>
          <a:prstGeom prst="roundRect">
            <a:avLst>
              <a:gd name="adj" fmla="val 2254"/>
            </a:avLst>
          </a:prstGeom>
          <a:solidFill>
            <a:schemeClr val="tx2"/>
          </a:solidFill>
          <a:ln/>
        </p:spPr>
      </p:sp>
      <p:sp>
        <p:nvSpPr>
          <p:cNvPr id="7" name="Text 4"/>
          <p:cNvSpPr txBox="1"/>
          <p:nvPr/>
        </p:nvSpPr>
        <p:spPr>
          <a:xfrm>
            <a:off x="822960" y="2194560"/>
            <a:ext cx="5852160" cy="2788920"/>
          </a:xfrm>
          <a:prstGeom prst="rect">
            <a:avLst/>
          </a:prstGeom>
          <a:noFill/>
          <a:ln/>
        </p:spPr>
        <p:txBody>
          <a:bodyPr wrap="square" lIns="0" tIns="0" rIns="0" bIns="0" rtlCol="0" anchor="t"/>
          <a:lstStyle/>
          <a:p>
            <a:pPr indent="0" marL="0">
              <a:buNone/>
            </a:pPr>
            <a:r>
              <a:rPr lang="en-US" sz="1500" dirty="0">
                <a:solidFill>
                  <a:schemeClr val="bg1"/>
                </a:solidFill>
                <a:latin typeface="Courier New" pitchFamily="34" charset="0"/>
                <a:ea typeface="Courier New" pitchFamily="34" charset="-122"/>
                <a:cs typeface="Courier New" pitchFamily="34" charset="-120"/>
              </a:rPr>
              <a:t>- id: agentic-dynamic-memory-router</a:t>
            </a:r>
            <a:endParaRPr lang="en-US" sz="1500" dirty="0"/>
          </a:p>
          <a:p>
            <a:pPr indent="0" marL="0">
              <a:buNone/>
            </a:pPr>
            <a:r>
              <a:rPr lang="en-US" sz="1500" dirty="0">
                <a:solidFill>
                  <a:schemeClr val="bg1"/>
                </a:solidFill>
                <a:latin typeface="Courier New" pitchFamily="34" charset="0"/>
                <a:ea typeface="Courier New" pitchFamily="34" charset="-122"/>
                <a:cs typeface="Courier New" pitchFamily="34" charset="-120"/>
              </a:rPr>
              <a:t>  name:</a:t>
            </a:r>
            <a:endParaRPr lang="en-US" sz="1500" dirty="0"/>
          </a:p>
          <a:p>
            <a:pPr indent="0" marL="0">
              <a:buNone/>
            </a:pPr>
            <a:r>
              <a:rPr lang="en-US" sz="1500" dirty="0">
                <a:solidFill>
                  <a:schemeClr val="bg1"/>
                </a:solidFill>
                <a:latin typeface="Courier New" pitchFamily="34" charset="0"/>
                <a:ea typeface="Courier New" pitchFamily="34" charset="-122"/>
                <a:cs typeface="Courier New" pitchFamily="34" charset="-120"/>
              </a:rPr>
              <a:t>    en: Agentic Dynamic Memory Router</a:t>
            </a:r>
            <a:endParaRPr lang="en-US" sz="1500" dirty="0"/>
          </a:p>
          <a:p>
            <a:pPr indent="0" marL="0">
              <a:buNone/>
            </a:pPr>
            <a:r>
              <a:rPr lang="en-US" sz="1500" dirty="0">
                <a:solidFill>
                  <a:schemeClr val="bg1"/>
                </a:solidFill>
                <a:latin typeface="Courier New" pitchFamily="34" charset="0"/>
                <a:ea typeface="Courier New" pitchFamily="34" charset="-122"/>
                <a:cs typeface="Courier New" pitchFamily="34" charset="-120"/>
              </a:rPr>
              <a:t>    tr: Eylemci Dinamik Bellek</a:t>
            </a:r>
            <a:endParaRPr lang="en-US" sz="1500" dirty="0"/>
          </a:p>
          <a:p>
            <a:pPr indent="0" marL="0">
              <a:buNone/>
            </a:pPr>
            <a:r>
              <a:rPr lang="en-US" sz="1500" dirty="0">
                <a:solidFill>
                  <a:schemeClr val="bg1"/>
                </a:solidFill>
                <a:latin typeface="Courier New" pitchFamily="34" charset="0"/>
                <a:ea typeface="Courier New" pitchFamily="34" charset="-122"/>
                <a:cs typeface="Courier New" pitchFamily="34" charset="-120"/>
              </a:rPr>
              <a:t>        Yönlendiricisi</a:t>
            </a:r>
            <a:endParaRPr lang="en-US" sz="1500" dirty="0"/>
          </a:p>
          <a:p>
            <a:pPr indent="0" marL="0">
              <a:buNone/>
            </a:pPr>
            <a:r>
              <a:rPr lang="en-US" sz="1500" dirty="0">
                <a:solidFill>
                  <a:schemeClr val="bg1"/>
                </a:solidFill>
                <a:latin typeface="Courier New" pitchFamily="34" charset="0"/>
                <a:ea typeface="Courier New" pitchFamily="34" charset="-122"/>
                <a:cs typeface="Courier New" pitchFamily="34" charset="-120"/>
              </a:rPr>
              <a:t>  category: llm_ai</a:t>
            </a:r>
            <a:endParaRPr lang="en-US" sz="1500" dirty="0"/>
          </a:p>
          <a:p>
            <a:pPr indent="0" marL="0">
              <a:buNone/>
            </a:pPr>
            <a:r>
              <a:rPr lang="en-US" sz="1500" dirty="0">
                <a:solidFill>
                  <a:schemeClr val="bg1"/>
                </a:solidFill>
                <a:latin typeface="Courier New" pitchFamily="34" charset="0"/>
                <a:ea typeface="Courier New" pitchFamily="34" charset="-122"/>
                <a:cs typeface="Courier New" pitchFamily="34" charset="-120"/>
              </a:rPr>
              <a:t>  tags: [python, ai-agents,</a:t>
            </a:r>
            <a:endParaRPr lang="en-US" sz="1500" dirty="0"/>
          </a:p>
          <a:p>
            <a:pPr indent="0" marL="0">
              <a:buNone/>
            </a:pPr>
            <a:r>
              <a:rPr lang="en-US" sz="1500" dirty="0">
                <a:solidFill>
                  <a:schemeClr val="bg1"/>
                </a:solidFill>
                <a:latin typeface="Courier New" pitchFamily="34" charset="0"/>
                <a:ea typeface="Courier New" pitchFamily="34" charset="-122"/>
                <a:cs typeface="Courier New" pitchFamily="34" charset="-120"/>
              </a:rPr>
              <a:t>         context-window]</a:t>
            </a:r>
            <a:endParaRPr lang="en-US" sz="1500" dirty="0"/>
          </a:p>
          <a:p>
            <a:pPr indent="0" marL="0">
              <a:buNone/>
            </a:pPr>
            <a:r>
              <a:rPr lang="en-US" sz="1500" dirty="0">
                <a:solidFill>
                  <a:schemeClr val="bg1"/>
                </a:solidFill>
                <a:latin typeface="Courier New" pitchFamily="34" charset="0"/>
                <a:ea typeface="Courier New" pitchFamily="34" charset="-122"/>
                <a:cs typeface="Courier New" pitchFamily="34" charset="-120"/>
              </a:rPr>
              <a:t>  dates: Jul 2026 -- Aug 2026</a:t>
            </a:r>
            <a:endParaRPr lang="en-US" sz="1500" dirty="0"/>
          </a:p>
          <a:p>
            <a:pPr indent="0" marL="0">
              <a:buNone/>
            </a:pPr>
            <a:r>
              <a:rPr lang="en-US" sz="1500" dirty="0">
                <a:solidFill>
                  <a:schemeClr val="bg1"/>
                </a:solidFill>
                <a:latin typeface="Courier New" pitchFamily="34" charset="0"/>
                <a:ea typeface="Courier New" pitchFamily="34" charset="-122"/>
                <a:cs typeface="Courier New" pitchFamily="34" charset="-120"/>
              </a:rPr>
              <a:t>  featured: true</a:t>
            </a:r>
            <a:endParaRPr lang="en-US" sz="1500" dirty="0"/>
          </a:p>
          <a:p>
            <a:pPr indent="0" marL="0">
              <a:buNone/>
            </a:pPr>
            <a:r>
              <a:rPr lang="en-US" sz="1500" dirty="0">
                <a:solidFill>
                  <a:schemeClr val="bg1"/>
                </a:solidFill>
                <a:latin typeface="Courier New" pitchFamily="34" charset="0"/>
                <a:ea typeface="Courier New" pitchFamily="34" charset="-122"/>
                <a:cs typeface="Courier New" pitchFamily="34" charset="-120"/>
              </a:rPr>
              <a:t>  cv_section: featured_llm</a:t>
            </a:r>
            <a:endParaRPr lang="en-US" sz="1500" dirty="0"/>
          </a:p>
        </p:txBody>
      </p:sp>
      <p:sp>
        <p:nvSpPr>
          <p:cNvPr id="8" name="ikon-daire"/>
          <p:cNvSpPr/>
          <p:nvPr/>
        </p:nvSpPr>
        <p:spPr>
          <a:xfrm>
            <a:off x="7315200" y="2011680"/>
            <a:ext cx="566928" cy="566928"/>
          </a:xfrm>
          <a:prstGeom prst="ellipse">
            <a:avLst/>
          </a:prstGeom>
          <a:solidFill>
            <a:schemeClr val="accent1"/>
          </a:solidFill>
          <a:ln/>
        </p:spPr>
      </p:sp>
      <p:pic>
        <p:nvPicPr>
          <p:cNvPr id="9" name="ikon" descr="preencoded.png">    </p:cNvPr>
          <p:cNvPicPr>
            <a:picLocks noChangeAspect="1"/>
          </p:cNvPicPr>
          <p:nvPr/>
        </p:nvPicPr>
        <p:blipFill>
          <a:blip r:embed="rId1"/>
          <a:stretch>
            <a:fillRect/>
          </a:stretch>
        </p:blipFill>
        <p:spPr>
          <a:xfrm>
            <a:off x="7456932" y="2153412"/>
            <a:ext cx="283464" cy="283464"/>
          </a:xfrm>
          <a:prstGeom prst="rect">
            <a:avLst/>
          </a:prstGeom>
        </p:spPr>
      </p:pic>
      <p:sp>
        <p:nvSpPr>
          <p:cNvPr id="10" name="Text 6"/>
          <p:cNvSpPr txBox="1"/>
          <p:nvPr/>
        </p:nvSpPr>
        <p:spPr>
          <a:xfrm>
            <a:off x="8110728" y="1965960"/>
            <a:ext cx="3532327" cy="777240"/>
          </a:xfrm>
          <a:prstGeom prst="rect">
            <a:avLst/>
          </a:prstGeom>
          <a:noFill/>
          <a:ln/>
        </p:spPr>
        <p:txBody>
          <a:bodyPr wrap="square" lIns="0" tIns="0" rIns="0" bIns="0" rtlCol="0" anchor="t"/>
          <a:lstStyle/>
          <a:p>
            <a:pPr indent="0" marL="0">
              <a:spcAft>
                <a:spcPts val="200"/>
              </a:spcAft>
              <a:buNone/>
            </a:pPr>
            <a:r>
              <a:rPr lang="en-US" sz="1800" b="1" dirty="0">
                <a:solidFill>
                  <a:schemeClr val="tx2"/>
                </a:solidFill>
              </a:rPr>
              <a:t>Her bilgi tek yerde</a:t>
            </a:r>
            <a:endParaRPr lang="en-US" sz="1800" dirty="0"/>
          </a:p>
          <a:p>
            <a:pPr indent="0" marL="0">
              <a:spcAft>
                <a:spcPts val="200"/>
              </a:spcAft>
              <a:buNone/>
            </a:pPr>
            <a:r>
              <a:rPr lang="en-US" sz="1500" dirty="0">
                <a:solidFill>
                  <a:schemeClr val="tx1"/>
                </a:solidFill>
              </a:rPr>
              <a:t>CV'ler kopyalanmaz, kaynaktan türetilir</a:t>
            </a:r>
            <a:endParaRPr lang="en-US" sz="1800" dirty="0"/>
          </a:p>
        </p:txBody>
      </p:sp>
      <p:sp>
        <p:nvSpPr>
          <p:cNvPr id="11" name="ikon-daire"/>
          <p:cNvSpPr/>
          <p:nvPr/>
        </p:nvSpPr>
        <p:spPr>
          <a:xfrm>
            <a:off x="7315200" y="2852928"/>
            <a:ext cx="566928" cy="566928"/>
          </a:xfrm>
          <a:prstGeom prst="ellipse">
            <a:avLst/>
          </a:prstGeom>
          <a:solidFill>
            <a:schemeClr val="accent1"/>
          </a:solidFill>
          <a:ln/>
        </p:spPr>
      </p:sp>
      <p:pic>
        <p:nvPicPr>
          <p:cNvPr id="12" name="ikon" descr="preencoded.png">    </p:cNvPr>
          <p:cNvPicPr>
            <a:picLocks noChangeAspect="1"/>
          </p:cNvPicPr>
          <p:nvPr/>
        </p:nvPicPr>
        <p:blipFill>
          <a:blip r:embed="rId2"/>
          <a:stretch>
            <a:fillRect/>
          </a:stretch>
        </p:blipFill>
        <p:spPr>
          <a:xfrm>
            <a:off x="7456932" y="2994660"/>
            <a:ext cx="283464" cy="283464"/>
          </a:xfrm>
          <a:prstGeom prst="rect">
            <a:avLst/>
          </a:prstGeom>
        </p:spPr>
      </p:pic>
      <p:sp>
        <p:nvSpPr>
          <p:cNvPr id="13" name="Text 8"/>
          <p:cNvSpPr txBox="1"/>
          <p:nvPr/>
        </p:nvSpPr>
        <p:spPr>
          <a:xfrm>
            <a:off x="8110728" y="2807208"/>
            <a:ext cx="3532327" cy="777240"/>
          </a:xfrm>
          <a:prstGeom prst="rect">
            <a:avLst/>
          </a:prstGeom>
          <a:noFill/>
          <a:ln/>
        </p:spPr>
        <p:txBody>
          <a:bodyPr wrap="square" lIns="0" tIns="0" rIns="0" bIns="0" rtlCol="0" anchor="t"/>
          <a:lstStyle/>
          <a:p>
            <a:pPr indent="0" marL="0">
              <a:spcAft>
                <a:spcPts val="200"/>
              </a:spcAft>
              <a:buNone/>
            </a:pPr>
            <a:r>
              <a:rPr lang="en-US" sz="1800" b="1" dirty="0">
                <a:solidFill>
                  <a:schemeClr val="tx2"/>
                </a:solidFill>
              </a:rPr>
              <a:t>İki dil tek kayıtta</a:t>
            </a:r>
            <a:endParaRPr lang="en-US" sz="1800" dirty="0"/>
          </a:p>
          <a:p>
            <a:pPr indent="0" marL="0">
              <a:spcAft>
                <a:spcPts val="200"/>
              </a:spcAft>
              <a:buNone/>
            </a:pPr>
            <a:r>
              <a:rPr lang="en-US" sz="1500" dirty="0">
                <a:solidFill>
                  <a:schemeClr val="tx1"/>
                </a:solidFill>
              </a:rPr>
              <a:t>TR ve EN birbirinden kopmaz</a:t>
            </a:r>
            <a:endParaRPr lang="en-US" sz="1800" dirty="0"/>
          </a:p>
        </p:txBody>
      </p:sp>
      <p:sp>
        <p:nvSpPr>
          <p:cNvPr id="14" name="ikon-daire"/>
          <p:cNvSpPr/>
          <p:nvPr/>
        </p:nvSpPr>
        <p:spPr>
          <a:xfrm>
            <a:off x="7315200" y="3694176"/>
            <a:ext cx="566928" cy="566928"/>
          </a:xfrm>
          <a:prstGeom prst="ellipse">
            <a:avLst/>
          </a:prstGeom>
          <a:solidFill>
            <a:schemeClr val="accent1"/>
          </a:solidFill>
          <a:ln/>
        </p:spPr>
      </p:sp>
      <p:pic>
        <p:nvPicPr>
          <p:cNvPr id="15" name="ikon" descr="preencoded.png">    </p:cNvPr>
          <p:cNvPicPr>
            <a:picLocks noChangeAspect="1"/>
          </p:cNvPicPr>
          <p:nvPr/>
        </p:nvPicPr>
        <p:blipFill>
          <a:blip r:embed="rId3"/>
          <a:stretch>
            <a:fillRect/>
          </a:stretch>
        </p:blipFill>
        <p:spPr>
          <a:xfrm>
            <a:off x="7456932" y="3835908"/>
            <a:ext cx="283464" cy="283464"/>
          </a:xfrm>
          <a:prstGeom prst="rect">
            <a:avLst/>
          </a:prstGeom>
        </p:spPr>
      </p:pic>
      <p:sp>
        <p:nvSpPr>
          <p:cNvPr id="16" name="Text 10"/>
          <p:cNvSpPr txBox="1"/>
          <p:nvPr/>
        </p:nvSpPr>
        <p:spPr>
          <a:xfrm>
            <a:off x="8110728" y="3648456"/>
            <a:ext cx="3532327" cy="777240"/>
          </a:xfrm>
          <a:prstGeom prst="rect">
            <a:avLst/>
          </a:prstGeom>
          <a:noFill/>
          <a:ln/>
        </p:spPr>
        <p:txBody>
          <a:bodyPr wrap="square" lIns="0" tIns="0" rIns="0" bIns="0" rtlCol="0" anchor="t"/>
          <a:lstStyle/>
          <a:p>
            <a:pPr indent="0" marL="0">
              <a:spcAft>
                <a:spcPts val="200"/>
              </a:spcAft>
              <a:buNone/>
            </a:pPr>
            <a:r>
              <a:rPr lang="en-US" sz="1800" b="1" dirty="0">
                <a:solidFill>
                  <a:schemeClr val="tx2"/>
                </a:solidFill>
              </a:rPr>
              <a:t>Etiketler eşler</a:t>
            </a:r>
            <a:endParaRPr lang="en-US" sz="1800" dirty="0"/>
          </a:p>
          <a:p>
            <a:pPr indent="0" marL="0">
              <a:spcAft>
                <a:spcPts val="200"/>
              </a:spcAft>
              <a:buNone/>
            </a:pPr>
            <a:r>
              <a:rPr lang="en-US" sz="1500" dirty="0">
                <a:solidFill>
                  <a:schemeClr val="tx1"/>
                </a:solidFill>
              </a:rPr>
              <a:t>Kaydın hangi CV'ye gireceğini belirler</a:t>
            </a:r>
            <a:endParaRPr lang="en-US" sz="1800" dirty="0"/>
          </a:p>
        </p:txBody>
      </p:sp>
      <p:sp>
        <p:nvSpPr>
          <p:cNvPr id="17" name="ikon-daire"/>
          <p:cNvSpPr/>
          <p:nvPr/>
        </p:nvSpPr>
        <p:spPr>
          <a:xfrm>
            <a:off x="7315200" y="4535424"/>
            <a:ext cx="566928" cy="566928"/>
          </a:xfrm>
          <a:prstGeom prst="ellipse">
            <a:avLst/>
          </a:prstGeom>
          <a:solidFill>
            <a:schemeClr val="accent1"/>
          </a:solidFill>
          <a:ln/>
        </p:spPr>
      </p:sp>
      <p:pic>
        <p:nvPicPr>
          <p:cNvPr id="18" name="ikon" descr="preencoded.png">    </p:cNvPr>
          <p:cNvPicPr>
            <a:picLocks noChangeAspect="1"/>
          </p:cNvPicPr>
          <p:nvPr/>
        </p:nvPicPr>
        <p:blipFill>
          <a:blip r:embed="rId4"/>
          <a:stretch>
            <a:fillRect/>
          </a:stretch>
        </p:blipFill>
        <p:spPr>
          <a:xfrm>
            <a:off x="7456932" y="4677156"/>
            <a:ext cx="283464" cy="283464"/>
          </a:xfrm>
          <a:prstGeom prst="rect">
            <a:avLst/>
          </a:prstGeom>
        </p:spPr>
      </p:pic>
      <p:sp>
        <p:nvSpPr>
          <p:cNvPr id="19" name="Text 12"/>
          <p:cNvSpPr txBox="1"/>
          <p:nvPr/>
        </p:nvSpPr>
        <p:spPr>
          <a:xfrm>
            <a:off x="8110728" y="4489704"/>
            <a:ext cx="3532327" cy="777240"/>
          </a:xfrm>
          <a:prstGeom prst="rect">
            <a:avLst/>
          </a:prstGeom>
          <a:noFill/>
          <a:ln/>
        </p:spPr>
        <p:txBody>
          <a:bodyPr wrap="square" lIns="0" tIns="0" rIns="0" bIns="0" rtlCol="0" anchor="t"/>
          <a:lstStyle/>
          <a:p>
            <a:pPr indent="0" marL="0">
              <a:spcAft>
                <a:spcPts val="200"/>
              </a:spcAft>
              <a:buNone/>
            </a:pPr>
            <a:r>
              <a:rPr lang="en-US" sz="1800" b="1" dirty="0">
                <a:solidFill>
                  <a:schemeClr val="tx2"/>
                </a:solidFill>
              </a:rPr>
              <a:t>Tarih kanıttan gelir</a:t>
            </a:r>
            <a:endParaRPr lang="en-US" sz="1800" dirty="0"/>
          </a:p>
          <a:p>
            <a:pPr indent="0" marL="0">
              <a:spcAft>
                <a:spcPts val="200"/>
              </a:spcAft>
              <a:buNone/>
            </a:pPr>
            <a:r>
              <a:rPr lang="en-US" sz="1500" dirty="0">
                <a:solidFill>
                  <a:schemeClr val="tx1"/>
                </a:solidFill>
              </a:rPr>
              <a:t>Örn. reponun ilk ve son commit'i</a:t>
            </a:r>
            <a:endParaRPr lang="en-US" sz="18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17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1" type="body" hasCustomPrompt="1"/>
          </p:nvPr>
        </p:nvSpPr>
        <p:spPr>
          <a:xfrm>
            <a:off x="548640" y="320040"/>
            <a:ext cx="8778240" cy="320040"/>
          </a:xfrm>
          <a:prstGeom prst="rect">
            <a:avLst/>
          </a:prstGeom>
          <a:noFill/>
          <a:ln/>
        </p:spPr>
        <p:txBody>
          <a:bodyPr wrap="square" lIns="0" tIns="0" rIns="0" bIns="0" rtlCol="0" anchor="ctr"/>
          <a:lstStyle/>
          <a:p>
            <a:pPr indent="0" marL="0">
              <a:buNone/>
            </a:pPr>
            <a:r>
              <a:rPr lang="en-US" sz="1300" b="1" spc="200" kern="0" dirty="0">
                <a:solidFill>
                  <a:schemeClr val="accent3"/>
                </a:solidFill>
              </a:rPr>
              <a:t>02 · CV'Yİ KOD GİBİ YÖNETMEK</a:t>
            </a:r>
            <a:endParaRPr lang="en-US" sz="1300" dirty="0"/>
          </a:p>
        </p:txBody>
      </p:sp>
      <p:sp>
        <p:nvSpPr>
          <p:cNvPr id="3" name="Text 0"/>
          <p:cNvSpPr/>
          <p:nvPr>
            <p:ph idx="102" type="title" hasCustomPrompt="1"/>
          </p:nvPr>
        </p:nvSpPr>
        <p:spPr>
          <a:xfrm>
            <a:off x="548640" y="658368"/>
            <a:ext cx="9052560" cy="731520"/>
          </a:xfrm>
          <a:prstGeom prst="rect">
            <a:avLst/>
          </a:prstGeom>
          <a:noFill/>
          <a:ln/>
        </p:spPr>
        <p:txBody>
          <a:bodyPr wrap="square" lIns="0" tIns="0" rIns="0" bIns="0" rtlCol="0" anchor="t"/>
          <a:lstStyle/>
          <a:p>
            <a:pPr algn="l" indent="0" marL="0">
              <a:buNone/>
            </a:pPr>
            <a:r>
              <a:rPr lang="en-US" sz="3400" b="1" dirty="0">
                <a:solidFill>
                  <a:schemeClr val="tx2"/>
                </a:solidFill>
              </a:rPr>
              <a:t>Eylemcilere Kurallar Verilmeli</a:t>
            </a:r>
            <a:endParaRPr lang="en-US" sz="3400" dirty="0"/>
          </a:p>
        </p:txBody>
      </p:sp>
      <p:sp>
        <p:nvSpPr>
          <p:cNvPr id="5" name="kart"/>
          <p:cNvSpPr/>
          <p:nvPr/>
        </p:nvSpPr>
        <p:spPr>
          <a:xfrm>
            <a:off x="548640" y="1691640"/>
            <a:ext cx="3515258" cy="1737360"/>
          </a:xfrm>
          <a:prstGeom prst="roundRect">
            <a:avLst>
              <a:gd name="adj" fmla="val 4211"/>
            </a:avLst>
          </a:prstGeom>
          <a:solidFill>
            <a:schemeClr val="bg2"/>
          </a:solidFill>
          <a:ln/>
        </p:spPr>
      </p:sp>
      <p:sp>
        <p:nvSpPr>
          <p:cNvPr id="6" name="ikon-daire"/>
          <p:cNvSpPr/>
          <p:nvPr/>
        </p:nvSpPr>
        <p:spPr>
          <a:xfrm>
            <a:off x="822960" y="1920240"/>
            <a:ext cx="502920" cy="502920"/>
          </a:xfrm>
          <a:prstGeom prst="ellipse">
            <a:avLst/>
          </a:prstGeom>
          <a:solidFill>
            <a:schemeClr val="accent1"/>
          </a:solidFill>
          <a:ln/>
        </p:spPr>
      </p:sp>
      <p:pic>
        <p:nvPicPr>
          <p:cNvPr id="7" name="ikon" descr="preencoded.png">    </p:cNvPr>
          <p:cNvPicPr>
            <a:picLocks noChangeAspect="1"/>
          </p:cNvPicPr>
          <p:nvPr/>
        </p:nvPicPr>
        <p:blipFill>
          <a:blip r:embed="rId1"/>
          <a:stretch>
            <a:fillRect/>
          </a:stretch>
        </p:blipFill>
        <p:spPr>
          <a:xfrm>
            <a:off x="948690" y="2045970"/>
            <a:ext cx="251460" cy="251460"/>
          </a:xfrm>
          <a:prstGeom prst="rect">
            <a:avLst/>
          </a:prstGeom>
        </p:spPr>
      </p:pic>
      <p:sp>
        <p:nvSpPr>
          <p:cNvPr id="8" name="Text 4"/>
          <p:cNvSpPr txBox="1"/>
          <p:nvPr/>
        </p:nvSpPr>
        <p:spPr>
          <a:xfrm>
            <a:off x="822960" y="2532888"/>
            <a:ext cx="2966618" cy="822960"/>
          </a:xfrm>
          <a:prstGeom prst="rect">
            <a:avLst/>
          </a:prstGeom>
          <a:noFill/>
          <a:ln/>
        </p:spPr>
        <p:txBody>
          <a:bodyPr wrap="square" lIns="0" tIns="0" rIns="0" bIns="0" rtlCol="0" anchor="t"/>
          <a:lstStyle/>
          <a:p>
            <a:pPr indent="0" marL="0">
              <a:spcAft>
                <a:spcPts val="400"/>
              </a:spcAft>
              <a:buNone/>
            </a:pPr>
            <a:r>
              <a:rPr lang="en-US" sz="1800" b="1" dirty="0">
                <a:solidFill>
                  <a:schemeClr val="tx2"/>
                </a:solidFill>
              </a:rPr>
              <a:t>Diller eşzamanlı</a:t>
            </a:r>
            <a:endParaRPr lang="en-US" sz="1800" dirty="0"/>
          </a:p>
          <a:p>
            <a:pPr indent="0" marL="0">
              <a:spcAft>
                <a:spcPts val="400"/>
              </a:spcAft>
              <a:buNone/>
            </a:pPr>
            <a:r>
              <a:rPr lang="en-US" sz="1400" dirty="0">
                <a:solidFill>
                  <a:schemeClr val="tx1"/>
                </a:solidFill>
              </a:rPr>
              <a:t>Her değişiklik tüm dillere anlamca eşit yansır</a:t>
            </a:r>
            <a:endParaRPr lang="en-US" sz="1800" dirty="0"/>
          </a:p>
        </p:txBody>
      </p:sp>
      <p:sp>
        <p:nvSpPr>
          <p:cNvPr id="9" name="kart"/>
          <p:cNvSpPr/>
          <p:nvPr/>
        </p:nvSpPr>
        <p:spPr>
          <a:xfrm>
            <a:off x="4338218" y="1691640"/>
            <a:ext cx="3515258" cy="1737360"/>
          </a:xfrm>
          <a:prstGeom prst="roundRect">
            <a:avLst>
              <a:gd name="adj" fmla="val 4211"/>
            </a:avLst>
          </a:prstGeom>
          <a:solidFill>
            <a:schemeClr val="bg2"/>
          </a:solidFill>
          <a:ln/>
        </p:spPr>
      </p:sp>
      <p:sp>
        <p:nvSpPr>
          <p:cNvPr id="10" name="ikon-daire"/>
          <p:cNvSpPr/>
          <p:nvPr/>
        </p:nvSpPr>
        <p:spPr>
          <a:xfrm>
            <a:off x="4612538" y="1920240"/>
            <a:ext cx="502920" cy="502920"/>
          </a:xfrm>
          <a:prstGeom prst="ellipse">
            <a:avLst/>
          </a:prstGeom>
          <a:solidFill>
            <a:schemeClr val="accent1"/>
          </a:solidFill>
          <a:ln/>
        </p:spPr>
      </p:sp>
      <p:pic>
        <p:nvPicPr>
          <p:cNvPr id="11" name="ikon" descr="preencoded.png">    </p:cNvPr>
          <p:cNvPicPr>
            <a:picLocks noChangeAspect="1"/>
          </p:cNvPicPr>
          <p:nvPr/>
        </p:nvPicPr>
        <p:blipFill>
          <a:blip r:embed="rId2"/>
          <a:stretch>
            <a:fillRect/>
          </a:stretch>
        </p:blipFill>
        <p:spPr>
          <a:xfrm>
            <a:off x="4738268" y="2045970"/>
            <a:ext cx="251460" cy="251460"/>
          </a:xfrm>
          <a:prstGeom prst="rect">
            <a:avLst/>
          </a:prstGeom>
        </p:spPr>
      </p:pic>
      <p:sp>
        <p:nvSpPr>
          <p:cNvPr id="12" name="Text 7"/>
          <p:cNvSpPr txBox="1"/>
          <p:nvPr/>
        </p:nvSpPr>
        <p:spPr>
          <a:xfrm>
            <a:off x="4612538" y="2532888"/>
            <a:ext cx="2966618" cy="822960"/>
          </a:xfrm>
          <a:prstGeom prst="rect">
            <a:avLst/>
          </a:prstGeom>
          <a:noFill/>
          <a:ln/>
        </p:spPr>
        <p:txBody>
          <a:bodyPr wrap="square" lIns="0" tIns="0" rIns="0" bIns="0" rtlCol="0" anchor="t"/>
          <a:lstStyle/>
          <a:p>
            <a:pPr indent="0" marL="0">
              <a:spcAft>
                <a:spcPts val="400"/>
              </a:spcAft>
              <a:buNone/>
            </a:pPr>
            <a:r>
              <a:rPr lang="en-US" sz="1800" b="1" dirty="0">
                <a:solidFill>
                  <a:schemeClr val="tx2"/>
                </a:solidFill>
              </a:rPr>
              <a:t>Sıfır uydurma</a:t>
            </a:r>
            <a:endParaRPr lang="en-US" sz="1800" dirty="0"/>
          </a:p>
          <a:p>
            <a:pPr indent="0" marL="0">
              <a:spcAft>
                <a:spcPts val="400"/>
              </a:spcAft>
              <a:buNone/>
            </a:pPr>
            <a:r>
              <a:rPr lang="en-US" sz="1400" dirty="0">
                <a:solidFill>
                  <a:schemeClr val="tx1"/>
                </a:solidFill>
              </a:rPr>
              <a:t>Gerçek olmayan bilgi yazılmaz; ilan canlı doğrulanır</a:t>
            </a:r>
            <a:endParaRPr lang="en-US" sz="1800" dirty="0"/>
          </a:p>
        </p:txBody>
      </p:sp>
      <p:sp>
        <p:nvSpPr>
          <p:cNvPr id="13" name="kart"/>
          <p:cNvSpPr/>
          <p:nvPr/>
        </p:nvSpPr>
        <p:spPr>
          <a:xfrm>
            <a:off x="8127797" y="1691640"/>
            <a:ext cx="3515258" cy="1737360"/>
          </a:xfrm>
          <a:prstGeom prst="roundRect">
            <a:avLst>
              <a:gd name="adj" fmla="val 4211"/>
            </a:avLst>
          </a:prstGeom>
          <a:solidFill>
            <a:schemeClr val="bg2"/>
          </a:solidFill>
          <a:ln/>
        </p:spPr>
      </p:sp>
      <p:sp>
        <p:nvSpPr>
          <p:cNvPr id="14" name="ikon-daire"/>
          <p:cNvSpPr/>
          <p:nvPr/>
        </p:nvSpPr>
        <p:spPr>
          <a:xfrm>
            <a:off x="8402117" y="1920240"/>
            <a:ext cx="502920" cy="502920"/>
          </a:xfrm>
          <a:prstGeom prst="ellipse">
            <a:avLst/>
          </a:prstGeom>
          <a:solidFill>
            <a:schemeClr val="accent1"/>
          </a:solidFill>
          <a:ln/>
        </p:spPr>
      </p:sp>
      <p:pic>
        <p:nvPicPr>
          <p:cNvPr id="15" name="ikon" descr="preencoded.png">    </p:cNvPr>
          <p:cNvPicPr>
            <a:picLocks noChangeAspect="1"/>
          </p:cNvPicPr>
          <p:nvPr/>
        </p:nvPicPr>
        <p:blipFill>
          <a:blip r:embed="rId3"/>
          <a:stretch>
            <a:fillRect/>
          </a:stretch>
        </p:blipFill>
        <p:spPr>
          <a:xfrm>
            <a:off x="8527847" y="2045970"/>
            <a:ext cx="251460" cy="251460"/>
          </a:xfrm>
          <a:prstGeom prst="rect">
            <a:avLst/>
          </a:prstGeom>
        </p:spPr>
      </p:pic>
      <p:sp>
        <p:nvSpPr>
          <p:cNvPr id="16" name="Text 10"/>
          <p:cNvSpPr txBox="1"/>
          <p:nvPr/>
        </p:nvSpPr>
        <p:spPr>
          <a:xfrm>
            <a:off x="8402117" y="2532888"/>
            <a:ext cx="2966618" cy="822960"/>
          </a:xfrm>
          <a:prstGeom prst="rect">
            <a:avLst/>
          </a:prstGeom>
          <a:noFill/>
          <a:ln/>
        </p:spPr>
        <p:txBody>
          <a:bodyPr wrap="square" lIns="0" tIns="0" rIns="0" bIns="0" rtlCol="0" anchor="t"/>
          <a:lstStyle/>
          <a:p>
            <a:pPr indent="0" marL="0">
              <a:spcAft>
                <a:spcPts val="400"/>
              </a:spcAft>
              <a:buNone/>
            </a:pPr>
            <a:r>
              <a:rPr lang="en-US" sz="1800" b="1" dirty="0">
                <a:solidFill>
                  <a:schemeClr val="tx2"/>
                </a:solidFill>
              </a:rPr>
              <a:t>Onaysız değişiklik yok</a:t>
            </a:r>
            <a:endParaRPr lang="en-US" sz="1800" dirty="0"/>
          </a:p>
          <a:p>
            <a:pPr indent="0" marL="0">
              <a:spcAft>
                <a:spcPts val="400"/>
              </a:spcAft>
              <a:buNone/>
            </a:pPr>
            <a:r>
              <a:rPr lang="en-US" sz="1400" dirty="0">
                <a:solidFill>
                  <a:schemeClr val="tx1"/>
                </a:solidFill>
              </a:rPr>
              <a:t>Eylemci farkı gösterir, insan onaylar</a:t>
            </a:r>
            <a:endParaRPr lang="en-US" sz="1800" dirty="0"/>
          </a:p>
        </p:txBody>
      </p:sp>
      <p:sp>
        <p:nvSpPr>
          <p:cNvPr id="17" name="kart"/>
          <p:cNvSpPr/>
          <p:nvPr/>
        </p:nvSpPr>
        <p:spPr>
          <a:xfrm>
            <a:off x="548640" y="3611880"/>
            <a:ext cx="3515258" cy="1737360"/>
          </a:xfrm>
          <a:prstGeom prst="roundRect">
            <a:avLst>
              <a:gd name="adj" fmla="val 4211"/>
            </a:avLst>
          </a:prstGeom>
          <a:solidFill>
            <a:schemeClr val="bg2"/>
          </a:solidFill>
          <a:ln/>
        </p:spPr>
      </p:sp>
      <p:sp>
        <p:nvSpPr>
          <p:cNvPr id="18" name="ikon-daire"/>
          <p:cNvSpPr/>
          <p:nvPr/>
        </p:nvSpPr>
        <p:spPr>
          <a:xfrm>
            <a:off x="822960" y="3840480"/>
            <a:ext cx="502920" cy="502920"/>
          </a:xfrm>
          <a:prstGeom prst="ellipse">
            <a:avLst/>
          </a:prstGeom>
          <a:solidFill>
            <a:schemeClr val="accent1"/>
          </a:solidFill>
          <a:ln/>
        </p:spPr>
      </p:sp>
      <p:pic>
        <p:nvPicPr>
          <p:cNvPr id="19" name="ikon" descr="preencoded.png">    </p:cNvPr>
          <p:cNvPicPr>
            <a:picLocks noChangeAspect="1"/>
          </p:cNvPicPr>
          <p:nvPr/>
        </p:nvPicPr>
        <p:blipFill>
          <a:blip r:embed="rId4"/>
          <a:stretch>
            <a:fillRect/>
          </a:stretch>
        </p:blipFill>
        <p:spPr>
          <a:xfrm>
            <a:off x="948690" y="3966210"/>
            <a:ext cx="251460" cy="251460"/>
          </a:xfrm>
          <a:prstGeom prst="rect">
            <a:avLst/>
          </a:prstGeom>
        </p:spPr>
      </p:pic>
      <p:sp>
        <p:nvSpPr>
          <p:cNvPr id="20" name="Text 13"/>
          <p:cNvSpPr txBox="1"/>
          <p:nvPr/>
        </p:nvSpPr>
        <p:spPr>
          <a:xfrm>
            <a:off x="822960" y="4453128"/>
            <a:ext cx="2966618" cy="822960"/>
          </a:xfrm>
          <a:prstGeom prst="rect">
            <a:avLst/>
          </a:prstGeom>
          <a:noFill/>
          <a:ln/>
        </p:spPr>
        <p:txBody>
          <a:bodyPr wrap="square" lIns="0" tIns="0" rIns="0" bIns="0" rtlCol="0" anchor="t"/>
          <a:lstStyle/>
          <a:p>
            <a:pPr indent="0" marL="0">
              <a:spcAft>
                <a:spcPts val="400"/>
              </a:spcAft>
              <a:buNone/>
            </a:pPr>
            <a:r>
              <a:rPr lang="en-US" sz="1800" b="1" dirty="0">
                <a:solidFill>
                  <a:schemeClr val="tx2"/>
                </a:solidFill>
              </a:rPr>
              <a:t>Başvuru anı korunur</a:t>
            </a:r>
            <a:endParaRPr lang="en-US" sz="1800" dirty="0"/>
          </a:p>
          <a:p>
            <a:pPr indent="0" marL="0">
              <a:spcAft>
                <a:spcPts val="400"/>
              </a:spcAft>
              <a:buNone/>
            </a:pPr>
            <a:r>
              <a:rPr lang="en-US" sz="1400" dirty="0">
                <a:solidFill>
                  <a:schemeClr val="tx1"/>
                </a:solidFill>
              </a:rPr>
              <a:t>Gönderilen CV sonradan değiştirilmez</a:t>
            </a:r>
            <a:endParaRPr lang="en-US" sz="1800" dirty="0"/>
          </a:p>
        </p:txBody>
      </p:sp>
      <p:sp>
        <p:nvSpPr>
          <p:cNvPr id="21" name="kart"/>
          <p:cNvSpPr/>
          <p:nvPr/>
        </p:nvSpPr>
        <p:spPr>
          <a:xfrm>
            <a:off x="4338218" y="3611880"/>
            <a:ext cx="3515258" cy="1737360"/>
          </a:xfrm>
          <a:prstGeom prst="roundRect">
            <a:avLst>
              <a:gd name="adj" fmla="val 4211"/>
            </a:avLst>
          </a:prstGeom>
          <a:solidFill>
            <a:schemeClr val="bg2"/>
          </a:solidFill>
          <a:ln/>
        </p:spPr>
      </p:sp>
      <p:sp>
        <p:nvSpPr>
          <p:cNvPr id="22" name="ikon-daire"/>
          <p:cNvSpPr/>
          <p:nvPr/>
        </p:nvSpPr>
        <p:spPr>
          <a:xfrm>
            <a:off x="4612538" y="3840480"/>
            <a:ext cx="502920" cy="502920"/>
          </a:xfrm>
          <a:prstGeom prst="ellipse">
            <a:avLst/>
          </a:prstGeom>
          <a:solidFill>
            <a:schemeClr val="accent1"/>
          </a:solidFill>
          <a:ln/>
        </p:spPr>
      </p:sp>
      <p:pic>
        <p:nvPicPr>
          <p:cNvPr id="23" name="ikon" descr="preencoded.png">    </p:cNvPr>
          <p:cNvPicPr>
            <a:picLocks noChangeAspect="1"/>
          </p:cNvPicPr>
          <p:nvPr/>
        </p:nvPicPr>
        <p:blipFill>
          <a:blip r:embed="rId5"/>
          <a:stretch>
            <a:fillRect/>
          </a:stretch>
        </p:blipFill>
        <p:spPr>
          <a:xfrm>
            <a:off x="4738268" y="3966210"/>
            <a:ext cx="251460" cy="251460"/>
          </a:xfrm>
          <a:prstGeom prst="rect">
            <a:avLst/>
          </a:prstGeom>
        </p:spPr>
      </p:pic>
      <p:sp>
        <p:nvSpPr>
          <p:cNvPr id="24" name="Text 16"/>
          <p:cNvSpPr txBox="1"/>
          <p:nvPr/>
        </p:nvSpPr>
        <p:spPr>
          <a:xfrm>
            <a:off x="4612538" y="4453128"/>
            <a:ext cx="2966618" cy="822960"/>
          </a:xfrm>
          <a:prstGeom prst="rect">
            <a:avLst/>
          </a:prstGeom>
          <a:noFill/>
          <a:ln/>
        </p:spPr>
        <p:txBody>
          <a:bodyPr wrap="square" lIns="0" tIns="0" rIns="0" bIns="0" rtlCol="0" anchor="t"/>
          <a:lstStyle/>
          <a:p>
            <a:pPr indent="0" marL="0">
              <a:spcAft>
                <a:spcPts val="400"/>
              </a:spcAft>
              <a:buNone/>
            </a:pPr>
            <a:r>
              <a:rPr lang="en-US" sz="1800" b="1" dirty="0">
                <a:solidFill>
                  <a:schemeClr val="tx2"/>
                </a:solidFill>
              </a:rPr>
              <a:t>Kalite kapısı</a:t>
            </a:r>
            <a:endParaRPr lang="en-US" sz="1800" dirty="0"/>
          </a:p>
          <a:p>
            <a:pPr indent="0" marL="0">
              <a:spcAft>
                <a:spcPts val="400"/>
              </a:spcAft>
              <a:buNone/>
            </a:pPr>
            <a:r>
              <a:rPr lang="en-US" sz="1400" dirty="0">
                <a:solidFill>
                  <a:schemeClr val="tx1"/>
                </a:solidFill>
              </a:rPr>
              <a:t>Taşma kontrolü, sayfa sayfa görsel kontrol, ATS metin çıkarımı</a:t>
            </a:r>
            <a:endParaRPr lang="en-US" sz="1800" dirty="0"/>
          </a:p>
        </p:txBody>
      </p:sp>
      <p:sp>
        <p:nvSpPr>
          <p:cNvPr id="25" name="kart"/>
          <p:cNvSpPr/>
          <p:nvPr/>
        </p:nvSpPr>
        <p:spPr>
          <a:xfrm>
            <a:off x="8127797" y="3611880"/>
            <a:ext cx="3515258" cy="1737360"/>
          </a:xfrm>
          <a:prstGeom prst="roundRect">
            <a:avLst>
              <a:gd name="adj" fmla="val 4211"/>
            </a:avLst>
          </a:prstGeom>
          <a:solidFill>
            <a:schemeClr val="accent1"/>
          </a:solidFill>
          <a:ln/>
        </p:spPr>
      </p:sp>
      <p:sp>
        <p:nvSpPr>
          <p:cNvPr id="26" name="ikon-daire"/>
          <p:cNvSpPr/>
          <p:nvPr/>
        </p:nvSpPr>
        <p:spPr>
          <a:xfrm>
            <a:off x="8402117" y="3840480"/>
            <a:ext cx="502920" cy="502920"/>
          </a:xfrm>
          <a:prstGeom prst="ellipse">
            <a:avLst/>
          </a:prstGeom>
          <a:solidFill>
            <a:schemeClr val="accent2"/>
          </a:solidFill>
          <a:ln/>
        </p:spPr>
      </p:sp>
      <p:pic>
        <p:nvPicPr>
          <p:cNvPr id="27" name="ikon" descr="preencoded.png">    </p:cNvPr>
          <p:cNvPicPr>
            <a:picLocks noChangeAspect="1"/>
          </p:cNvPicPr>
          <p:nvPr/>
        </p:nvPicPr>
        <p:blipFill>
          <a:blip r:embed="rId6"/>
          <a:stretch>
            <a:fillRect/>
          </a:stretch>
        </p:blipFill>
        <p:spPr>
          <a:xfrm>
            <a:off x="8527847" y="3966210"/>
            <a:ext cx="251460" cy="251460"/>
          </a:xfrm>
          <a:prstGeom prst="rect">
            <a:avLst/>
          </a:prstGeom>
        </p:spPr>
      </p:pic>
      <p:sp>
        <p:nvSpPr>
          <p:cNvPr id="28" name="Text 19"/>
          <p:cNvSpPr txBox="1"/>
          <p:nvPr/>
        </p:nvSpPr>
        <p:spPr>
          <a:xfrm>
            <a:off x="8402117" y="4453128"/>
            <a:ext cx="2966618" cy="822960"/>
          </a:xfrm>
          <a:prstGeom prst="rect">
            <a:avLst/>
          </a:prstGeom>
          <a:noFill/>
          <a:ln/>
        </p:spPr>
        <p:txBody>
          <a:bodyPr wrap="square" lIns="0" tIns="0" rIns="0" bIns="0" rtlCol="0" anchor="t"/>
          <a:lstStyle/>
          <a:p>
            <a:pPr indent="0" marL="0">
              <a:spcAft>
                <a:spcPts val="400"/>
              </a:spcAft>
              <a:buNone/>
            </a:pPr>
            <a:r>
              <a:rPr lang="en-US" sz="1800" b="1" dirty="0">
                <a:solidFill>
                  <a:schemeClr val="bg1"/>
                </a:solidFill>
              </a:rPr>
              <a:t>Kurallar dosyada</a:t>
            </a:r>
            <a:endParaRPr lang="en-US" sz="1800" dirty="0"/>
          </a:p>
          <a:p>
            <a:pPr indent="0" marL="0">
              <a:spcAft>
                <a:spcPts val="400"/>
              </a:spcAft>
              <a:buNone/>
            </a:pPr>
            <a:r>
              <a:rPr lang="en-US" sz="1400" dirty="0">
                <a:solidFill>
                  <a:schemeClr val="bg2"/>
                </a:solidFill>
              </a:rPr>
              <a:t>Düz metin; hangi eylemci olursa olsun aynı dosyayı okur</a:t>
            </a:r>
            <a:endParaRPr lang="en-US" sz="1800" dirty="0"/>
          </a:p>
        </p:txBody>
      </p:sp>
      <p:sp>
        <p:nvSpPr>
          <p:cNvPr id="29" name="ornek-uygulama"/>
          <p:cNvSpPr/>
          <p:nvPr/>
        </p:nvSpPr>
        <p:spPr>
          <a:xfrm>
            <a:off x="548640" y="5532120"/>
            <a:ext cx="11094415" cy="548640"/>
          </a:xfrm>
          <a:prstGeom prst="roundRect">
            <a:avLst>
              <a:gd name="adj" fmla="val 13333"/>
            </a:avLst>
          </a:prstGeom>
          <a:solidFill>
            <a:schemeClr val="accent2">
              <a:alpha val="18000"/>
            </a:schemeClr>
          </a:solidFill>
          <a:ln/>
        </p:spPr>
      </p:sp>
      <p:sp>
        <p:nvSpPr>
          <p:cNvPr id="30" name="Text 21"/>
          <p:cNvSpPr txBox="1"/>
          <p:nvPr/>
        </p:nvSpPr>
        <p:spPr>
          <a:xfrm>
            <a:off x="868680" y="5532120"/>
            <a:ext cx="10454335" cy="548640"/>
          </a:xfrm>
          <a:prstGeom prst="rect">
            <a:avLst/>
          </a:prstGeom>
          <a:noFill/>
          <a:ln/>
        </p:spPr>
        <p:txBody>
          <a:bodyPr wrap="square" lIns="0" tIns="0" rIns="0" bIns="0" rtlCol="0" anchor="ctr"/>
          <a:lstStyle/>
          <a:p>
            <a:pPr indent="0" marL="0">
              <a:buNone/>
            </a:pPr>
            <a:r>
              <a:rPr lang="en-US" sz="1200" b="1" spc="200" kern="0" dirty="0">
                <a:solidFill>
                  <a:schemeClr val="accent3"/>
                </a:solidFill>
              </a:rPr>
              <a:t>ÖRNEK UYGULAMA   </a:t>
            </a:r>
            <a:pPr indent="0" marL="0">
              <a:buNone/>
            </a:pPr>
            <a:r>
              <a:rPr lang="en-US" sz="1500" dirty="0">
                <a:solidFill>
                  <a:schemeClr val="tx2"/>
                </a:solidFill>
              </a:rPr>
              <a:t>AGENTS.md ve RULES.md dosyaları; Claude Code, Codex ve Gemini aynı dosyayı okur</a:t>
            </a:r>
            <a:endParaRPr lang="en-US" sz="12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17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1" type="body" hasCustomPrompt="1"/>
          </p:nvPr>
        </p:nvSpPr>
        <p:spPr>
          <a:xfrm>
            <a:off x="548640" y="320040"/>
            <a:ext cx="8778240" cy="320040"/>
          </a:xfrm>
          <a:prstGeom prst="rect">
            <a:avLst/>
          </a:prstGeom>
          <a:noFill/>
          <a:ln/>
        </p:spPr>
        <p:txBody>
          <a:bodyPr wrap="square" lIns="0" tIns="0" rIns="0" bIns="0" rtlCol="0" anchor="ctr"/>
          <a:lstStyle/>
          <a:p>
            <a:pPr indent="0" marL="0">
              <a:buNone/>
            </a:pPr>
            <a:r>
              <a:rPr lang="en-US" sz="1300" b="1" spc="200" kern="0" dirty="0">
                <a:solidFill>
                  <a:schemeClr val="accent3"/>
                </a:solidFill>
              </a:rPr>
              <a:t>02 · CV'Yİ KOD GİBİ YÖNETMEK</a:t>
            </a:r>
            <a:endParaRPr lang="en-US" sz="1300" dirty="0"/>
          </a:p>
        </p:txBody>
      </p:sp>
      <p:sp>
        <p:nvSpPr>
          <p:cNvPr id="3" name="Text 0"/>
          <p:cNvSpPr/>
          <p:nvPr>
            <p:ph idx="102" type="title" hasCustomPrompt="1"/>
          </p:nvPr>
        </p:nvSpPr>
        <p:spPr>
          <a:xfrm>
            <a:off x="548640" y="658368"/>
            <a:ext cx="9052560" cy="731520"/>
          </a:xfrm>
          <a:prstGeom prst="rect">
            <a:avLst/>
          </a:prstGeom>
          <a:noFill/>
          <a:ln/>
        </p:spPr>
        <p:txBody>
          <a:bodyPr wrap="square" lIns="0" tIns="0" rIns="0" bIns="0" rtlCol="0" anchor="t"/>
          <a:lstStyle/>
          <a:p>
            <a:pPr algn="l" indent="0" marL="0">
              <a:buNone/>
            </a:pPr>
            <a:r>
              <a:rPr lang="en-US" sz="3400" b="1" dirty="0">
                <a:solidFill>
                  <a:schemeClr val="tx2"/>
                </a:solidFill>
              </a:rPr>
              <a:t>İş Akışları: Tek Cümleyle Tetiklenir</a:t>
            </a:r>
            <a:endParaRPr lang="en-US" sz="3400" dirty="0"/>
          </a:p>
        </p:txBody>
      </p:sp>
      <p:sp>
        <p:nvSpPr>
          <p:cNvPr id="5" name="Text 2"/>
          <p:cNvSpPr txBox="1"/>
          <p:nvPr/>
        </p:nvSpPr>
        <p:spPr>
          <a:xfrm>
            <a:off x="548640" y="1600200"/>
            <a:ext cx="5486400" cy="274320"/>
          </a:xfrm>
          <a:prstGeom prst="rect">
            <a:avLst/>
          </a:prstGeom>
          <a:noFill/>
          <a:ln/>
        </p:spPr>
        <p:txBody>
          <a:bodyPr wrap="square" lIns="0" tIns="0" rIns="0" bIns="0" rtlCol="0" anchor="ctr"/>
          <a:lstStyle/>
          <a:p>
            <a:pPr indent="0" marL="0">
              <a:buNone/>
            </a:pPr>
            <a:r>
              <a:rPr lang="en-US" sz="1200" b="1" spc="200" kern="0" dirty="0">
                <a:solidFill>
                  <a:schemeClr val="accent3"/>
                </a:solidFill>
              </a:rPr>
              <a:t>İŞ AKIŞI</a:t>
            </a:r>
            <a:endParaRPr lang="en-US" sz="1200" dirty="0"/>
          </a:p>
        </p:txBody>
      </p:sp>
      <p:sp>
        <p:nvSpPr>
          <p:cNvPr id="6" name="Text 3"/>
          <p:cNvSpPr txBox="1"/>
          <p:nvPr/>
        </p:nvSpPr>
        <p:spPr>
          <a:xfrm>
            <a:off x="7726680" y="1600200"/>
            <a:ext cx="3916375" cy="274320"/>
          </a:xfrm>
          <a:prstGeom prst="rect">
            <a:avLst/>
          </a:prstGeom>
          <a:noFill/>
          <a:ln/>
        </p:spPr>
        <p:txBody>
          <a:bodyPr wrap="square" lIns="0" tIns="0" rIns="0" bIns="0" rtlCol="0" anchor="ctr"/>
          <a:lstStyle/>
          <a:p>
            <a:pPr indent="0" marL="0">
              <a:buNone/>
            </a:pPr>
            <a:r>
              <a:rPr lang="en-US" sz="1200" b="1" spc="200" kern="0" dirty="0">
                <a:solidFill>
                  <a:schemeClr val="accent3"/>
                </a:solidFill>
              </a:rPr>
              <a:t>ÖRNEK KOMUT · KENDİ DEPOM</a:t>
            </a:r>
            <a:endParaRPr lang="en-US" sz="1200" dirty="0"/>
          </a:p>
        </p:txBody>
      </p:sp>
      <p:sp>
        <p:nvSpPr>
          <p:cNvPr id="7" name="Text 4"/>
          <p:cNvSpPr txBox="1"/>
          <p:nvPr/>
        </p:nvSpPr>
        <p:spPr>
          <a:xfrm>
            <a:off x="548640" y="1965960"/>
            <a:ext cx="6675120" cy="713232"/>
          </a:xfrm>
          <a:prstGeom prst="rect">
            <a:avLst/>
          </a:prstGeom>
          <a:noFill/>
          <a:ln/>
        </p:spPr>
        <p:txBody>
          <a:bodyPr wrap="square" lIns="0" tIns="0" rIns="0" bIns="0" rtlCol="0" anchor="ctr"/>
          <a:lstStyle/>
          <a:p>
            <a:pPr indent="0" marL="0">
              <a:buNone/>
            </a:pPr>
            <a:r>
              <a:rPr lang="en-US" sz="1700" b="1" dirty="0">
                <a:solidFill>
                  <a:schemeClr val="tx2"/>
                </a:solidFill>
              </a:rPr>
              <a:t>Hesap verisini güncelle</a:t>
            </a:r>
            <a:endParaRPr lang="en-US" sz="1700" dirty="0"/>
          </a:p>
          <a:p>
            <a:pPr indent="0" marL="0">
              <a:buNone/>
            </a:pPr>
            <a:r>
              <a:rPr lang="en-US" sz="1400" dirty="0">
                <a:solidFill>
                  <a:schemeClr val="tx1"/>
                </a:solidFill>
              </a:rPr>
              <a:t>Profil verisi çekilir, kaynakla kıyaslanır; her fark tek tek onaylanır</a:t>
            </a:r>
            <a:endParaRPr lang="en-US" sz="1700" dirty="0"/>
          </a:p>
        </p:txBody>
      </p:sp>
      <p:pic>
        <p:nvPicPr>
          <p:cNvPr id="8" name="Image 0" descr="preencoded.png">    </p:cNvPr>
          <p:cNvPicPr>
            <a:picLocks noChangeAspect="1"/>
          </p:cNvPicPr>
          <p:nvPr/>
        </p:nvPicPr>
        <p:blipFill>
          <a:blip r:embed="rId1"/>
          <a:stretch>
            <a:fillRect/>
          </a:stretch>
        </p:blipFill>
        <p:spPr>
          <a:xfrm>
            <a:off x="7333488" y="2203704"/>
            <a:ext cx="237744" cy="237744"/>
          </a:xfrm>
          <a:prstGeom prst="rect">
            <a:avLst/>
          </a:prstGeom>
        </p:spPr>
      </p:pic>
      <p:sp>
        <p:nvSpPr>
          <p:cNvPr id="9" name="komut"/>
          <p:cNvSpPr/>
          <p:nvPr/>
        </p:nvSpPr>
        <p:spPr>
          <a:xfrm>
            <a:off x="7726680" y="1965960"/>
            <a:ext cx="3916375" cy="713232"/>
          </a:xfrm>
          <a:prstGeom prst="roundRect">
            <a:avLst>
              <a:gd name="adj" fmla="val 10256"/>
            </a:avLst>
          </a:prstGeom>
          <a:solidFill>
            <a:schemeClr val="bg2"/>
          </a:solidFill>
          <a:ln/>
        </p:spPr>
      </p:sp>
      <p:sp>
        <p:nvSpPr>
          <p:cNvPr id="10" name="Text 6"/>
          <p:cNvSpPr txBox="1"/>
          <p:nvPr/>
        </p:nvSpPr>
        <p:spPr>
          <a:xfrm>
            <a:off x="7909560" y="1965960"/>
            <a:ext cx="3642055" cy="713232"/>
          </a:xfrm>
          <a:prstGeom prst="rect">
            <a:avLst/>
          </a:prstGeom>
          <a:noFill/>
          <a:ln/>
        </p:spPr>
        <p:txBody>
          <a:bodyPr wrap="square" lIns="0" tIns="0" rIns="0" bIns="0" rtlCol="0" anchor="ctr"/>
          <a:lstStyle/>
          <a:p>
            <a:pPr indent="0" marL="0">
              <a:buNone/>
            </a:pPr>
            <a:r>
              <a:rPr lang="en-US" sz="1400" b="1" dirty="0">
                <a:solidFill>
                  <a:schemeClr val="tx2"/>
                </a:solidFill>
                <a:latin typeface="Courier New" pitchFamily="34" charset="0"/>
                <a:ea typeface="Courier New" pitchFamily="34" charset="-122"/>
                <a:cs typeface="Courier New" pitchFamily="34" charset="-120"/>
              </a:rPr>
              <a:t>hesapları senkronize et</a:t>
            </a:r>
            <a:endParaRPr lang="en-US" sz="1400" dirty="0"/>
          </a:p>
        </p:txBody>
      </p:sp>
      <p:sp>
        <p:nvSpPr>
          <p:cNvPr id="11" name="Text 7"/>
          <p:cNvSpPr txBox="1"/>
          <p:nvPr/>
        </p:nvSpPr>
        <p:spPr>
          <a:xfrm>
            <a:off x="548640" y="2788920"/>
            <a:ext cx="6675120" cy="713232"/>
          </a:xfrm>
          <a:prstGeom prst="rect">
            <a:avLst/>
          </a:prstGeom>
          <a:noFill/>
          <a:ln/>
        </p:spPr>
        <p:txBody>
          <a:bodyPr wrap="square" lIns="0" tIns="0" rIns="0" bIns="0" rtlCol="0" anchor="ctr"/>
          <a:lstStyle/>
          <a:p>
            <a:pPr indent="0" marL="0">
              <a:buNone/>
            </a:pPr>
            <a:r>
              <a:rPr lang="en-US" sz="1700" b="1" dirty="0">
                <a:solidFill>
                  <a:schemeClr val="tx2"/>
                </a:solidFill>
              </a:rPr>
              <a:t>CV'leri kaynakla eşitle</a:t>
            </a:r>
            <a:endParaRPr lang="en-US" sz="1700" dirty="0"/>
          </a:p>
          <a:p>
            <a:pPr indent="0" marL="0">
              <a:buNone/>
            </a:pPr>
            <a:r>
              <a:rPr lang="en-US" sz="1400" dirty="0">
                <a:solidFill>
                  <a:schemeClr val="tx1"/>
                </a:solidFill>
              </a:rPr>
              <a:t>Kaynak dosya CV'lerle karşılaştırılır; yalnızca ilgili CV değişir</a:t>
            </a:r>
            <a:endParaRPr lang="en-US" sz="1700" dirty="0"/>
          </a:p>
        </p:txBody>
      </p:sp>
      <p:pic>
        <p:nvPicPr>
          <p:cNvPr id="12" name="Image 1" descr="preencoded.png">    </p:cNvPr>
          <p:cNvPicPr>
            <a:picLocks noChangeAspect="1"/>
          </p:cNvPicPr>
          <p:nvPr/>
        </p:nvPicPr>
        <p:blipFill>
          <a:blip r:embed="rId2"/>
          <a:stretch>
            <a:fillRect/>
          </a:stretch>
        </p:blipFill>
        <p:spPr>
          <a:xfrm>
            <a:off x="7333488" y="3026664"/>
            <a:ext cx="237744" cy="237744"/>
          </a:xfrm>
          <a:prstGeom prst="rect">
            <a:avLst/>
          </a:prstGeom>
        </p:spPr>
      </p:pic>
      <p:sp>
        <p:nvSpPr>
          <p:cNvPr id="13" name="komut"/>
          <p:cNvSpPr/>
          <p:nvPr/>
        </p:nvSpPr>
        <p:spPr>
          <a:xfrm>
            <a:off x="7726680" y="2788920"/>
            <a:ext cx="3916375" cy="713232"/>
          </a:xfrm>
          <a:prstGeom prst="roundRect">
            <a:avLst>
              <a:gd name="adj" fmla="val 10256"/>
            </a:avLst>
          </a:prstGeom>
          <a:solidFill>
            <a:schemeClr val="bg2"/>
          </a:solidFill>
          <a:ln/>
        </p:spPr>
      </p:sp>
      <p:sp>
        <p:nvSpPr>
          <p:cNvPr id="14" name="Text 9"/>
          <p:cNvSpPr txBox="1"/>
          <p:nvPr/>
        </p:nvSpPr>
        <p:spPr>
          <a:xfrm>
            <a:off x="7909560" y="2788920"/>
            <a:ext cx="3642055" cy="713232"/>
          </a:xfrm>
          <a:prstGeom prst="rect">
            <a:avLst/>
          </a:prstGeom>
          <a:noFill/>
          <a:ln/>
        </p:spPr>
        <p:txBody>
          <a:bodyPr wrap="square" lIns="0" tIns="0" rIns="0" bIns="0" rtlCol="0" anchor="ctr"/>
          <a:lstStyle/>
          <a:p>
            <a:pPr indent="0" marL="0">
              <a:buNone/>
            </a:pPr>
            <a:r>
              <a:rPr lang="en-US" sz="1400" b="1" dirty="0">
                <a:solidFill>
                  <a:schemeClr val="tx2"/>
                </a:solidFill>
                <a:latin typeface="Courier New" pitchFamily="34" charset="0"/>
                <a:ea typeface="Courier New" pitchFamily="34" charset="-122"/>
                <a:cs typeface="Courier New" pitchFamily="34" charset="-120"/>
              </a:rPr>
              <a:t>cvleri senkronize et</a:t>
            </a:r>
            <a:endParaRPr lang="en-US" sz="1400" dirty="0"/>
          </a:p>
        </p:txBody>
      </p:sp>
      <p:sp>
        <p:nvSpPr>
          <p:cNvPr id="15" name="Text 10"/>
          <p:cNvSpPr txBox="1"/>
          <p:nvPr/>
        </p:nvSpPr>
        <p:spPr>
          <a:xfrm>
            <a:off x="548640" y="3611880"/>
            <a:ext cx="6675120" cy="713232"/>
          </a:xfrm>
          <a:prstGeom prst="rect">
            <a:avLst/>
          </a:prstGeom>
          <a:noFill/>
          <a:ln/>
        </p:spPr>
        <p:txBody>
          <a:bodyPr wrap="square" lIns="0" tIns="0" rIns="0" bIns="0" rtlCol="0" anchor="ctr"/>
          <a:lstStyle/>
          <a:p>
            <a:pPr indent="0" marL="0">
              <a:buNone/>
            </a:pPr>
            <a:r>
              <a:rPr lang="en-US" sz="1700" b="1" dirty="0">
                <a:solidFill>
                  <a:schemeClr val="tx2"/>
                </a:solidFill>
              </a:rPr>
              <a:t>İlanı eşleştir</a:t>
            </a:r>
            <a:endParaRPr lang="en-US" sz="1700" dirty="0"/>
          </a:p>
          <a:p>
            <a:pPr indent="0" marL="0">
              <a:buNone/>
            </a:pPr>
            <a:r>
              <a:rPr lang="en-US" sz="1400" dirty="0">
                <a:solidFill>
                  <a:schemeClr val="tx1"/>
                </a:solidFill>
              </a:rPr>
              <a:t>İlan metni analiz edilir; en uygun CV seçilir ya da yeni CV önerilir</a:t>
            </a:r>
            <a:endParaRPr lang="en-US" sz="1700" dirty="0"/>
          </a:p>
        </p:txBody>
      </p:sp>
      <p:pic>
        <p:nvPicPr>
          <p:cNvPr id="16" name="Image 2" descr="preencoded.png">    </p:cNvPr>
          <p:cNvPicPr>
            <a:picLocks noChangeAspect="1"/>
          </p:cNvPicPr>
          <p:nvPr/>
        </p:nvPicPr>
        <p:blipFill>
          <a:blip r:embed="rId3"/>
          <a:stretch>
            <a:fillRect/>
          </a:stretch>
        </p:blipFill>
        <p:spPr>
          <a:xfrm>
            <a:off x="7333488" y="3849624"/>
            <a:ext cx="237744" cy="237744"/>
          </a:xfrm>
          <a:prstGeom prst="rect">
            <a:avLst/>
          </a:prstGeom>
        </p:spPr>
      </p:pic>
      <p:sp>
        <p:nvSpPr>
          <p:cNvPr id="17" name="komut"/>
          <p:cNvSpPr/>
          <p:nvPr/>
        </p:nvSpPr>
        <p:spPr>
          <a:xfrm>
            <a:off x="7726680" y="3611880"/>
            <a:ext cx="3916375" cy="713232"/>
          </a:xfrm>
          <a:prstGeom prst="roundRect">
            <a:avLst>
              <a:gd name="adj" fmla="val 10256"/>
            </a:avLst>
          </a:prstGeom>
          <a:solidFill>
            <a:schemeClr val="bg2"/>
          </a:solidFill>
          <a:ln/>
        </p:spPr>
      </p:sp>
      <p:sp>
        <p:nvSpPr>
          <p:cNvPr id="18" name="Text 12"/>
          <p:cNvSpPr txBox="1"/>
          <p:nvPr/>
        </p:nvSpPr>
        <p:spPr>
          <a:xfrm>
            <a:off x="7909560" y="3611880"/>
            <a:ext cx="3642055" cy="713232"/>
          </a:xfrm>
          <a:prstGeom prst="rect">
            <a:avLst/>
          </a:prstGeom>
          <a:noFill/>
          <a:ln/>
        </p:spPr>
        <p:txBody>
          <a:bodyPr wrap="square" lIns="0" tIns="0" rIns="0" bIns="0" rtlCol="0" anchor="ctr"/>
          <a:lstStyle/>
          <a:p>
            <a:pPr indent="0" marL="0">
              <a:buNone/>
            </a:pPr>
            <a:r>
              <a:rPr lang="en-US" sz="1400" b="1" dirty="0">
                <a:solidFill>
                  <a:schemeClr val="tx2"/>
                </a:solidFill>
                <a:latin typeface="Courier New" pitchFamily="34" charset="0"/>
                <a:ea typeface="Courier New" pitchFamily="34" charset="-122"/>
                <a:cs typeface="Courier New" pitchFamily="34" charset="-120"/>
              </a:rPr>
              <a:t>ilan eşleştir</a:t>
            </a:r>
            <a:endParaRPr lang="en-US" sz="1400" dirty="0"/>
          </a:p>
        </p:txBody>
      </p:sp>
      <p:sp>
        <p:nvSpPr>
          <p:cNvPr id="19" name="Text 13"/>
          <p:cNvSpPr txBox="1"/>
          <p:nvPr/>
        </p:nvSpPr>
        <p:spPr>
          <a:xfrm>
            <a:off x="548640" y="4434840"/>
            <a:ext cx="6675120" cy="713232"/>
          </a:xfrm>
          <a:prstGeom prst="rect">
            <a:avLst/>
          </a:prstGeom>
          <a:noFill/>
          <a:ln/>
        </p:spPr>
        <p:txBody>
          <a:bodyPr wrap="square" lIns="0" tIns="0" rIns="0" bIns="0" rtlCol="0" anchor="ctr"/>
          <a:lstStyle/>
          <a:p>
            <a:pPr indent="0" marL="0">
              <a:buNone/>
            </a:pPr>
            <a:r>
              <a:rPr lang="en-US" sz="1700" b="1" dirty="0">
                <a:solidFill>
                  <a:schemeClr val="tx2"/>
                </a:solidFill>
              </a:rPr>
              <a:t>İlan ara, CV hazırla</a:t>
            </a:r>
            <a:endParaRPr lang="en-US" sz="1700" dirty="0"/>
          </a:p>
          <a:p>
            <a:pPr indent="0" marL="0">
              <a:buNone/>
            </a:pPr>
            <a:r>
              <a:rPr lang="en-US" sz="1400" dirty="0">
                <a:solidFill>
                  <a:schemeClr val="tx1"/>
                </a:solidFill>
              </a:rPr>
              <a:t>İlanlar taranır; kapalı ve başvurulmuş olanlar elenir, paket hazırlanır</a:t>
            </a:r>
            <a:endParaRPr lang="en-US" sz="1700" dirty="0"/>
          </a:p>
        </p:txBody>
      </p:sp>
      <p:pic>
        <p:nvPicPr>
          <p:cNvPr id="20" name="Image 3" descr="preencoded.png">    </p:cNvPr>
          <p:cNvPicPr>
            <a:picLocks noChangeAspect="1"/>
          </p:cNvPicPr>
          <p:nvPr/>
        </p:nvPicPr>
        <p:blipFill>
          <a:blip r:embed="rId4"/>
          <a:stretch>
            <a:fillRect/>
          </a:stretch>
        </p:blipFill>
        <p:spPr>
          <a:xfrm>
            <a:off x="7333488" y="4672584"/>
            <a:ext cx="237744" cy="237744"/>
          </a:xfrm>
          <a:prstGeom prst="rect">
            <a:avLst/>
          </a:prstGeom>
        </p:spPr>
      </p:pic>
      <p:sp>
        <p:nvSpPr>
          <p:cNvPr id="21" name="komut"/>
          <p:cNvSpPr/>
          <p:nvPr/>
        </p:nvSpPr>
        <p:spPr>
          <a:xfrm>
            <a:off x="7726680" y="4434840"/>
            <a:ext cx="3916375" cy="713232"/>
          </a:xfrm>
          <a:prstGeom prst="roundRect">
            <a:avLst>
              <a:gd name="adj" fmla="val 10256"/>
            </a:avLst>
          </a:prstGeom>
          <a:solidFill>
            <a:schemeClr val="bg2"/>
          </a:solidFill>
          <a:ln/>
        </p:spPr>
      </p:sp>
      <p:sp>
        <p:nvSpPr>
          <p:cNvPr id="22" name="Text 15"/>
          <p:cNvSpPr txBox="1"/>
          <p:nvPr/>
        </p:nvSpPr>
        <p:spPr>
          <a:xfrm>
            <a:off x="7909560" y="4434840"/>
            <a:ext cx="3642055" cy="713232"/>
          </a:xfrm>
          <a:prstGeom prst="rect">
            <a:avLst/>
          </a:prstGeom>
          <a:noFill/>
          <a:ln/>
        </p:spPr>
        <p:txBody>
          <a:bodyPr wrap="square" lIns="0" tIns="0" rIns="0" bIns="0" rtlCol="0" anchor="ctr"/>
          <a:lstStyle/>
          <a:p>
            <a:pPr indent="0" marL="0">
              <a:buNone/>
            </a:pPr>
            <a:r>
              <a:rPr lang="en-US" sz="1400" b="1" dirty="0">
                <a:solidFill>
                  <a:schemeClr val="tx2"/>
                </a:solidFill>
                <a:latin typeface="Courier New" pitchFamily="34" charset="0"/>
                <a:ea typeface="Courier New" pitchFamily="34" charset="-122"/>
                <a:cs typeface="Courier New" pitchFamily="34" charset="-120"/>
              </a:rPr>
              <a:t>iş araştırması yap ve cv üret</a:t>
            </a:r>
            <a:endParaRPr lang="en-US" sz="1400" dirty="0"/>
          </a:p>
        </p:txBody>
      </p:sp>
      <p:sp>
        <p:nvSpPr>
          <p:cNvPr id="23" name="Text 16"/>
          <p:cNvSpPr txBox="1"/>
          <p:nvPr/>
        </p:nvSpPr>
        <p:spPr>
          <a:xfrm>
            <a:off x="548640" y="5257800"/>
            <a:ext cx="6675120" cy="713232"/>
          </a:xfrm>
          <a:prstGeom prst="rect">
            <a:avLst/>
          </a:prstGeom>
          <a:noFill/>
          <a:ln/>
        </p:spPr>
        <p:txBody>
          <a:bodyPr wrap="square" lIns="0" tIns="0" rIns="0" bIns="0" rtlCol="0" anchor="ctr"/>
          <a:lstStyle/>
          <a:p>
            <a:pPr indent="0" marL="0">
              <a:buNone/>
            </a:pPr>
            <a:r>
              <a:rPr lang="en-US" sz="1700" b="1" dirty="0">
                <a:solidFill>
                  <a:schemeClr val="tx2"/>
                </a:solidFill>
              </a:rPr>
              <a:t>Eski ilanları temizle</a:t>
            </a:r>
            <a:endParaRPr lang="en-US" sz="1700" dirty="0"/>
          </a:p>
          <a:p>
            <a:pPr indent="0" marL="0">
              <a:buNone/>
            </a:pPr>
            <a:r>
              <a:rPr lang="en-US" sz="1400" dirty="0">
                <a:solidFill>
                  <a:schemeClr val="tx1"/>
                </a:solidFill>
              </a:rPr>
              <a:t>Silinecekler önce listelenir; açık onaydan sonra silinir</a:t>
            </a:r>
            <a:endParaRPr lang="en-US" sz="1700" dirty="0"/>
          </a:p>
        </p:txBody>
      </p:sp>
      <p:pic>
        <p:nvPicPr>
          <p:cNvPr id="24" name="Image 4" descr="preencoded.png">    </p:cNvPr>
          <p:cNvPicPr>
            <a:picLocks noChangeAspect="1"/>
          </p:cNvPicPr>
          <p:nvPr/>
        </p:nvPicPr>
        <p:blipFill>
          <a:blip r:embed="rId5"/>
          <a:stretch>
            <a:fillRect/>
          </a:stretch>
        </p:blipFill>
        <p:spPr>
          <a:xfrm>
            <a:off x="7333488" y="5495544"/>
            <a:ext cx="237744" cy="237744"/>
          </a:xfrm>
          <a:prstGeom prst="rect">
            <a:avLst/>
          </a:prstGeom>
        </p:spPr>
      </p:pic>
      <p:sp>
        <p:nvSpPr>
          <p:cNvPr id="25" name="komut"/>
          <p:cNvSpPr/>
          <p:nvPr/>
        </p:nvSpPr>
        <p:spPr>
          <a:xfrm>
            <a:off x="7726680" y="5257800"/>
            <a:ext cx="3916375" cy="713232"/>
          </a:xfrm>
          <a:prstGeom prst="roundRect">
            <a:avLst>
              <a:gd name="adj" fmla="val 10256"/>
            </a:avLst>
          </a:prstGeom>
          <a:solidFill>
            <a:schemeClr val="bg2"/>
          </a:solidFill>
          <a:ln/>
        </p:spPr>
      </p:sp>
      <p:sp>
        <p:nvSpPr>
          <p:cNvPr id="26" name="Text 18"/>
          <p:cNvSpPr txBox="1"/>
          <p:nvPr/>
        </p:nvSpPr>
        <p:spPr>
          <a:xfrm>
            <a:off x="7909560" y="5257800"/>
            <a:ext cx="3642055" cy="713232"/>
          </a:xfrm>
          <a:prstGeom prst="rect">
            <a:avLst/>
          </a:prstGeom>
          <a:noFill/>
          <a:ln/>
        </p:spPr>
        <p:txBody>
          <a:bodyPr wrap="square" lIns="0" tIns="0" rIns="0" bIns="0" rtlCol="0" anchor="ctr"/>
          <a:lstStyle/>
          <a:p>
            <a:pPr indent="0" marL="0">
              <a:buNone/>
            </a:pPr>
            <a:r>
              <a:rPr lang="en-US" sz="1400" b="1" dirty="0">
                <a:solidFill>
                  <a:schemeClr val="tx2"/>
                </a:solidFill>
                <a:latin typeface="Courier New" pitchFamily="34" charset="0"/>
                <a:ea typeface="Courier New" pitchFamily="34" charset="-122"/>
                <a:cs typeface="Courier New" pitchFamily="34" charset="-120"/>
              </a:rPr>
              <a:t>eski ilanları temizle</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17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1" type="body" hasCustomPrompt="1"/>
          </p:nvPr>
        </p:nvSpPr>
        <p:spPr>
          <a:xfrm>
            <a:off x="548640" y="320040"/>
            <a:ext cx="8778240" cy="320040"/>
          </a:xfrm>
          <a:prstGeom prst="rect">
            <a:avLst/>
          </a:prstGeom>
          <a:noFill/>
          <a:ln/>
        </p:spPr>
        <p:txBody>
          <a:bodyPr wrap="square" lIns="0" tIns="0" rIns="0" bIns="0" rtlCol="0" anchor="ctr"/>
          <a:lstStyle/>
          <a:p>
            <a:pPr indent="0" marL="0">
              <a:buNone/>
            </a:pPr>
            <a:r>
              <a:rPr lang="en-US" sz="1300" b="1" spc="200" kern="0" dirty="0">
                <a:solidFill>
                  <a:schemeClr val="accent3"/>
                </a:solidFill>
              </a:rPr>
              <a:t>02 · CV'Yİ KOD GİBİ YÖNETMEK</a:t>
            </a:r>
            <a:endParaRPr lang="en-US" sz="1300" dirty="0"/>
          </a:p>
        </p:txBody>
      </p:sp>
      <p:sp>
        <p:nvSpPr>
          <p:cNvPr id="3" name="Text 0"/>
          <p:cNvSpPr/>
          <p:nvPr>
            <p:ph idx="102" type="title" hasCustomPrompt="1"/>
          </p:nvPr>
        </p:nvSpPr>
        <p:spPr>
          <a:xfrm>
            <a:off x="548640" y="658368"/>
            <a:ext cx="9052560" cy="731520"/>
          </a:xfrm>
          <a:prstGeom prst="rect">
            <a:avLst/>
          </a:prstGeom>
          <a:noFill/>
          <a:ln/>
        </p:spPr>
        <p:txBody>
          <a:bodyPr wrap="square" lIns="0" tIns="0" rIns="0" bIns="0" rtlCol="0" anchor="t"/>
          <a:lstStyle/>
          <a:p>
            <a:pPr algn="l" indent="0" marL="0">
              <a:buNone/>
            </a:pPr>
            <a:r>
              <a:rPr lang="en-US" sz="3400" b="1" dirty="0">
                <a:solidFill>
                  <a:schemeClr val="tx2"/>
                </a:solidFill>
              </a:rPr>
              <a:t>Her Başvurunun Kaydı Tutulmalı</a:t>
            </a:r>
            <a:endParaRPr lang="en-US" sz="3400" dirty="0"/>
          </a:p>
        </p:txBody>
      </p:sp>
      <p:sp>
        <p:nvSpPr>
          <p:cNvPr id="5" name="ikon-daire"/>
          <p:cNvSpPr/>
          <p:nvPr/>
        </p:nvSpPr>
        <p:spPr>
          <a:xfrm>
            <a:off x="548640" y="1828800"/>
            <a:ext cx="566928" cy="566928"/>
          </a:xfrm>
          <a:prstGeom prst="ellipse">
            <a:avLst/>
          </a:prstGeom>
          <a:solidFill>
            <a:schemeClr val="accent1"/>
          </a:solidFill>
          <a:ln/>
        </p:spPr>
      </p:sp>
      <p:pic>
        <p:nvPicPr>
          <p:cNvPr id="6" name="ikon" descr="preencoded.png">    </p:cNvPr>
          <p:cNvPicPr>
            <a:picLocks noChangeAspect="1"/>
          </p:cNvPicPr>
          <p:nvPr/>
        </p:nvPicPr>
        <p:blipFill>
          <a:blip r:embed="rId1"/>
          <a:stretch>
            <a:fillRect/>
          </a:stretch>
        </p:blipFill>
        <p:spPr>
          <a:xfrm>
            <a:off x="690372" y="1970532"/>
            <a:ext cx="283464" cy="283464"/>
          </a:xfrm>
          <a:prstGeom prst="rect">
            <a:avLst/>
          </a:prstGeom>
        </p:spPr>
      </p:pic>
      <p:sp>
        <p:nvSpPr>
          <p:cNvPr id="7" name="Text 3"/>
          <p:cNvSpPr txBox="1"/>
          <p:nvPr/>
        </p:nvSpPr>
        <p:spPr>
          <a:xfrm>
            <a:off x="1344168" y="1783080"/>
            <a:ext cx="4873752" cy="914400"/>
          </a:xfrm>
          <a:prstGeom prst="rect">
            <a:avLst/>
          </a:prstGeom>
          <a:noFill/>
          <a:ln/>
        </p:spPr>
        <p:txBody>
          <a:bodyPr wrap="square" lIns="0" tIns="0" rIns="0" bIns="0" rtlCol="0" anchor="t"/>
          <a:lstStyle/>
          <a:p>
            <a:pPr indent="0" marL="0">
              <a:spcAft>
                <a:spcPts val="200"/>
              </a:spcAft>
              <a:buNone/>
            </a:pPr>
            <a:r>
              <a:rPr lang="en-US" sz="1800" b="1" dirty="0">
                <a:solidFill>
                  <a:schemeClr val="tx2"/>
                </a:solidFill>
              </a:rPr>
              <a:t>İlan metni saklanır</a:t>
            </a:r>
            <a:endParaRPr lang="en-US" sz="1800" dirty="0"/>
          </a:p>
          <a:p>
            <a:pPr indent="0" marL="0">
              <a:spcAft>
                <a:spcPts val="200"/>
              </a:spcAft>
              <a:buNone/>
            </a:pPr>
            <a:r>
              <a:rPr lang="en-US" sz="1500" dirty="0">
                <a:solidFill>
                  <a:schemeClr val="tx1"/>
                </a:solidFill>
              </a:rPr>
              <a:t>İlan yayından kalksa da neye başvurulduğu bilinir</a:t>
            </a:r>
            <a:endParaRPr lang="en-US" sz="1800" dirty="0"/>
          </a:p>
        </p:txBody>
      </p:sp>
      <p:sp>
        <p:nvSpPr>
          <p:cNvPr id="8" name="ikon-daire"/>
          <p:cNvSpPr/>
          <p:nvPr/>
        </p:nvSpPr>
        <p:spPr>
          <a:xfrm>
            <a:off x="548640" y="2852928"/>
            <a:ext cx="566928" cy="566928"/>
          </a:xfrm>
          <a:prstGeom prst="ellipse">
            <a:avLst/>
          </a:prstGeom>
          <a:solidFill>
            <a:schemeClr val="accent1"/>
          </a:solidFill>
          <a:ln/>
        </p:spPr>
      </p:sp>
      <p:pic>
        <p:nvPicPr>
          <p:cNvPr id="9" name="ikon" descr="preencoded.png">    </p:cNvPr>
          <p:cNvPicPr>
            <a:picLocks noChangeAspect="1"/>
          </p:cNvPicPr>
          <p:nvPr/>
        </p:nvPicPr>
        <p:blipFill>
          <a:blip r:embed="rId2"/>
          <a:stretch>
            <a:fillRect/>
          </a:stretch>
        </p:blipFill>
        <p:spPr>
          <a:xfrm>
            <a:off x="690372" y="2994660"/>
            <a:ext cx="283464" cy="283464"/>
          </a:xfrm>
          <a:prstGeom prst="rect">
            <a:avLst/>
          </a:prstGeom>
        </p:spPr>
      </p:pic>
      <p:sp>
        <p:nvSpPr>
          <p:cNvPr id="10" name="Text 5"/>
          <p:cNvSpPr txBox="1"/>
          <p:nvPr/>
        </p:nvSpPr>
        <p:spPr>
          <a:xfrm>
            <a:off x="1344168" y="2807208"/>
            <a:ext cx="4873752" cy="914400"/>
          </a:xfrm>
          <a:prstGeom prst="rect">
            <a:avLst/>
          </a:prstGeom>
          <a:noFill/>
          <a:ln/>
        </p:spPr>
        <p:txBody>
          <a:bodyPr wrap="square" lIns="0" tIns="0" rIns="0" bIns="0" rtlCol="0" anchor="t"/>
          <a:lstStyle/>
          <a:p>
            <a:pPr indent="0" marL="0">
              <a:spcAft>
                <a:spcPts val="200"/>
              </a:spcAft>
              <a:buNone/>
            </a:pPr>
            <a:r>
              <a:rPr lang="en-US" sz="1800" b="1" dirty="0">
                <a:solidFill>
                  <a:schemeClr val="tx2"/>
                </a:solidFill>
              </a:rPr>
              <a:t>Eşleşme notu tutulur</a:t>
            </a:r>
            <a:endParaRPr lang="en-US" sz="1800" dirty="0"/>
          </a:p>
          <a:p>
            <a:pPr indent="0" marL="0">
              <a:spcAft>
                <a:spcPts val="200"/>
              </a:spcAft>
              <a:buNone/>
            </a:pPr>
            <a:r>
              <a:rPr lang="en-US" sz="1500" dirty="0">
                <a:solidFill>
                  <a:schemeClr val="tx1"/>
                </a:solidFill>
              </a:rPr>
              <a:t>Hangi CV seçildi ve neden seçildi</a:t>
            </a:r>
            <a:endParaRPr lang="en-US" sz="1800" dirty="0"/>
          </a:p>
        </p:txBody>
      </p:sp>
      <p:sp>
        <p:nvSpPr>
          <p:cNvPr id="11" name="ikon-daire"/>
          <p:cNvSpPr/>
          <p:nvPr/>
        </p:nvSpPr>
        <p:spPr>
          <a:xfrm>
            <a:off x="548640" y="3877056"/>
            <a:ext cx="566928" cy="566928"/>
          </a:xfrm>
          <a:prstGeom prst="ellipse">
            <a:avLst/>
          </a:prstGeom>
          <a:solidFill>
            <a:schemeClr val="accent5"/>
          </a:solidFill>
          <a:ln/>
        </p:spPr>
      </p:sp>
      <p:pic>
        <p:nvPicPr>
          <p:cNvPr id="12" name="ikon" descr="preencoded.png">    </p:cNvPr>
          <p:cNvPicPr>
            <a:picLocks noChangeAspect="1"/>
          </p:cNvPicPr>
          <p:nvPr/>
        </p:nvPicPr>
        <p:blipFill>
          <a:blip r:embed="rId3"/>
          <a:stretch>
            <a:fillRect/>
          </a:stretch>
        </p:blipFill>
        <p:spPr>
          <a:xfrm>
            <a:off x="690372" y="4018788"/>
            <a:ext cx="283464" cy="283464"/>
          </a:xfrm>
          <a:prstGeom prst="rect">
            <a:avLst/>
          </a:prstGeom>
        </p:spPr>
      </p:pic>
      <p:sp>
        <p:nvSpPr>
          <p:cNvPr id="13" name="Text 7"/>
          <p:cNvSpPr txBox="1"/>
          <p:nvPr/>
        </p:nvSpPr>
        <p:spPr>
          <a:xfrm>
            <a:off x="1344168" y="3831336"/>
            <a:ext cx="4873752" cy="914400"/>
          </a:xfrm>
          <a:prstGeom prst="rect">
            <a:avLst/>
          </a:prstGeom>
          <a:noFill/>
          <a:ln/>
        </p:spPr>
        <p:txBody>
          <a:bodyPr wrap="square" lIns="0" tIns="0" rIns="0" bIns="0" rtlCol="0" anchor="t"/>
          <a:lstStyle/>
          <a:p>
            <a:pPr indent="0" marL="0">
              <a:spcAft>
                <a:spcPts val="200"/>
              </a:spcAft>
              <a:buNone/>
            </a:pPr>
            <a:r>
              <a:rPr lang="en-US" sz="1800" b="1" dirty="0">
                <a:solidFill>
                  <a:schemeClr val="tx2"/>
                </a:solidFill>
              </a:rPr>
              <a:t>Önce mevcut CV denenir</a:t>
            </a:r>
            <a:endParaRPr lang="en-US" sz="1800" dirty="0"/>
          </a:p>
          <a:p>
            <a:pPr indent="0" marL="0">
              <a:spcAft>
                <a:spcPts val="200"/>
              </a:spcAft>
              <a:buNone/>
            </a:pPr>
            <a:r>
              <a:rPr lang="en-US" sz="1500" dirty="0">
                <a:solidFill>
                  <a:schemeClr val="tx1"/>
                </a:solidFill>
              </a:rPr>
              <a:t>Uygun ve güncel CV varsa yenisi oluşturulmaz</a:t>
            </a:r>
            <a:endParaRPr lang="en-US" sz="1800" dirty="0"/>
          </a:p>
        </p:txBody>
      </p:sp>
      <p:sp>
        <p:nvSpPr>
          <p:cNvPr id="14" name="ikon-daire"/>
          <p:cNvSpPr/>
          <p:nvPr/>
        </p:nvSpPr>
        <p:spPr>
          <a:xfrm>
            <a:off x="548640" y="4901184"/>
            <a:ext cx="566928" cy="566928"/>
          </a:xfrm>
          <a:prstGeom prst="ellipse">
            <a:avLst/>
          </a:prstGeom>
          <a:solidFill>
            <a:schemeClr val="accent2"/>
          </a:solidFill>
          <a:ln/>
        </p:spPr>
      </p:sp>
      <p:pic>
        <p:nvPicPr>
          <p:cNvPr id="15" name="ikon" descr="preencoded.png">    </p:cNvPr>
          <p:cNvPicPr>
            <a:picLocks noChangeAspect="1"/>
          </p:cNvPicPr>
          <p:nvPr/>
        </p:nvPicPr>
        <p:blipFill>
          <a:blip r:embed="rId4"/>
          <a:stretch>
            <a:fillRect/>
          </a:stretch>
        </p:blipFill>
        <p:spPr>
          <a:xfrm>
            <a:off x="690372" y="5042916"/>
            <a:ext cx="283464" cy="283464"/>
          </a:xfrm>
          <a:prstGeom prst="rect">
            <a:avLst/>
          </a:prstGeom>
        </p:spPr>
      </p:pic>
      <p:sp>
        <p:nvSpPr>
          <p:cNvPr id="16" name="Text 9"/>
          <p:cNvSpPr txBox="1"/>
          <p:nvPr/>
        </p:nvSpPr>
        <p:spPr>
          <a:xfrm>
            <a:off x="1344168" y="4855464"/>
            <a:ext cx="4873752" cy="914400"/>
          </a:xfrm>
          <a:prstGeom prst="rect">
            <a:avLst/>
          </a:prstGeom>
          <a:noFill/>
          <a:ln/>
        </p:spPr>
        <p:txBody>
          <a:bodyPr wrap="square" lIns="0" tIns="0" rIns="0" bIns="0" rtlCol="0" anchor="t"/>
          <a:lstStyle/>
          <a:p>
            <a:pPr indent="0" marL="0">
              <a:spcAft>
                <a:spcPts val="200"/>
              </a:spcAft>
              <a:buNone/>
            </a:pPr>
            <a:r>
              <a:rPr lang="en-US" sz="1800" b="1" dirty="0">
                <a:solidFill>
                  <a:schemeClr val="tx2"/>
                </a:solidFill>
              </a:rPr>
              <a:t>Gerekirse ilana özel CV</a:t>
            </a:r>
            <a:endParaRPr lang="en-US" sz="1800" dirty="0"/>
          </a:p>
          <a:p>
            <a:pPr indent="0" marL="0">
              <a:spcAft>
                <a:spcPts val="200"/>
              </a:spcAft>
              <a:buNone/>
            </a:pPr>
            <a:r>
              <a:rPr lang="en-US" sz="1500" dirty="0">
                <a:solidFill>
                  <a:schemeClr val="tx1"/>
                </a:solidFill>
              </a:rPr>
              <a:t>Kaynaktan türetilir; elle kopyalanmaz</a:t>
            </a:r>
            <a:endParaRPr lang="en-US" sz="1800" dirty="0"/>
          </a:p>
        </p:txBody>
      </p:sp>
      <p:sp>
        <p:nvSpPr>
          <p:cNvPr id="17" name="Text 10"/>
          <p:cNvSpPr txBox="1"/>
          <p:nvPr/>
        </p:nvSpPr>
        <p:spPr>
          <a:xfrm>
            <a:off x="6583680" y="1600200"/>
            <a:ext cx="5059375" cy="274320"/>
          </a:xfrm>
          <a:prstGeom prst="rect">
            <a:avLst/>
          </a:prstGeom>
          <a:noFill/>
          <a:ln/>
        </p:spPr>
        <p:txBody>
          <a:bodyPr wrap="square" lIns="0" tIns="0" rIns="0" bIns="0" rtlCol="0" anchor="ctr"/>
          <a:lstStyle/>
          <a:p>
            <a:pPr indent="0" marL="0">
              <a:buNone/>
            </a:pPr>
            <a:r>
              <a:rPr lang="en-US" sz="1200" b="1" spc="200" kern="0" dirty="0">
                <a:solidFill>
                  <a:schemeClr val="accent3"/>
                </a:solidFill>
              </a:rPr>
              <a:t>ÖRNEK UYGULAMA · İLAN PAKETİ</a:t>
            </a:r>
            <a:endParaRPr lang="en-US" sz="1200" dirty="0"/>
          </a:p>
        </p:txBody>
      </p:sp>
      <p:sp>
        <p:nvSpPr>
          <p:cNvPr id="18" name="kod-kutusu"/>
          <p:cNvSpPr/>
          <p:nvPr/>
        </p:nvSpPr>
        <p:spPr>
          <a:xfrm>
            <a:off x="6583680" y="1965960"/>
            <a:ext cx="5059375" cy="1965960"/>
          </a:xfrm>
          <a:prstGeom prst="roundRect">
            <a:avLst>
              <a:gd name="adj" fmla="val 3721"/>
            </a:avLst>
          </a:prstGeom>
          <a:solidFill>
            <a:schemeClr val="tx2"/>
          </a:solidFill>
          <a:ln/>
        </p:spPr>
      </p:sp>
      <p:sp>
        <p:nvSpPr>
          <p:cNvPr id="19" name="Text 12"/>
          <p:cNvSpPr txBox="1"/>
          <p:nvPr/>
        </p:nvSpPr>
        <p:spPr>
          <a:xfrm>
            <a:off x="6858000" y="2194560"/>
            <a:ext cx="4510735" cy="1508760"/>
          </a:xfrm>
          <a:prstGeom prst="rect">
            <a:avLst/>
          </a:prstGeom>
          <a:noFill/>
          <a:ln/>
        </p:spPr>
        <p:txBody>
          <a:bodyPr wrap="square" lIns="0" tIns="0" rIns="0" bIns="0" rtlCol="0" anchor="t"/>
          <a:lstStyle/>
          <a:p>
            <a:pPr indent="0" marL="0">
              <a:buNone/>
            </a:pPr>
            <a:r>
              <a:rPr lang="en-US" sz="1500" dirty="0">
                <a:solidFill>
                  <a:schemeClr val="bg1"/>
                </a:solidFill>
                <a:latin typeface="Courier New" pitchFamily="34" charset="0"/>
                <a:ea typeface="Courier New" pitchFamily="34" charset="-122"/>
                <a:cs typeface="Courier New" pitchFamily="34" charset="-120"/>
              </a:rPr>
              <a:t>ilana_ozel_cvler/</a:t>
            </a:r>
            <a:endParaRPr lang="en-US" sz="1500" dirty="0"/>
          </a:p>
          <a:p>
            <a:pPr indent="0" marL="0">
              <a:buNone/>
            </a:pPr>
            <a:r>
              <a:rPr lang="en-US" sz="1500" dirty="0">
                <a:solidFill>
                  <a:schemeClr val="bg1"/>
                </a:solidFill>
                <a:latin typeface="Courier New" pitchFamily="34" charset="0"/>
                <a:ea typeface="Courier New" pitchFamily="34" charset="-122"/>
                <a:cs typeface="Courier New" pitchFamily="34" charset="-120"/>
              </a:rPr>
              <a:t>└── anzera_ai_engineer/</a:t>
            </a:r>
            <a:endParaRPr lang="en-US" sz="1500" dirty="0"/>
          </a:p>
          <a:p>
            <a:pPr indent="0" marL="0">
              <a:buNone/>
            </a:pPr>
            <a:r>
              <a:rPr lang="en-US" sz="1500" dirty="0">
                <a:solidFill>
                  <a:schemeClr val="bg1"/>
                </a:solidFill>
                <a:latin typeface="Courier New" pitchFamily="34" charset="0"/>
                <a:ea typeface="Courier New" pitchFamily="34" charset="-122"/>
                <a:cs typeface="Courier New" pitchFamily="34" charset="-120"/>
              </a:rPr>
              <a:t>    ├── IS_ILANI.md</a:t>
            </a:r>
            <a:endParaRPr lang="en-US" sz="1500" dirty="0"/>
          </a:p>
          <a:p>
            <a:pPr indent="0" marL="0">
              <a:buNone/>
            </a:pPr>
            <a:r>
              <a:rPr lang="en-US" sz="1500" dirty="0">
                <a:solidFill>
                  <a:schemeClr val="bg1"/>
                </a:solidFill>
                <a:latin typeface="Courier New" pitchFamily="34" charset="0"/>
                <a:ea typeface="Courier New" pitchFamily="34" charset="-122"/>
                <a:cs typeface="Courier New" pitchFamily="34" charset="-120"/>
              </a:rPr>
              <a:t>    │   ham ilan metni + bağlantı</a:t>
            </a:r>
            <a:endParaRPr lang="en-US" sz="1500" dirty="0"/>
          </a:p>
          <a:p>
            <a:pPr indent="0" marL="0">
              <a:buNone/>
            </a:pPr>
            <a:r>
              <a:rPr lang="en-US" sz="1500" dirty="0">
                <a:solidFill>
                  <a:schemeClr val="bg1"/>
                </a:solidFill>
                <a:latin typeface="Courier New" pitchFamily="34" charset="0"/>
                <a:ea typeface="Courier New" pitchFamily="34" charset="-122"/>
                <a:cs typeface="Courier New" pitchFamily="34" charset="-120"/>
              </a:rPr>
              <a:t>    └── ILAN_NOTLARI.md</a:t>
            </a:r>
            <a:endParaRPr lang="en-US" sz="1500" dirty="0"/>
          </a:p>
          <a:p>
            <a:pPr indent="0" marL="0">
              <a:buNone/>
            </a:pPr>
            <a:r>
              <a:rPr lang="en-US" sz="1500" dirty="0">
                <a:solidFill>
                  <a:schemeClr val="bg1"/>
                </a:solidFill>
                <a:latin typeface="Courier New" pitchFamily="34" charset="0"/>
                <a:ea typeface="Courier New" pitchFamily="34" charset="-122"/>
                <a:cs typeface="Courier New" pitchFamily="34" charset="-120"/>
              </a:rPr>
              <a:t>        eşleşme + tek CV önerisi</a:t>
            </a:r>
            <a:endParaRPr lang="en-US" sz="1500" dirty="0"/>
          </a:p>
        </p:txBody>
      </p:sp>
      <p:sp>
        <p:nvSpPr>
          <p:cNvPr id="20" name="Text 13"/>
          <p:cNvSpPr txBox="1"/>
          <p:nvPr/>
        </p:nvSpPr>
        <p:spPr>
          <a:xfrm>
            <a:off x="6583680" y="4206240"/>
            <a:ext cx="2529688" cy="1188720"/>
          </a:xfrm>
          <a:prstGeom prst="rect">
            <a:avLst/>
          </a:prstGeom>
          <a:noFill/>
          <a:ln/>
        </p:spPr>
        <p:txBody>
          <a:bodyPr wrap="square" lIns="0" tIns="0" rIns="0" bIns="0" rtlCol="0" anchor="t"/>
          <a:lstStyle/>
          <a:p>
            <a:pPr algn="ctr" indent="0" marL="0">
              <a:buNone/>
            </a:pPr>
            <a:r>
              <a:rPr lang="en-US" sz="4000" b="1" dirty="0">
                <a:solidFill>
                  <a:schemeClr val="accent3"/>
                </a:solidFill>
                <a:latin typeface="Cambria" pitchFamily="34" charset="0"/>
                <a:ea typeface="Cambria" pitchFamily="34" charset="-122"/>
                <a:cs typeface="Cambria" pitchFamily="34" charset="-120"/>
              </a:rPr>
              <a:t>64</a:t>
            </a:r>
            <a:endParaRPr lang="en-US" sz="4000" dirty="0"/>
          </a:p>
          <a:p>
            <a:pPr algn="ctr" indent="0" marL="0">
              <a:buNone/>
            </a:pPr>
            <a:r>
              <a:rPr lang="en-US" sz="1500" dirty="0">
                <a:solidFill>
                  <a:schemeClr val="tx1"/>
                </a:solidFill>
              </a:rPr>
              <a:t>ilan paketi</a:t>
            </a:r>
            <a:endParaRPr lang="en-US" sz="4000" dirty="0"/>
          </a:p>
        </p:txBody>
      </p:sp>
      <p:sp>
        <p:nvSpPr>
          <p:cNvPr id="21" name="Text 14"/>
          <p:cNvSpPr txBox="1"/>
          <p:nvPr/>
        </p:nvSpPr>
        <p:spPr>
          <a:xfrm>
            <a:off x="9113368" y="4206240"/>
            <a:ext cx="2529688" cy="1188720"/>
          </a:xfrm>
          <a:prstGeom prst="rect">
            <a:avLst/>
          </a:prstGeom>
          <a:noFill/>
          <a:ln/>
        </p:spPr>
        <p:txBody>
          <a:bodyPr wrap="square" lIns="0" tIns="0" rIns="0" bIns="0" rtlCol="0" anchor="t"/>
          <a:lstStyle/>
          <a:p>
            <a:pPr algn="ctr" indent="0" marL="0">
              <a:buNone/>
            </a:pPr>
            <a:r>
              <a:rPr lang="en-US" sz="4000" b="1" dirty="0">
                <a:solidFill>
                  <a:schemeClr val="accent3"/>
                </a:solidFill>
                <a:latin typeface="Cambria" pitchFamily="34" charset="0"/>
                <a:ea typeface="Cambria" pitchFamily="34" charset="-122"/>
                <a:cs typeface="Cambria" pitchFamily="34" charset="-120"/>
              </a:rPr>
              <a:t>17</a:t>
            </a:r>
            <a:endParaRPr lang="en-US" sz="4000" dirty="0"/>
          </a:p>
          <a:p>
            <a:pPr algn="ctr" indent="0" marL="0">
              <a:buNone/>
            </a:pPr>
            <a:r>
              <a:rPr lang="en-US" sz="1500" dirty="0">
                <a:solidFill>
                  <a:schemeClr val="tx1"/>
                </a:solidFill>
              </a:rPr>
              <a:t>pakette ilana özel CV</a:t>
            </a:r>
            <a:endParaRPr lang="en-US" sz="4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17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1" type="body" hasCustomPrompt="1"/>
          </p:nvPr>
        </p:nvSpPr>
        <p:spPr>
          <a:xfrm>
            <a:off x="548640" y="320040"/>
            <a:ext cx="8778240" cy="320040"/>
          </a:xfrm>
          <a:prstGeom prst="rect">
            <a:avLst/>
          </a:prstGeom>
          <a:noFill/>
          <a:ln/>
        </p:spPr>
        <p:txBody>
          <a:bodyPr wrap="square" lIns="0" tIns="0" rIns="0" bIns="0" rtlCol="0" anchor="ctr"/>
          <a:lstStyle/>
          <a:p>
            <a:pPr indent="0" marL="0">
              <a:buNone/>
            </a:pPr>
            <a:r>
              <a:rPr lang="en-US" sz="1300" b="1" spc="200" kern="0" dirty="0">
                <a:solidFill>
                  <a:schemeClr val="accent3"/>
                </a:solidFill>
              </a:rPr>
              <a:t>03 · İLAN BULMA</a:t>
            </a:r>
            <a:endParaRPr lang="en-US" sz="1300" dirty="0"/>
          </a:p>
        </p:txBody>
      </p:sp>
      <p:sp>
        <p:nvSpPr>
          <p:cNvPr id="3" name="Text 0"/>
          <p:cNvSpPr/>
          <p:nvPr>
            <p:ph idx="102" type="title" hasCustomPrompt="1"/>
          </p:nvPr>
        </p:nvSpPr>
        <p:spPr>
          <a:xfrm>
            <a:off x="548640" y="658368"/>
            <a:ext cx="9052560" cy="731520"/>
          </a:xfrm>
          <a:prstGeom prst="rect">
            <a:avLst/>
          </a:prstGeom>
          <a:noFill/>
          <a:ln/>
        </p:spPr>
        <p:txBody>
          <a:bodyPr wrap="square" lIns="0" tIns="0" rIns="0" bIns="0" rtlCol="0" anchor="t"/>
          <a:lstStyle/>
          <a:p>
            <a:pPr algn="l" indent="0" marL="0">
              <a:buNone/>
            </a:pPr>
            <a:r>
              <a:rPr lang="en-US" sz="3400" b="1" dirty="0">
                <a:solidFill>
                  <a:schemeClr val="tx2"/>
                </a:solidFill>
              </a:rPr>
              <a:t>İlan Nerede?</a:t>
            </a:r>
            <a:endParaRPr lang="en-US" sz="3400" dirty="0"/>
          </a:p>
        </p:txBody>
      </p:sp>
      <p:sp>
        <p:nvSpPr>
          <p:cNvPr id="5" name="kart"/>
          <p:cNvSpPr/>
          <p:nvPr/>
        </p:nvSpPr>
        <p:spPr>
          <a:xfrm>
            <a:off x="548640" y="1691640"/>
            <a:ext cx="5120640" cy="1325880"/>
          </a:xfrm>
          <a:prstGeom prst="roundRect">
            <a:avLst>
              <a:gd name="adj" fmla="val 5517"/>
            </a:avLst>
          </a:prstGeom>
          <a:solidFill>
            <a:schemeClr val="bg2"/>
          </a:solidFill>
          <a:ln/>
        </p:spPr>
      </p:sp>
      <p:sp>
        <p:nvSpPr>
          <p:cNvPr id="6" name="ikon-daire"/>
          <p:cNvSpPr/>
          <p:nvPr/>
        </p:nvSpPr>
        <p:spPr>
          <a:xfrm>
            <a:off x="822960" y="2039112"/>
            <a:ext cx="640080" cy="640080"/>
          </a:xfrm>
          <a:prstGeom prst="ellipse">
            <a:avLst/>
          </a:prstGeom>
          <a:solidFill>
            <a:schemeClr val="accent1"/>
          </a:solidFill>
          <a:ln/>
        </p:spPr>
      </p:sp>
      <p:pic>
        <p:nvPicPr>
          <p:cNvPr id="7" name="ikon" descr="preencoded.png">    </p:cNvPr>
          <p:cNvPicPr>
            <a:picLocks noChangeAspect="1"/>
          </p:cNvPicPr>
          <p:nvPr/>
        </p:nvPicPr>
        <p:blipFill>
          <a:blip r:embed="rId1"/>
          <a:stretch>
            <a:fillRect/>
          </a:stretch>
        </p:blipFill>
        <p:spPr>
          <a:xfrm>
            <a:off x="982980" y="2199132"/>
            <a:ext cx="320040" cy="320040"/>
          </a:xfrm>
          <a:prstGeom prst="rect">
            <a:avLst/>
          </a:prstGeom>
        </p:spPr>
      </p:pic>
      <p:sp>
        <p:nvSpPr>
          <p:cNvPr id="8" name="Text 4"/>
          <p:cNvSpPr txBox="1"/>
          <p:nvPr/>
        </p:nvSpPr>
        <p:spPr>
          <a:xfrm>
            <a:off x="1691640" y="1691640"/>
            <a:ext cx="3749040" cy="1325880"/>
          </a:xfrm>
          <a:prstGeom prst="rect">
            <a:avLst/>
          </a:prstGeom>
          <a:noFill/>
          <a:ln/>
        </p:spPr>
        <p:txBody>
          <a:bodyPr wrap="square" lIns="0" tIns="0" rIns="0" bIns="0" rtlCol="0" anchor="ctr"/>
          <a:lstStyle/>
          <a:p>
            <a:pPr indent="0" marL="0">
              <a:spcAft>
                <a:spcPts val="400"/>
              </a:spcAft>
              <a:buNone/>
            </a:pPr>
            <a:r>
              <a:rPr lang="en-US" sz="1900" b="1" dirty="0">
                <a:solidFill>
                  <a:schemeClr val="tx2"/>
                </a:solidFill>
              </a:rPr>
              <a:t>LinkedIn</a:t>
            </a:r>
            <a:endParaRPr lang="en-US" sz="1900" dirty="0"/>
          </a:p>
          <a:p>
            <a:pPr indent="0" marL="0">
              <a:spcAft>
                <a:spcPts val="400"/>
              </a:spcAft>
              <a:buNone/>
            </a:pPr>
            <a:r>
              <a:rPr lang="en-US" sz="1500" dirty="0">
                <a:solidFill>
                  <a:schemeClr val="tx1"/>
                </a:solidFill>
              </a:rPr>
              <a:t>İş uyarıları, YZ destekli iş arama</a:t>
            </a:r>
            <a:endParaRPr lang="en-US" sz="1900" dirty="0"/>
          </a:p>
        </p:txBody>
      </p:sp>
      <p:sp>
        <p:nvSpPr>
          <p:cNvPr id="9" name="kart"/>
          <p:cNvSpPr/>
          <p:nvPr/>
        </p:nvSpPr>
        <p:spPr>
          <a:xfrm>
            <a:off x="548640" y="3246120"/>
            <a:ext cx="5120640" cy="1325880"/>
          </a:xfrm>
          <a:prstGeom prst="roundRect">
            <a:avLst>
              <a:gd name="adj" fmla="val 5517"/>
            </a:avLst>
          </a:prstGeom>
          <a:solidFill>
            <a:schemeClr val="bg2"/>
          </a:solidFill>
          <a:ln/>
        </p:spPr>
      </p:sp>
      <p:sp>
        <p:nvSpPr>
          <p:cNvPr id="10" name="ikon-daire"/>
          <p:cNvSpPr/>
          <p:nvPr/>
        </p:nvSpPr>
        <p:spPr>
          <a:xfrm>
            <a:off x="822960" y="3593592"/>
            <a:ext cx="640080" cy="640080"/>
          </a:xfrm>
          <a:prstGeom prst="ellipse">
            <a:avLst/>
          </a:prstGeom>
          <a:solidFill>
            <a:schemeClr val="accent1"/>
          </a:solidFill>
          <a:ln/>
        </p:spPr>
      </p:sp>
      <p:pic>
        <p:nvPicPr>
          <p:cNvPr id="11" name="ikon" descr="preencoded.png">    </p:cNvPr>
          <p:cNvPicPr>
            <a:picLocks noChangeAspect="1"/>
          </p:cNvPicPr>
          <p:nvPr/>
        </p:nvPicPr>
        <p:blipFill>
          <a:blip r:embed="rId2"/>
          <a:stretch>
            <a:fillRect/>
          </a:stretch>
        </p:blipFill>
        <p:spPr>
          <a:xfrm>
            <a:off x="982980" y="3753612"/>
            <a:ext cx="320040" cy="320040"/>
          </a:xfrm>
          <a:prstGeom prst="rect">
            <a:avLst/>
          </a:prstGeom>
        </p:spPr>
      </p:pic>
      <p:sp>
        <p:nvSpPr>
          <p:cNvPr id="12" name="Text 7"/>
          <p:cNvSpPr txBox="1"/>
          <p:nvPr/>
        </p:nvSpPr>
        <p:spPr>
          <a:xfrm>
            <a:off x="1691640" y="3246120"/>
            <a:ext cx="3749040" cy="1325880"/>
          </a:xfrm>
          <a:prstGeom prst="rect">
            <a:avLst/>
          </a:prstGeom>
          <a:noFill/>
          <a:ln/>
        </p:spPr>
        <p:txBody>
          <a:bodyPr wrap="square" lIns="0" tIns="0" rIns="0" bIns="0" rtlCol="0" anchor="ctr"/>
          <a:lstStyle/>
          <a:p>
            <a:pPr indent="0" marL="0">
              <a:spcAft>
                <a:spcPts val="400"/>
              </a:spcAft>
              <a:buNone/>
            </a:pPr>
            <a:r>
              <a:rPr lang="en-US" sz="1900" b="1" dirty="0">
                <a:solidFill>
                  <a:schemeClr val="tx2"/>
                </a:solidFill>
              </a:rPr>
              <a:t>Kurumsal kariyer portalları</a:t>
            </a:r>
            <a:endParaRPr lang="en-US" sz="1900" dirty="0"/>
          </a:p>
          <a:p>
            <a:pPr indent="0" marL="0">
              <a:spcAft>
                <a:spcPts val="400"/>
              </a:spcAft>
              <a:buNone/>
            </a:pPr>
            <a:r>
              <a:rPr lang="en-US" sz="1500" dirty="0">
                <a:solidFill>
                  <a:schemeClr val="tx1"/>
                </a:solidFill>
              </a:rPr>
              <a:t>En güncel ve doğrudan kaynak</a:t>
            </a:r>
            <a:endParaRPr lang="en-US" sz="1900" dirty="0"/>
          </a:p>
        </p:txBody>
      </p:sp>
      <p:sp>
        <p:nvSpPr>
          <p:cNvPr id="13" name="kart"/>
          <p:cNvSpPr/>
          <p:nvPr/>
        </p:nvSpPr>
        <p:spPr>
          <a:xfrm>
            <a:off x="548640" y="4800600"/>
            <a:ext cx="5120640" cy="1325880"/>
          </a:xfrm>
          <a:prstGeom prst="roundRect">
            <a:avLst>
              <a:gd name="adj" fmla="val 5517"/>
            </a:avLst>
          </a:prstGeom>
          <a:solidFill>
            <a:schemeClr val="bg2"/>
          </a:solidFill>
          <a:ln/>
        </p:spPr>
      </p:sp>
      <p:sp>
        <p:nvSpPr>
          <p:cNvPr id="14" name="ikon-daire"/>
          <p:cNvSpPr/>
          <p:nvPr/>
        </p:nvSpPr>
        <p:spPr>
          <a:xfrm>
            <a:off x="822960" y="5148072"/>
            <a:ext cx="640080" cy="640080"/>
          </a:xfrm>
          <a:prstGeom prst="ellipse">
            <a:avLst/>
          </a:prstGeom>
          <a:solidFill>
            <a:schemeClr val="accent1"/>
          </a:solidFill>
          <a:ln/>
        </p:spPr>
      </p:sp>
      <p:pic>
        <p:nvPicPr>
          <p:cNvPr id="15" name="ikon" descr="preencoded.png">    </p:cNvPr>
          <p:cNvPicPr>
            <a:picLocks noChangeAspect="1"/>
          </p:cNvPicPr>
          <p:nvPr/>
        </p:nvPicPr>
        <p:blipFill>
          <a:blip r:embed="rId3"/>
          <a:stretch>
            <a:fillRect/>
          </a:stretch>
        </p:blipFill>
        <p:spPr>
          <a:xfrm>
            <a:off x="982980" y="5308092"/>
            <a:ext cx="320040" cy="320040"/>
          </a:xfrm>
          <a:prstGeom prst="rect">
            <a:avLst/>
          </a:prstGeom>
        </p:spPr>
      </p:pic>
      <p:sp>
        <p:nvSpPr>
          <p:cNvPr id="16" name="Text 10"/>
          <p:cNvSpPr txBox="1"/>
          <p:nvPr/>
        </p:nvSpPr>
        <p:spPr>
          <a:xfrm>
            <a:off x="1691640" y="4800600"/>
            <a:ext cx="3749040" cy="1325880"/>
          </a:xfrm>
          <a:prstGeom prst="rect">
            <a:avLst/>
          </a:prstGeom>
          <a:noFill/>
          <a:ln/>
        </p:spPr>
        <p:txBody>
          <a:bodyPr wrap="square" lIns="0" tIns="0" rIns="0" bIns="0" rtlCol="0" anchor="ctr"/>
          <a:lstStyle/>
          <a:p>
            <a:pPr indent="0" marL="0">
              <a:spcAft>
                <a:spcPts val="400"/>
              </a:spcAft>
              <a:buNone/>
            </a:pPr>
            <a:r>
              <a:rPr lang="en-US" sz="1900" b="1" dirty="0">
                <a:solidFill>
                  <a:schemeClr val="tx2"/>
                </a:solidFill>
              </a:rPr>
              <a:t>Yerel platformlar</a:t>
            </a:r>
            <a:endParaRPr lang="en-US" sz="1900" dirty="0"/>
          </a:p>
          <a:p>
            <a:pPr indent="0" marL="0">
              <a:spcAft>
                <a:spcPts val="400"/>
              </a:spcAft>
              <a:buNone/>
            </a:pPr>
            <a:r>
              <a:rPr lang="en-US" sz="1500" dirty="0">
                <a:solidFill>
                  <a:schemeClr val="tx1"/>
                </a:solidFill>
              </a:rPr>
              <a:t>Kariyer.net, Techcareer.net, Youthall</a:t>
            </a:r>
            <a:endParaRPr lang="en-US" sz="1900" dirty="0"/>
          </a:p>
        </p:txBody>
      </p:sp>
      <p:sp>
        <p:nvSpPr>
          <p:cNvPr id="17" name="teknopark-karti"/>
          <p:cNvSpPr/>
          <p:nvPr/>
        </p:nvSpPr>
        <p:spPr>
          <a:xfrm>
            <a:off x="6035040" y="1691640"/>
            <a:ext cx="5608015" cy="4434840"/>
          </a:xfrm>
          <a:prstGeom prst="roundRect">
            <a:avLst>
              <a:gd name="adj" fmla="val 1649"/>
            </a:avLst>
          </a:prstGeom>
          <a:solidFill>
            <a:schemeClr val="accent1"/>
          </a:solidFill>
          <a:ln/>
        </p:spPr>
      </p:sp>
      <p:pic>
        <p:nvPicPr>
          <p:cNvPr id="18" name="Image 3" descr="/tmp/claude-1000/-home-kayra-Desktop-github-repolarim-kurslar/7c51a3db-9362-42b2-874a-4dd707c7318f/scratchpad/deck/img/yildiz.png">    </p:cNvPr>
          <p:cNvPicPr>
            <a:picLocks noChangeAspect="1"/>
          </p:cNvPicPr>
          <p:nvPr/>
        </p:nvPicPr>
        <p:blipFill>
          <a:blip r:embed="rId4">
            <a:alphaModFix amt="70000"/>
          </a:blip>
          <a:stretch>
            <a:fillRect/>
          </a:stretch>
        </p:blipFill>
        <p:spPr>
          <a:xfrm>
            <a:off x="10042855" y="1920240"/>
            <a:ext cx="1325880" cy="1367971"/>
          </a:xfrm>
          <a:prstGeom prst="rect">
            <a:avLst/>
          </a:prstGeom>
        </p:spPr>
      </p:pic>
      <p:sp>
        <p:nvSpPr>
          <p:cNvPr id="19" name="Text 12"/>
          <p:cNvSpPr txBox="1"/>
          <p:nvPr/>
        </p:nvSpPr>
        <p:spPr>
          <a:xfrm>
            <a:off x="6400800" y="1965960"/>
            <a:ext cx="3504895" cy="1097280"/>
          </a:xfrm>
          <a:prstGeom prst="rect">
            <a:avLst/>
          </a:prstGeom>
          <a:noFill/>
          <a:ln/>
        </p:spPr>
        <p:txBody>
          <a:bodyPr wrap="square" lIns="0" tIns="0" rIns="0" bIns="0" rtlCol="0" anchor="t"/>
          <a:lstStyle/>
          <a:p>
            <a:pPr indent="0" marL="0">
              <a:buNone/>
            </a:pPr>
            <a:r>
              <a:rPr lang="en-US" sz="2200" b="1" dirty="0">
                <a:solidFill>
                  <a:schemeClr val="bg1"/>
                </a:solidFill>
              </a:rPr>
              <a:t>YTÜ Yıldız Teknopark</a:t>
            </a:r>
            <a:endParaRPr lang="en-US" sz="2200" dirty="0"/>
          </a:p>
          <a:p>
            <a:pPr indent="0" marL="0">
              <a:buNone/>
            </a:pPr>
            <a:r>
              <a:rPr lang="en-US" sz="1600" dirty="0">
                <a:solidFill>
                  <a:schemeClr val="accent2"/>
                </a:solidFill>
              </a:rPr>
              <a:t>Firmalarımız sayfası</a:t>
            </a:r>
            <a:endParaRPr lang="en-US" sz="2200" dirty="0"/>
          </a:p>
        </p:txBody>
      </p:sp>
      <p:sp>
        <p:nvSpPr>
          <p:cNvPr id="20" name="Text 13"/>
          <p:cNvSpPr txBox="1"/>
          <p:nvPr/>
        </p:nvSpPr>
        <p:spPr>
          <a:xfrm>
            <a:off x="6400800" y="3291840"/>
            <a:ext cx="4876495" cy="2103120"/>
          </a:xfrm>
          <a:prstGeom prst="rect">
            <a:avLst/>
          </a:prstGeom>
          <a:noFill/>
          <a:ln/>
        </p:spPr>
        <p:txBody>
          <a:bodyPr wrap="square" lIns="0" tIns="0" rIns="0" bIns="0" rtlCol="0" anchor="t"/>
          <a:lstStyle/>
          <a:p>
            <a:pPr indent="0" marL="0">
              <a:spcAft>
                <a:spcPts val="600"/>
              </a:spcAft>
              <a:buNone/>
            </a:pPr>
            <a:r>
              <a:rPr lang="en-US" sz="5400" b="1" dirty="0">
                <a:solidFill>
                  <a:schemeClr val="accent2"/>
                </a:solidFill>
                <a:latin typeface="Cambria" pitchFamily="34" charset="0"/>
                <a:ea typeface="Cambria" pitchFamily="34" charset="-122"/>
                <a:cs typeface="Cambria" pitchFamily="34" charset="-120"/>
              </a:rPr>
              <a:t>750+</a:t>
            </a:r>
            <a:endParaRPr lang="en-US" sz="5400" dirty="0"/>
          </a:p>
          <a:p>
            <a:pPr indent="0" marL="0">
              <a:spcAft>
                <a:spcPts val="600"/>
              </a:spcAft>
              <a:buNone/>
            </a:pPr>
            <a:r>
              <a:rPr lang="en-US" sz="1600" dirty="0">
                <a:solidFill>
                  <a:schemeClr val="bg2"/>
                </a:solidFill>
              </a:rPr>
              <a:t>firma, 14.500+ çalışan</a:t>
            </a:r>
            <a:endParaRPr lang="en-US" sz="5400" dirty="0"/>
          </a:p>
          <a:p>
            <a:pPr indent="0" marL="0">
              <a:spcAft>
                <a:spcPts val="600"/>
              </a:spcAft>
              <a:buNone/>
            </a:pPr>
            <a:r>
              <a:rPr lang="en-US" sz="1600" b="1" dirty="0">
                <a:solidFill>
                  <a:schemeClr val="bg1"/>
                </a:solidFill>
              </a:rPr>
              <a:t>İlan açılmadan önce hedef listenizi çıkarın.</a:t>
            </a:r>
            <a:endParaRPr lang="en-US" sz="5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170"/>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1" type="body" hasCustomPrompt="1"/>
          </p:nvPr>
        </p:nvSpPr>
        <p:spPr>
          <a:xfrm>
            <a:off x="548640" y="320040"/>
            <a:ext cx="8778240" cy="320040"/>
          </a:xfrm>
          <a:prstGeom prst="rect">
            <a:avLst/>
          </a:prstGeom>
          <a:noFill/>
          <a:ln/>
        </p:spPr>
        <p:txBody>
          <a:bodyPr wrap="square" lIns="0" tIns="0" rIns="0" bIns="0" rtlCol="0" anchor="ctr"/>
          <a:lstStyle/>
          <a:p>
            <a:pPr indent="0" marL="0">
              <a:buNone/>
            </a:pPr>
            <a:r>
              <a:rPr lang="en-US" sz="1300" b="1" spc="200" kern="0" dirty="0">
                <a:solidFill>
                  <a:schemeClr val="accent3"/>
                </a:solidFill>
              </a:rPr>
              <a:t>03 · İLAN BULMA</a:t>
            </a:r>
            <a:endParaRPr lang="en-US" sz="1300" dirty="0"/>
          </a:p>
        </p:txBody>
      </p:sp>
      <p:sp>
        <p:nvSpPr>
          <p:cNvPr id="3" name="Text 0"/>
          <p:cNvSpPr/>
          <p:nvPr>
            <p:ph idx="102" type="title" hasCustomPrompt="1"/>
          </p:nvPr>
        </p:nvSpPr>
        <p:spPr>
          <a:xfrm>
            <a:off x="548640" y="658368"/>
            <a:ext cx="9052560" cy="731520"/>
          </a:xfrm>
          <a:prstGeom prst="rect">
            <a:avLst/>
          </a:prstGeom>
          <a:noFill/>
          <a:ln/>
        </p:spPr>
        <p:txBody>
          <a:bodyPr wrap="square" lIns="0" tIns="0" rIns="0" bIns="0" rtlCol="0" anchor="t"/>
          <a:lstStyle/>
          <a:p>
            <a:pPr algn="l" indent="0" marL="0">
              <a:buNone/>
            </a:pPr>
            <a:r>
              <a:rPr lang="en-US" sz="3400" b="1" dirty="0">
                <a:solidFill>
                  <a:schemeClr val="tx2"/>
                </a:solidFill>
              </a:rPr>
              <a:t>Akıllı Filtre</a:t>
            </a:r>
            <a:endParaRPr lang="en-US" sz="3400" dirty="0"/>
          </a:p>
        </p:txBody>
      </p:sp>
      <p:sp>
        <p:nvSpPr>
          <p:cNvPr id="5" name="Shape 2"/>
          <p:cNvSpPr/>
          <p:nvPr/>
        </p:nvSpPr>
        <p:spPr>
          <a:xfrm>
            <a:off x="548640" y="1764792"/>
            <a:ext cx="566928" cy="566928"/>
          </a:xfrm>
          <a:prstGeom prst="ellipse">
            <a:avLst/>
          </a:prstGeom>
          <a:solidFill>
            <a:schemeClr val="accent2"/>
          </a:solidFill>
          <a:ln/>
        </p:spPr>
      </p:sp>
      <p:sp>
        <p:nvSpPr>
          <p:cNvPr id="6" name="Text 3"/>
          <p:cNvSpPr txBox="1"/>
          <p:nvPr/>
        </p:nvSpPr>
        <p:spPr>
          <a:xfrm>
            <a:off x="548640" y="1764792"/>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7" name="Text 4"/>
          <p:cNvSpPr txBox="1"/>
          <p:nvPr/>
        </p:nvSpPr>
        <p:spPr>
          <a:xfrm>
            <a:off x="1371600" y="1691640"/>
            <a:ext cx="6766560" cy="822960"/>
          </a:xfrm>
          <a:prstGeom prst="rect">
            <a:avLst/>
          </a:prstGeom>
          <a:noFill/>
          <a:ln/>
        </p:spPr>
        <p:txBody>
          <a:bodyPr wrap="square" lIns="0" tIns="0" rIns="0" bIns="0" rtlCol="0" anchor="t"/>
          <a:lstStyle/>
          <a:p>
            <a:pPr indent="0" marL="0">
              <a:buNone/>
            </a:pPr>
            <a:r>
              <a:rPr lang="en-US" sz="1900" b="1" dirty="0">
                <a:solidFill>
                  <a:schemeClr val="tx2"/>
                </a:solidFill>
              </a:rPr>
              <a:t>Aktif mi?</a:t>
            </a:r>
            <a:endParaRPr lang="en-US" sz="1900" dirty="0"/>
          </a:p>
          <a:p>
            <a:pPr indent="0" marL="0">
              <a:buNone/>
            </a:pPr>
            <a:r>
              <a:rPr lang="en-US" sz="1500" dirty="0">
                <a:solidFill>
                  <a:schemeClr val="tx1"/>
                </a:solidFill>
              </a:rPr>
              <a:t>"Başvuru kabul etmiyor" uyarısı varsa veya Başvur butonu yoksa ele</a:t>
            </a:r>
            <a:endParaRPr lang="en-US" sz="1900" dirty="0"/>
          </a:p>
        </p:txBody>
      </p:sp>
      <p:sp>
        <p:nvSpPr>
          <p:cNvPr id="8" name="Shape 5"/>
          <p:cNvSpPr/>
          <p:nvPr/>
        </p:nvSpPr>
        <p:spPr>
          <a:xfrm>
            <a:off x="548640" y="2697480"/>
            <a:ext cx="566928" cy="566928"/>
          </a:xfrm>
          <a:prstGeom prst="ellipse">
            <a:avLst/>
          </a:prstGeom>
          <a:solidFill>
            <a:schemeClr val="accent2"/>
          </a:solidFill>
          <a:ln/>
        </p:spPr>
      </p:sp>
      <p:sp>
        <p:nvSpPr>
          <p:cNvPr id="9" name="Text 6"/>
          <p:cNvSpPr txBox="1"/>
          <p:nvPr/>
        </p:nvSpPr>
        <p:spPr>
          <a:xfrm>
            <a:off x="548640" y="2697480"/>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10" name="Text 7"/>
          <p:cNvSpPr txBox="1"/>
          <p:nvPr/>
        </p:nvSpPr>
        <p:spPr>
          <a:xfrm>
            <a:off x="1371600" y="2624328"/>
            <a:ext cx="6766560" cy="822960"/>
          </a:xfrm>
          <a:prstGeom prst="rect">
            <a:avLst/>
          </a:prstGeom>
          <a:noFill/>
          <a:ln/>
        </p:spPr>
        <p:txBody>
          <a:bodyPr wrap="square" lIns="0" tIns="0" rIns="0" bIns="0" rtlCol="0" anchor="t"/>
          <a:lstStyle/>
          <a:p>
            <a:pPr indent="0" marL="0">
              <a:buNone/>
            </a:pPr>
            <a:r>
              <a:rPr lang="en-US" sz="1900" b="1" dirty="0">
                <a:solidFill>
                  <a:schemeClr val="tx2"/>
                </a:solidFill>
              </a:rPr>
              <a:t>Daha önce başvurdum mu?</a:t>
            </a:r>
            <a:endParaRPr lang="en-US" sz="1900" dirty="0"/>
          </a:p>
          <a:p>
            <a:pPr indent="0" marL="0">
              <a:buNone/>
            </a:pPr>
            <a:r>
              <a:rPr lang="en-US" sz="1500" dirty="0">
                <a:solidFill>
                  <a:schemeClr val="tx1"/>
                </a:solidFill>
              </a:rPr>
              <a:t>Depodaki ilan bağlantıları ve LinkedIn "Applied" etiketi</a:t>
            </a:r>
            <a:endParaRPr lang="en-US" sz="1900" dirty="0"/>
          </a:p>
        </p:txBody>
      </p:sp>
      <p:sp>
        <p:nvSpPr>
          <p:cNvPr id="11" name="Shape 8"/>
          <p:cNvSpPr/>
          <p:nvPr/>
        </p:nvSpPr>
        <p:spPr>
          <a:xfrm>
            <a:off x="548640" y="3630168"/>
            <a:ext cx="566928" cy="566928"/>
          </a:xfrm>
          <a:prstGeom prst="ellipse">
            <a:avLst/>
          </a:prstGeom>
          <a:solidFill>
            <a:schemeClr val="accent2"/>
          </a:solidFill>
          <a:ln/>
        </p:spPr>
      </p:sp>
      <p:sp>
        <p:nvSpPr>
          <p:cNvPr id="12" name="Text 9"/>
          <p:cNvSpPr txBox="1"/>
          <p:nvPr/>
        </p:nvSpPr>
        <p:spPr>
          <a:xfrm>
            <a:off x="548640" y="3630168"/>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13" name="Text 10"/>
          <p:cNvSpPr txBox="1"/>
          <p:nvPr/>
        </p:nvSpPr>
        <p:spPr>
          <a:xfrm>
            <a:off x="1371600" y="3557016"/>
            <a:ext cx="6766560" cy="822960"/>
          </a:xfrm>
          <a:prstGeom prst="rect">
            <a:avLst/>
          </a:prstGeom>
          <a:noFill/>
          <a:ln/>
        </p:spPr>
        <p:txBody>
          <a:bodyPr wrap="square" lIns="0" tIns="0" rIns="0" bIns="0" rtlCol="0" anchor="t"/>
          <a:lstStyle/>
          <a:p>
            <a:pPr indent="0" marL="0">
              <a:buNone/>
            </a:pPr>
            <a:r>
              <a:rPr lang="en-US" sz="1900" b="1" dirty="0">
                <a:solidFill>
                  <a:schemeClr val="tx2"/>
                </a:solidFill>
              </a:rPr>
              <a:t>Ham metni çek</a:t>
            </a:r>
            <a:endParaRPr lang="en-US" sz="1900" dirty="0"/>
          </a:p>
          <a:p>
            <a:pPr indent="0" marL="0">
              <a:buNone/>
            </a:pPr>
            <a:r>
              <a:rPr lang="en-US" sz="1500" dirty="0">
                <a:solidFill>
                  <a:schemeClr val="tx1"/>
                </a:solidFill>
              </a:rPr>
              <a:t>LinkedIn guest endpoint + curl ile IS_ILANI.md</a:t>
            </a:r>
            <a:endParaRPr lang="en-US" sz="1900" dirty="0"/>
          </a:p>
        </p:txBody>
      </p:sp>
      <p:sp>
        <p:nvSpPr>
          <p:cNvPr id="14" name="Shape 11"/>
          <p:cNvSpPr/>
          <p:nvPr/>
        </p:nvSpPr>
        <p:spPr>
          <a:xfrm>
            <a:off x="548640" y="4562856"/>
            <a:ext cx="566928" cy="566928"/>
          </a:xfrm>
          <a:prstGeom prst="ellipse">
            <a:avLst/>
          </a:prstGeom>
          <a:solidFill>
            <a:schemeClr val="accent2"/>
          </a:solidFill>
          <a:ln/>
        </p:spPr>
      </p:sp>
      <p:sp>
        <p:nvSpPr>
          <p:cNvPr id="15" name="Text 12"/>
          <p:cNvSpPr txBox="1"/>
          <p:nvPr/>
        </p:nvSpPr>
        <p:spPr>
          <a:xfrm>
            <a:off x="548640" y="4562856"/>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rPr>
              <a:t>4</a:t>
            </a:r>
            <a:endParaRPr lang="en-US" sz="2000" dirty="0"/>
          </a:p>
        </p:txBody>
      </p:sp>
      <p:sp>
        <p:nvSpPr>
          <p:cNvPr id="16" name="Text 13"/>
          <p:cNvSpPr txBox="1"/>
          <p:nvPr/>
        </p:nvSpPr>
        <p:spPr>
          <a:xfrm>
            <a:off x="1371600" y="4489704"/>
            <a:ext cx="6766560" cy="822960"/>
          </a:xfrm>
          <a:prstGeom prst="rect">
            <a:avLst/>
          </a:prstGeom>
          <a:noFill/>
          <a:ln/>
        </p:spPr>
        <p:txBody>
          <a:bodyPr wrap="square" lIns="0" tIns="0" rIns="0" bIns="0" rtlCol="0" anchor="t"/>
          <a:lstStyle/>
          <a:p>
            <a:pPr indent="0" marL="0">
              <a:buNone/>
            </a:pPr>
            <a:r>
              <a:rPr lang="en-US" sz="1900" b="1" dirty="0">
                <a:solidFill>
                  <a:schemeClr val="tx2"/>
                </a:solidFill>
              </a:rPr>
              <a:t>Eşleştir</a:t>
            </a:r>
            <a:endParaRPr lang="en-US" sz="1900" dirty="0"/>
          </a:p>
          <a:p>
            <a:pPr indent="0" marL="0">
              <a:buNone/>
            </a:pPr>
            <a:r>
              <a:rPr lang="en-US" sz="1500" dirty="0">
                <a:solidFill>
                  <a:schemeClr val="tx1"/>
                </a:solidFill>
              </a:rPr>
              <a:t>CV seç veya üret; son kontrol insanda</a:t>
            </a:r>
            <a:endParaRPr lang="en-US" sz="1900" dirty="0"/>
          </a:p>
        </p:txBody>
      </p:sp>
      <p:sp>
        <p:nvSpPr>
          <p:cNvPr id="17" name="huni"/>
          <p:cNvSpPr/>
          <p:nvPr/>
        </p:nvSpPr>
        <p:spPr>
          <a:xfrm>
            <a:off x="8412480" y="1783080"/>
            <a:ext cx="3230575" cy="640080"/>
          </a:xfrm>
          <a:prstGeom prst="roundRect">
            <a:avLst>
              <a:gd name="adj" fmla="val 11429"/>
            </a:avLst>
          </a:prstGeom>
          <a:solidFill>
            <a:schemeClr val="accent1"/>
          </a:solidFill>
          <a:ln/>
        </p:spPr>
      </p:sp>
      <p:sp>
        <p:nvSpPr>
          <p:cNvPr id="18" name="huni"/>
          <p:cNvSpPr/>
          <p:nvPr/>
        </p:nvSpPr>
        <p:spPr>
          <a:xfrm>
            <a:off x="8735538" y="2715768"/>
            <a:ext cx="2584460" cy="640080"/>
          </a:xfrm>
          <a:prstGeom prst="roundRect">
            <a:avLst>
              <a:gd name="adj" fmla="val 11429"/>
            </a:avLst>
          </a:prstGeom>
          <a:solidFill>
            <a:schemeClr val="accent1">
              <a:alpha val="82000"/>
            </a:schemeClr>
          </a:solidFill>
          <a:ln/>
        </p:spPr>
      </p:sp>
      <p:sp>
        <p:nvSpPr>
          <p:cNvPr id="19" name="huni"/>
          <p:cNvSpPr/>
          <p:nvPr/>
        </p:nvSpPr>
        <p:spPr>
          <a:xfrm>
            <a:off x="9058595" y="3648456"/>
            <a:ext cx="1938345" cy="640080"/>
          </a:xfrm>
          <a:prstGeom prst="roundRect">
            <a:avLst>
              <a:gd name="adj" fmla="val 11429"/>
            </a:avLst>
          </a:prstGeom>
          <a:solidFill>
            <a:schemeClr val="accent1">
              <a:alpha val="64000"/>
            </a:schemeClr>
          </a:solidFill>
          <a:ln/>
        </p:spPr>
      </p:sp>
      <p:sp>
        <p:nvSpPr>
          <p:cNvPr id="20" name="huni"/>
          <p:cNvSpPr/>
          <p:nvPr/>
        </p:nvSpPr>
        <p:spPr>
          <a:xfrm>
            <a:off x="9381653" y="4581144"/>
            <a:ext cx="1292230" cy="640080"/>
          </a:xfrm>
          <a:prstGeom prst="roundRect">
            <a:avLst>
              <a:gd name="adj" fmla="val 11429"/>
            </a:avLst>
          </a:prstGeom>
          <a:solidFill>
            <a:schemeClr val="accent1">
              <a:alpha val="46000"/>
            </a:schemeClr>
          </a:solidFill>
          <a:ln/>
        </p:spPr>
      </p:sp>
      <p:sp>
        <p:nvSpPr>
          <p:cNvPr id="21" name="Text 18"/>
          <p:cNvSpPr txBox="1"/>
          <p:nvPr/>
        </p:nvSpPr>
        <p:spPr>
          <a:xfrm>
            <a:off x="8412480" y="1783080"/>
            <a:ext cx="3230575" cy="640080"/>
          </a:xfrm>
          <a:prstGeom prst="rect">
            <a:avLst/>
          </a:prstGeom>
          <a:noFill/>
          <a:ln/>
        </p:spPr>
        <p:txBody>
          <a:bodyPr wrap="square" lIns="0" tIns="0" rIns="0" bIns="0" rtlCol="0" anchor="ctr"/>
          <a:lstStyle/>
          <a:p>
            <a:pPr algn="ctr" indent="0" marL="0">
              <a:buNone/>
            </a:pPr>
            <a:r>
              <a:rPr lang="en-US" sz="1500" b="1" dirty="0">
                <a:solidFill>
                  <a:schemeClr val="bg1"/>
                </a:solidFill>
              </a:rPr>
              <a:t>İlan havuzu</a:t>
            </a:r>
            <a:endParaRPr lang="en-US" sz="1500" dirty="0"/>
          </a:p>
        </p:txBody>
      </p:sp>
      <p:sp>
        <p:nvSpPr>
          <p:cNvPr id="22" name="Text 19"/>
          <p:cNvSpPr txBox="1"/>
          <p:nvPr/>
        </p:nvSpPr>
        <p:spPr>
          <a:xfrm>
            <a:off x="8412480" y="4581144"/>
            <a:ext cx="3230575" cy="640080"/>
          </a:xfrm>
          <a:prstGeom prst="rect">
            <a:avLst/>
          </a:prstGeom>
          <a:noFill/>
          <a:ln/>
        </p:spPr>
        <p:txBody>
          <a:bodyPr wrap="square" lIns="0" tIns="0" rIns="0" bIns="0" rtlCol="0" anchor="ctr"/>
          <a:lstStyle/>
          <a:p>
            <a:pPr algn="ctr" indent="0" marL="0">
              <a:buNone/>
            </a:pPr>
            <a:r>
              <a:rPr lang="en-US" sz="1500" b="1" dirty="0">
                <a:solidFill>
                  <a:schemeClr val="bg1"/>
                </a:solidFill>
              </a:rPr>
              <a:t>Başvuru</a:t>
            </a:r>
            <a:endParaRPr lang="en-US" sz="1500" dirty="0"/>
          </a:p>
        </p:txBody>
      </p:sp>
      <p:sp>
        <p:nvSpPr>
          <p:cNvPr id="23" name="kart"/>
          <p:cNvSpPr/>
          <p:nvPr/>
        </p:nvSpPr>
        <p:spPr>
          <a:xfrm>
            <a:off x="548640" y="5486400"/>
            <a:ext cx="11094415" cy="640080"/>
          </a:xfrm>
          <a:prstGeom prst="roundRect">
            <a:avLst>
              <a:gd name="adj" fmla="val 11429"/>
            </a:avLst>
          </a:prstGeom>
          <a:solidFill>
            <a:schemeClr val="accent4">
              <a:alpha val="10000"/>
            </a:schemeClr>
          </a:solidFill>
          <a:ln/>
        </p:spPr>
      </p:sp>
      <p:sp>
        <p:nvSpPr>
          <p:cNvPr id="24" name="ikon-daire"/>
          <p:cNvSpPr/>
          <p:nvPr/>
        </p:nvSpPr>
        <p:spPr>
          <a:xfrm>
            <a:off x="731520" y="5559552"/>
            <a:ext cx="493776" cy="493776"/>
          </a:xfrm>
          <a:prstGeom prst="ellipse">
            <a:avLst/>
          </a:prstGeom>
          <a:solidFill>
            <a:schemeClr val="accent4"/>
          </a:solidFill>
          <a:ln/>
        </p:spPr>
      </p:sp>
      <p:pic>
        <p:nvPicPr>
          <p:cNvPr id="25" name="ikon" descr="preencoded.png">    </p:cNvPr>
          <p:cNvPicPr>
            <a:picLocks noChangeAspect="1"/>
          </p:cNvPicPr>
          <p:nvPr/>
        </p:nvPicPr>
        <p:blipFill>
          <a:blip r:embed="rId1"/>
          <a:stretch>
            <a:fillRect/>
          </a:stretch>
        </p:blipFill>
        <p:spPr>
          <a:xfrm>
            <a:off x="854964" y="5682996"/>
            <a:ext cx="246888" cy="246888"/>
          </a:xfrm>
          <a:prstGeom prst="rect">
            <a:avLst/>
          </a:prstGeom>
        </p:spPr>
      </p:pic>
      <p:sp>
        <p:nvSpPr>
          <p:cNvPr id="26" name="Text 22"/>
          <p:cNvSpPr txBox="1"/>
          <p:nvPr/>
        </p:nvSpPr>
        <p:spPr>
          <a:xfrm>
            <a:off x="1417320" y="5486400"/>
            <a:ext cx="9997135" cy="640080"/>
          </a:xfrm>
          <a:prstGeom prst="rect">
            <a:avLst/>
          </a:prstGeom>
          <a:noFill/>
          <a:ln/>
        </p:spPr>
        <p:txBody>
          <a:bodyPr wrap="square" lIns="0" tIns="0" rIns="0" bIns="0" rtlCol="0" anchor="ctr"/>
          <a:lstStyle/>
          <a:p>
            <a:pPr indent="0" marL="0">
              <a:buNone/>
            </a:pPr>
            <a:r>
              <a:rPr lang="en-US" sz="1500" dirty="0">
                <a:solidFill>
                  <a:schemeClr val="tx1"/>
                </a:solidFill>
              </a:rPr>
              <a:t>Kişisel kullanım, düşük hacim. Platform kullanım koşullarına uyun.</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170"/>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1" type="body" hasCustomPrompt="1"/>
          </p:nvPr>
        </p:nvSpPr>
        <p:spPr>
          <a:xfrm>
            <a:off x="548640" y="320040"/>
            <a:ext cx="8778240" cy="320040"/>
          </a:xfrm>
          <a:prstGeom prst="rect">
            <a:avLst/>
          </a:prstGeom>
          <a:noFill/>
          <a:ln/>
        </p:spPr>
        <p:txBody>
          <a:bodyPr wrap="square" lIns="0" tIns="0" rIns="0" bIns="0" rtlCol="0" anchor="ctr"/>
          <a:lstStyle/>
          <a:p>
            <a:pPr indent="0" marL="0">
              <a:buNone/>
            </a:pPr>
            <a:r>
              <a:rPr lang="en-US" sz="1300" b="1" spc="200" kern="0" dirty="0">
                <a:solidFill>
                  <a:schemeClr val="accent3"/>
                </a:solidFill>
              </a:rPr>
              <a:t>03 · İLAN BULMA</a:t>
            </a:r>
            <a:endParaRPr lang="en-US" sz="1300" dirty="0"/>
          </a:p>
        </p:txBody>
      </p:sp>
      <p:sp>
        <p:nvSpPr>
          <p:cNvPr id="3" name="Text 0"/>
          <p:cNvSpPr/>
          <p:nvPr>
            <p:ph idx="102" type="title" hasCustomPrompt="1"/>
          </p:nvPr>
        </p:nvSpPr>
        <p:spPr>
          <a:xfrm>
            <a:off x="548640" y="658368"/>
            <a:ext cx="9052560" cy="731520"/>
          </a:xfrm>
          <a:prstGeom prst="rect">
            <a:avLst/>
          </a:prstGeom>
          <a:noFill/>
          <a:ln/>
        </p:spPr>
        <p:txBody>
          <a:bodyPr wrap="square" lIns="0" tIns="0" rIns="0" bIns="0" rtlCol="0" anchor="t"/>
          <a:lstStyle/>
          <a:p>
            <a:pPr algn="l" indent="0" marL="0">
              <a:buNone/>
            </a:pPr>
            <a:r>
              <a:rPr lang="en-US" sz="3400" b="1" dirty="0">
                <a:solidFill>
                  <a:schemeClr val="tx2"/>
                </a:solidFill>
              </a:rPr>
              <a:t>Gizli Pazar: Doğrudan İletişim</a:t>
            </a:r>
            <a:endParaRPr lang="en-US" sz="3400" dirty="0"/>
          </a:p>
        </p:txBody>
      </p:sp>
      <p:sp>
        <p:nvSpPr>
          <p:cNvPr id="5" name="ikon-daire"/>
          <p:cNvSpPr/>
          <p:nvPr/>
        </p:nvSpPr>
        <p:spPr>
          <a:xfrm>
            <a:off x="548640" y="1783080"/>
            <a:ext cx="566928" cy="566928"/>
          </a:xfrm>
          <a:prstGeom prst="ellipse">
            <a:avLst/>
          </a:prstGeom>
          <a:solidFill>
            <a:schemeClr val="accent1"/>
          </a:solidFill>
          <a:ln/>
        </p:spPr>
      </p:sp>
      <p:pic>
        <p:nvPicPr>
          <p:cNvPr id="6" name="ikon" descr="preencoded.png">    </p:cNvPr>
          <p:cNvPicPr>
            <a:picLocks noChangeAspect="1"/>
          </p:cNvPicPr>
          <p:nvPr/>
        </p:nvPicPr>
        <p:blipFill>
          <a:blip r:embed="rId1"/>
          <a:stretch>
            <a:fillRect/>
          </a:stretch>
        </p:blipFill>
        <p:spPr>
          <a:xfrm>
            <a:off x="690372" y="1924812"/>
            <a:ext cx="283464" cy="283464"/>
          </a:xfrm>
          <a:prstGeom prst="rect">
            <a:avLst/>
          </a:prstGeom>
        </p:spPr>
      </p:pic>
      <p:sp>
        <p:nvSpPr>
          <p:cNvPr id="7" name="Text 3"/>
          <p:cNvSpPr txBox="1"/>
          <p:nvPr/>
        </p:nvSpPr>
        <p:spPr>
          <a:xfrm>
            <a:off x="1344168" y="1737360"/>
            <a:ext cx="4325112" cy="868680"/>
          </a:xfrm>
          <a:prstGeom prst="rect">
            <a:avLst/>
          </a:prstGeom>
          <a:noFill/>
          <a:ln/>
        </p:spPr>
        <p:txBody>
          <a:bodyPr wrap="square" lIns="0" tIns="0" rIns="0" bIns="0" rtlCol="0" anchor="t"/>
          <a:lstStyle/>
          <a:p>
            <a:pPr indent="0" marL="0">
              <a:spcAft>
                <a:spcPts val="200"/>
              </a:spcAft>
              <a:buNone/>
            </a:pPr>
            <a:r>
              <a:rPr lang="en-US" sz="1800" b="1" dirty="0">
                <a:solidFill>
                  <a:schemeClr val="tx2"/>
                </a:solidFill>
              </a:rPr>
              <a:t>Hedef şirket listesi</a:t>
            </a:r>
            <a:endParaRPr lang="en-US" sz="1800" dirty="0"/>
          </a:p>
          <a:p>
            <a:pPr indent="0" marL="0">
              <a:spcAft>
                <a:spcPts val="200"/>
              </a:spcAft>
              <a:buNone/>
            </a:pPr>
            <a:r>
              <a:rPr lang="en-US" sz="1500" dirty="0">
                <a:solidFill>
                  <a:schemeClr val="tx1"/>
                </a:solidFill>
              </a:rPr>
              <a:t>Şehir ve alan filtresiyle</a:t>
            </a:r>
            <a:endParaRPr lang="en-US" sz="1800" dirty="0"/>
          </a:p>
        </p:txBody>
      </p:sp>
      <p:sp>
        <p:nvSpPr>
          <p:cNvPr id="8" name="ikon-daire"/>
          <p:cNvSpPr/>
          <p:nvPr/>
        </p:nvSpPr>
        <p:spPr>
          <a:xfrm>
            <a:off x="548640" y="2807208"/>
            <a:ext cx="566928" cy="566928"/>
          </a:xfrm>
          <a:prstGeom prst="ellipse">
            <a:avLst/>
          </a:prstGeom>
          <a:solidFill>
            <a:schemeClr val="accent1"/>
          </a:solidFill>
          <a:ln/>
        </p:spPr>
      </p:sp>
      <p:pic>
        <p:nvPicPr>
          <p:cNvPr id="9" name="ikon" descr="preencoded.png">    </p:cNvPr>
          <p:cNvPicPr>
            <a:picLocks noChangeAspect="1"/>
          </p:cNvPicPr>
          <p:nvPr/>
        </p:nvPicPr>
        <p:blipFill>
          <a:blip r:embed="rId2"/>
          <a:stretch>
            <a:fillRect/>
          </a:stretch>
        </p:blipFill>
        <p:spPr>
          <a:xfrm>
            <a:off x="690372" y="2948940"/>
            <a:ext cx="283464" cy="283464"/>
          </a:xfrm>
          <a:prstGeom prst="rect">
            <a:avLst/>
          </a:prstGeom>
        </p:spPr>
      </p:pic>
      <p:sp>
        <p:nvSpPr>
          <p:cNvPr id="10" name="Text 5"/>
          <p:cNvSpPr txBox="1"/>
          <p:nvPr/>
        </p:nvSpPr>
        <p:spPr>
          <a:xfrm>
            <a:off x="1344168" y="2761488"/>
            <a:ext cx="4325112" cy="868680"/>
          </a:xfrm>
          <a:prstGeom prst="rect">
            <a:avLst/>
          </a:prstGeom>
          <a:noFill/>
          <a:ln/>
        </p:spPr>
        <p:txBody>
          <a:bodyPr wrap="square" lIns="0" tIns="0" rIns="0" bIns="0" rtlCol="0" anchor="t"/>
          <a:lstStyle/>
          <a:p>
            <a:pPr indent="0" marL="0">
              <a:spcAft>
                <a:spcPts val="200"/>
              </a:spcAft>
              <a:buNone/>
            </a:pPr>
            <a:r>
              <a:rPr lang="en-US" sz="1800" b="1" dirty="0">
                <a:solidFill>
                  <a:schemeClr val="tx2"/>
                </a:solidFill>
              </a:rPr>
              <a:t>Doğru kişi</a:t>
            </a:r>
            <a:endParaRPr lang="en-US" sz="1800" dirty="0"/>
          </a:p>
          <a:p>
            <a:pPr indent="0" marL="0">
              <a:spcAft>
                <a:spcPts val="200"/>
              </a:spcAft>
              <a:buNone/>
            </a:pPr>
            <a:r>
              <a:rPr lang="en-US" sz="1500" dirty="0">
                <a:solidFill>
                  <a:schemeClr val="tx1"/>
                </a:solidFill>
              </a:rPr>
              <a:t>İşe alım uzmanı veya teknik yönetici</a:t>
            </a:r>
            <a:endParaRPr lang="en-US" sz="1800" dirty="0"/>
          </a:p>
        </p:txBody>
      </p:sp>
      <p:sp>
        <p:nvSpPr>
          <p:cNvPr id="11" name="ikon-daire"/>
          <p:cNvSpPr/>
          <p:nvPr/>
        </p:nvSpPr>
        <p:spPr>
          <a:xfrm>
            <a:off x="548640" y="3831336"/>
            <a:ext cx="566928" cy="566928"/>
          </a:xfrm>
          <a:prstGeom prst="ellipse">
            <a:avLst/>
          </a:prstGeom>
          <a:solidFill>
            <a:schemeClr val="accent1"/>
          </a:solidFill>
          <a:ln/>
        </p:spPr>
      </p:sp>
      <p:pic>
        <p:nvPicPr>
          <p:cNvPr id="12" name="ikon" descr="preencoded.png">    </p:cNvPr>
          <p:cNvPicPr>
            <a:picLocks noChangeAspect="1"/>
          </p:cNvPicPr>
          <p:nvPr/>
        </p:nvPicPr>
        <p:blipFill>
          <a:blip r:embed="rId3"/>
          <a:stretch>
            <a:fillRect/>
          </a:stretch>
        </p:blipFill>
        <p:spPr>
          <a:xfrm>
            <a:off x="690372" y="3973068"/>
            <a:ext cx="283464" cy="283464"/>
          </a:xfrm>
          <a:prstGeom prst="rect">
            <a:avLst/>
          </a:prstGeom>
        </p:spPr>
      </p:pic>
      <p:sp>
        <p:nvSpPr>
          <p:cNvPr id="13" name="Text 7"/>
          <p:cNvSpPr txBox="1"/>
          <p:nvPr/>
        </p:nvSpPr>
        <p:spPr>
          <a:xfrm>
            <a:off x="1344168" y="3785616"/>
            <a:ext cx="4325112" cy="868680"/>
          </a:xfrm>
          <a:prstGeom prst="rect">
            <a:avLst/>
          </a:prstGeom>
          <a:noFill/>
          <a:ln/>
        </p:spPr>
        <p:txBody>
          <a:bodyPr wrap="square" lIns="0" tIns="0" rIns="0" bIns="0" rtlCol="0" anchor="t"/>
          <a:lstStyle/>
          <a:p>
            <a:pPr indent="0" marL="0">
              <a:spcAft>
                <a:spcPts val="200"/>
              </a:spcAft>
              <a:buNone/>
            </a:pPr>
            <a:r>
              <a:rPr lang="en-US" sz="1800" b="1" dirty="0">
                <a:solidFill>
                  <a:schemeClr val="tx2"/>
                </a:solidFill>
              </a:rPr>
              <a:t>Şirket başına tek dosya</a:t>
            </a:r>
            <a:endParaRPr lang="en-US" sz="1800" dirty="0"/>
          </a:p>
          <a:p>
            <a:pPr indent="0" marL="0">
              <a:spcAft>
                <a:spcPts val="200"/>
              </a:spcAft>
              <a:buNone/>
            </a:pPr>
            <a:r>
              <a:rPr lang="en-US" sz="1500" dirty="0">
                <a:solidFill>
                  <a:schemeClr val="tx1"/>
                </a:solidFill>
              </a:rPr>
              <a:t>Mesaj taslağı ilanın hemen altında</a:t>
            </a:r>
            <a:endParaRPr lang="en-US" sz="1800" dirty="0"/>
          </a:p>
        </p:txBody>
      </p:sp>
      <p:sp>
        <p:nvSpPr>
          <p:cNvPr id="14" name="ikon-daire"/>
          <p:cNvSpPr/>
          <p:nvPr/>
        </p:nvSpPr>
        <p:spPr>
          <a:xfrm>
            <a:off x="548640" y="4855464"/>
            <a:ext cx="566928" cy="566928"/>
          </a:xfrm>
          <a:prstGeom prst="ellipse">
            <a:avLst/>
          </a:prstGeom>
          <a:solidFill>
            <a:schemeClr val="accent4"/>
          </a:solidFill>
          <a:ln/>
        </p:spPr>
      </p:sp>
      <p:pic>
        <p:nvPicPr>
          <p:cNvPr id="15" name="ikon" descr="preencoded.png">    </p:cNvPr>
          <p:cNvPicPr>
            <a:picLocks noChangeAspect="1"/>
          </p:cNvPicPr>
          <p:nvPr/>
        </p:nvPicPr>
        <p:blipFill>
          <a:blip r:embed="rId4"/>
          <a:stretch>
            <a:fillRect/>
          </a:stretch>
        </p:blipFill>
        <p:spPr>
          <a:xfrm>
            <a:off x="690372" y="4997196"/>
            <a:ext cx="283464" cy="283464"/>
          </a:xfrm>
          <a:prstGeom prst="rect">
            <a:avLst/>
          </a:prstGeom>
        </p:spPr>
      </p:pic>
      <p:sp>
        <p:nvSpPr>
          <p:cNvPr id="16" name="Text 9"/>
          <p:cNvSpPr txBox="1"/>
          <p:nvPr/>
        </p:nvSpPr>
        <p:spPr>
          <a:xfrm>
            <a:off x="1344168" y="4809744"/>
            <a:ext cx="4325112" cy="868680"/>
          </a:xfrm>
          <a:prstGeom prst="rect">
            <a:avLst/>
          </a:prstGeom>
          <a:noFill/>
          <a:ln/>
        </p:spPr>
        <p:txBody>
          <a:bodyPr wrap="square" lIns="0" tIns="0" rIns="0" bIns="0" rtlCol="0" anchor="t"/>
          <a:lstStyle/>
          <a:p>
            <a:pPr indent="0" marL="0">
              <a:spcAft>
                <a:spcPts val="200"/>
              </a:spcAft>
              <a:buNone/>
            </a:pPr>
            <a:r>
              <a:rPr lang="en-US" sz="1800" b="1" dirty="0">
                <a:solidFill>
                  <a:schemeClr val="tx2"/>
                </a:solidFill>
              </a:rPr>
              <a:t>Toplu mesaj yok</a:t>
            </a:r>
            <a:endParaRPr lang="en-US" sz="1800" dirty="0"/>
          </a:p>
          <a:p>
            <a:pPr indent="0" marL="0">
              <a:spcAft>
                <a:spcPts val="200"/>
              </a:spcAft>
              <a:buNone/>
            </a:pPr>
            <a:r>
              <a:rPr lang="en-US" sz="1500" dirty="0">
                <a:solidFill>
                  <a:schemeClr val="tx1"/>
                </a:solidFill>
              </a:rPr>
              <a:t>Her mesaj kişiye özel</a:t>
            </a:r>
            <a:endParaRPr lang="en-US" sz="1800" dirty="0"/>
          </a:p>
        </p:txBody>
      </p:sp>
      <p:sp>
        <p:nvSpPr>
          <p:cNvPr id="17" name="kart"/>
          <p:cNvSpPr/>
          <p:nvPr/>
        </p:nvSpPr>
        <p:spPr>
          <a:xfrm>
            <a:off x="6126480" y="1737360"/>
            <a:ext cx="5516575" cy="4114800"/>
          </a:xfrm>
          <a:prstGeom prst="roundRect">
            <a:avLst>
              <a:gd name="adj" fmla="val 1778"/>
            </a:avLst>
          </a:prstGeom>
          <a:solidFill>
            <a:schemeClr val="bg2"/>
          </a:solidFill>
          <a:ln/>
        </p:spPr>
      </p:sp>
      <p:sp>
        <p:nvSpPr>
          <p:cNvPr id="18" name="Text 11"/>
          <p:cNvSpPr txBox="1"/>
          <p:nvPr/>
        </p:nvSpPr>
        <p:spPr>
          <a:xfrm>
            <a:off x="6492240" y="1965960"/>
            <a:ext cx="4785055" cy="365760"/>
          </a:xfrm>
          <a:prstGeom prst="rect">
            <a:avLst/>
          </a:prstGeom>
          <a:noFill/>
          <a:ln/>
        </p:spPr>
        <p:txBody>
          <a:bodyPr wrap="square" lIns="0" tIns="0" rIns="0" bIns="0" rtlCol="0" anchor="ctr"/>
          <a:lstStyle/>
          <a:p>
            <a:pPr indent="0" marL="0">
              <a:buNone/>
            </a:pPr>
            <a:r>
              <a:rPr lang="en-US" sz="1400" b="1" spc="200" kern="0" dirty="0">
                <a:solidFill>
                  <a:schemeClr val="accent3"/>
                </a:solidFill>
              </a:rPr>
              <a:t>MESAJ ŞABLONU</a:t>
            </a:r>
            <a:endParaRPr lang="en-US" sz="1400" dirty="0"/>
          </a:p>
        </p:txBody>
      </p:sp>
      <p:sp>
        <p:nvSpPr>
          <p:cNvPr id="19" name="Text 12"/>
          <p:cNvSpPr txBox="1"/>
          <p:nvPr/>
        </p:nvSpPr>
        <p:spPr>
          <a:xfrm>
            <a:off x="6492240" y="2468880"/>
            <a:ext cx="4785055" cy="3108960"/>
          </a:xfrm>
          <a:prstGeom prst="rect">
            <a:avLst/>
          </a:prstGeom>
          <a:noFill/>
          <a:ln/>
        </p:spPr>
        <p:txBody>
          <a:bodyPr wrap="square" lIns="0" tIns="0" rIns="0" bIns="0" rtlCol="0" anchor="t"/>
          <a:lstStyle/>
          <a:p>
            <a:pPr indent="0" marL="0">
              <a:lnSpc>
                <a:spcPct val="115000"/>
              </a:lnSpc>
              <a:buNone/>
            </a:pPr>
            <a:r>
              <a:rPr lang="en-US" sz="2100" dirty="0">
                <a:solidFill>
                  <a:schemeClr val="tx1"/>
                </a:solidFill>
              </a:rPr>
              <a:t>Merhaba </a:t>
            </a:r>
            <a:pPr indent="0" marL="0">
              <a:lnSpc>
                <a:spcPct val="115000"/>
              </a:lnSpc>
              <a:buNone/>
            </a:pPr>
            <a:r>
              <a:rPr lang="en-US" sz="2100" b="1" dirty="0">
                <a:solidFill>
                  <a:schemeClr val="accent3"/>
                </a:solidFill>
              </a:rPr>
              <a:t>[Ad]</a:t>
            </a:r>
            <a:pPr indent="0" marL="0">
              <a:lnSpc>
                <a:spcPct val="115000"/>
              </a:lnSpc>
              <a:buNone/>
            </a:pPr>
            <a:r>
              <a:rPr lang="en-US" sz="2100" dirty="0">
                <a:solidFill>
                  <a:schemeClr val="tx1"/>
                </a:solidFill>
              </a:rPr>
              <a:t>, </a:t>
            </a:r>
            <a:pPr indent="0" marL="0">
              <a:lnSpc>
                <a:spcPct val="115000"/>
              </a:lnSpc>
              <a:buNone/>
            </a:pPr>
            <a:r>
              <a:rPr lang="en-US" sz="2100" b="1" dirty="0">
                <a:solidFill>
                  <a:schemeClr val="accent3"/>
                </a:solidFill>
              </a:rPr>
              <a:t>[Şirket]</a:t>
            </a:r>
            <a:pPr indent="0" marL="0">
              <a:lnSpc>
                <a:spcPct val="115000"/>
              </a:lnSpc>
              <a:buNone/>
            </a:pPr>
            <a:r>
              <a:rPr lang="en-US" sz="2100" dirty="0">
                <a:solidFill>
                  <a:schemeClr val="tx1"/>
                </a:solidFill>
              </a:rPr>
              <a:t>'in </a:t>
            </a:r>
            <a:pPr indent="0" marL="0">
              <a:lnSpc>
                <a:spcPct val="115000"/>
              </a:lnSpc>
              <a:buNone/>
            </a:pPr>
            <a:r>
              <a:rPr lang="en-US" sz="2100" b="1" dirty="0">
                <a:solidFill>
                  <a:schemeClr val="accent3"/>
                </a:solidFill>
              </a:rPr>
              <a:t>[ekip/ürün]</a:t>
            </a:r>
            <a:pPr indent="0" marL="0">
              <a:lnSpc>
                <a:spcPct val="115000"/>
              </a:lnSpc>
              <a:buNone/>
            </a:pPr>
            <a:r>
              <a:rPr lang="en-US" sz="2100" dirty="0">
                <a:solidFill>
                  <a:schemeClr val="tx1"/>
                </a:solidFill>
              </a:rPr>
              <a:t> çalışmalarını takip ediyorum. </a:t>
            </a:r>
            <a:pPr indent="0" marL="0">
              <a:lnSpc>
                <a:spcPct val="115000"/>
              </a:lnSpc>
              <a:buNone/>
            </a:pPr>
            <a:r>
              <a:rPr lang="en-US" sz="2100" b="1" dirty="0">
                <a:solidFill>
                  <a:schemeClr val="accent3"/>
                </a:solidFill>
              </a:rPr>
              <a:t>[İlgili tek somut deneyim]</a:t>
            </a:r>
            <a:pPr indent="0" marL="0">
              <a:lnSpc>
                <a:spcPct val="115000"/>
              </a:lnSpc>
              <a:buNone/>
            </a:pPr>
            <a:r>
              <a:rPr lang="en-US" sz="2100" dirty="0">
                <a:solidFill>
                  <a:schemeClr val="tx1"/>
                </a:solidFill>
              </a:rPr>
              <a:t>. </a:t>
            </a:r>
            <a:pPr indent="0" marL="0">
              <a:lnSpc>
                <a:spcPct val="115000"/>
              </a:lnSpc>
              <a:buNone/>
            </a:pPr>
            <a:r>
              <a:rPr lang="en-US" sz="2100" b="1" dirty="0">
                <a:solidFill>
                  <a:schemeClr val="accent3"/>
                </a:solidFill>
              </a:rPr>
              <a:t>[Rol]</a:t>
            </a:r>
            <a:pPr indent="0" marL="0">
              <a:lnSpc>
                <a:spcPct val="115000"/>
              </a:lnSpc>
              <a:buNone/>
            </a:pPr>
            <a:r>
              <a:rPr lang="en-US" sz="2100" dirty="0">
                <a:solidFill>
                  <a:schemeClr val="tx1"/>
                </a:solidFill>
              </a:rPr>
              <a:t> pozisyonları için CV'mi paylaşabilir miyim?</a:t>
            </a:r>
            <a:endParaRPr lang="en-US" sz="21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17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1" type="body" hasCustomPrompt="1"/>
          </p:nvPr>
        </p:nvSpPr>
        <p:spPr>
          <a:xfrm>
            <a:off x="548640" y="320040"/>
            <a:ext cx="8778240" cy="320040"/>
          </a:xfrm>
          <a:prstGeom prst="rect">
            <a:avLst/>
          </a:prstGeom>
          <a:noFill/>
          <a:ln/>
        </p:spPr>
        <p:txBody>
          <a:bodyPr wrap="square" lIns="0" tIns="0" rIns="0" bIns="0" rtlCol="0" anchor="ctr"/>
          <a:lstStyle/>
          <a:p>
            <a:pPr indent="0" marL="0">
              <a:buNone/>
            </a:pPr>
            <a:r>
              <a:rPr lang="en-US" sz="1300" b="1" spc="200" kern="0" dirty="0">
                <a:solidFill>
                  <a:schemeClr val="accent3"/>
                </a:solidFill>
              </a:rPr>
              <a:t>04 · ARAÇ HARİTASI</a:t>
            </a:r>
            <a:endParaRPr lang="en-US" sz="1300" dirty="0"/>
          </a:p>
        </p:txBody>
      </p:sp>
      <p:sp>
        <p:nvSpPr>
          <p:cNvPr id="3" name="Text 0"/>
          <p:cNvSpPr/>
          <p:nvPr>
            <p:ph idx="102" type="title" hasCustomPrompt="1"/>
          </p:nvPr>
        </p:nvSpPr>
        <p:spPr>
          <a:xfrm>
            <a:off x="548640" y="658368"/>
            <a:ext cx="9052560" cy="731520"/>
          </a:xfrm>
          <a:prstGeom prst="rect">
            <a:avLst/>
          </a:prstGeom>
          <a:noFill/>
          <a:ln/>
        </p:spPr>
        <p:txBody>
          <a:bodyPr wrap="square" lIns="0" tIns="0" rIns="0" bIns="0" rtlCol="0" anchor="t"/>
          <a:lstStyle/>
          <a:p>
            <a:pPr algn="l" indent="0" marL="0">
              <a:buNone/>
            </a:pPr>
            <a:r>
              <a:rPr lang="en-US" sz="3400" b="1" dirty="0">
                <a:solidFill>
                  <a:schemeClr val="tx2"/>
                </a:solidFill>
              </a:rPr>
              <a:t>Açık Kaynak Araçlar</a:t>
            </a:r>
            <a:endParaRPr lang="en-US" sz="34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91672" cy="914400"/>
        </p:xfrm>
        <a:graphic>
          <a:graphicData uri="http://schemas.openxmlformats.org/drawingml/2006/table">
            <a:tbl>
              <a:tblPr/>
              <a:tblGrid>
                <a:gridCol w="2468880"/>
                <a:gridCol w="1097280"/>
                <a:gridCol w="5788152"/>
                <a:gridCol w="1737360"/>
              </a:tblGrid>
              <a:tr h="457200">
                <a:tc>
                  <a:txBody>
                    <a:bodyPr/>
                    <a:lstStyle/>
                    <a:p>
                      <a:pPr indent="0" marL="0">
                        <a:buNone/>
                      </a:pPr>
                      <a:r>
                        <a:rPr lang="en-US" sz="1400" b="1" dirty="0">
                          <a:solidFill>
                            <a:schemeClr val="bg1"/>
                          </a:solidFill>
                        </a:rPr>
                        <a:t>Araç</a:t>
                      </a:r>
                      <a:endParaRPr lang="en-US" sz="1400" dirty="0"/>
                    </a:p>
                  </a:txBody>
                  <a:tcPr marL="127000" marR="127000" marT="50800" marB="50800" anchor="ct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Tür</a:t>
                      </a:r>
                      <a:endParaRPr lang="en-US" sz="1400" dirty="0"/>
                    </a:p>
                  </a:txBody>
                  <a:tcPr marL="127000" marR="127000" marT="50800" marB="50800" anchor="ct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Ne yapar</a:t>
                      </a:r>
                      <a:endParaRPr lang="en-US" sz="1400" dirty="0"/>
                    </a:p>
                  </a:txBody>
                  <a:tcPr marL="127000" marR="127000" marT="50800" marB="50800" anchor="ct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Lisans</a:t>
                      </a:r>
                      <a:endParaRPr lang="en-US" sz="1400" dirty="0"/>
                    </a:p>
                  </a:txBody>
                  <a:tcPr marL="127000" marR="127000" marT="50800" marB="50800" anchor="ct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chemeClr val="accent1"/>
                    </a:solidFill>
                  </a:tcPr>
                </a:tc>
              </a:tr>
              <a:tr h="457200">
                <a:tc>
                  <a:txBody>
                    <a:bodyPr/>
                    <a:lstStyle/>
                    <a:p>
                      <a:pPr indent="0" marL="0">
                        <a:buNone/>
                      </a:pPr>
                      <a:r>
                        <a:rPr lang="en-US" sz="1400" dirty="0">
                          <a:solidFill>
                            <a:schemeClr val="tx1"/>
                          </a:solidFill>
                        </a:rPr>
                        <a:t>Reactive Resume</a:t>
                      </a:r>
                      <a:endParaRPr lang="en-US" sz="1400" dirty="0"/>
                    </a:p>
                  </a:txBody>
                  <a:tcPr marL="127000" marR="127000" marT="50800" marB="50800" anchor="ct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CV</a:t>
                      </a:r>
                      <a:endParaRPr lang="en-US" sz="1400" dirty="0"/>
                    </a:p>
                  </a:txBody>
                  <a:tcPr marL="127000" marR="127000" marT="50800" marB="50800" anchor="ct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Tarayıcıda CV editörü; self-host, JSON, YZ desteği</a:t>
                      </a:r>
                      <a:endParaRPr lang="en-US" sz="1400" dirty="0"/>
                    </a:p>
                  </a:txBody>
                  <a:tcPr marL="127000" marR="127000" marT="50800" marB="50800" anchor="ct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MIT</a:t>
                      </a:r>
                      <a:endParaRPr lang="en-US" sz="1400" dirty="0"/>
                    </a:p>
                  </a:txBody>
                  <a:tcPr marL="127000" marR="127000" marT="50800" marB="50800" anchor="ct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chemeClr val="bg1"/>
                    </a:solidFill>
                  </a:tcPr>
                </a:tc>
              </a:tr>
              <a:tr h="457200">
                <a:tc>
                  <a:txBody>
                    <a:bodyPr/>
                    <a:lstStyle/>
                    <a:p>
                      <a:pPr indent="0" marL="0">
                        <a:buNone/>
                      </a:pPr>
                      <a:r>
                        <a:rPr lang="en-US" sz="1400" dirty="0">
                          <a:solidFill>
                            <a:schemeClr val="tx1"/>
                          </a:solidFill>
                        </a:rPr>
                        <a:t>RenderCV</a:t>
                      </a:r>
                      <a:endParaRPr lang="en-US" sz="1400" dirty="0"/>
                    </a:p>
                  </a:txBody>
                  <a:tcPr marL="127000" marR="127000" marT="50800" marB="50800" anchor="ct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CV</a:t>
                      </a:r>
                      <a:endParaRPr lang="en-US" sz="1400" dirty="0"/>
                    </a:p>
                  </a:txBody>
                  <a:tcPr marL="127000" marR="127000" marT="50800" marB="50800" anchor="ct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YAML'dan PDF; CV'yi kod gibi yönet</a:t>
                      </a:r>
                      <a:endParaRPr lang="en-US" sz="1400" dirty="0"/>
                    </a:p>
                  </a:txBody>
                  <a:tcPr marL="127000" marR="127000" marT="50800" marB="50800" anchor="ct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MIT</a:t>
                      </a:r>
                      <a:endParaRPr lang="en-US" sz="1400" dirty="0"/>
                    </a:p>
                  </a:txBody>
                  <a:tcPr marL="127000" marR="127000" marT="50800" marB="50800" anchor="ct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chemeClr val="bg2"/>
                    </a:solidFill>
                  </a:tcPr>
                </a:tc>
              </a:tr>
              <a:tr h="457200">
                <a:tc>
                  <a:txBody>
                    <a:bodyPr/>
                    <a:lstStyle/>
                    <a:p>
                      <a:pPr indent="0" marL="0">
                        <a:buNone/>
                      </a:pPr>
                      <a:r>
                        <a:rPr lang="en-US" sz="1400" dirty="0">
                          <a:solidFill>
                            <a:schemeClr val="tx1"/>
                          </a:solidFill>
                        </a:rPr>
                        <a:t>JSON Resume</a:t>
                      </a:r>
                      <a:endParaRPr lang="en-US" sz="1400" dirty="0"/>
                    </a:p>
                  </a:txBody>
                  <a:tcPr marL="127000" marR="127000" marT="50800" marB="50800" anchor="ct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CV</a:t>
                      </a:r>
                      <a:endParaRPr lang="en-US" sz="1400" dirty="0"/>
                    </a:p>
                  </a:txBody>
                  <a:tcPr marL="127000" marR="127000" marT="50800" marB="50800" anchor="ct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Standart CV şeması ve CLI</a:t>
                      </a:r>
                      <a:endParaRPr lang="en-US" sz="1400" dirty="0"/>
                    </a:p>
                  </a:txBody>
                  <a:tcPr marL="127000" marR="127000" marT="50800" marB="50800" anchor="ct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MIT</a:t>
                      </a:r>
                      <a:endParaRPr lang="en-US" sz="1400" dirty="0"/>
                    </a:p>
                  </a:txBody>
                  <a:tcPr marL="127000" marR="127000" marT="50800" marB="50800" anchor="ct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chemeClr val="bg1"/>
                    </a:solidFill>
                  </a:tcPr>
                </a:tc>
              </a:tr>
              <a:tr h="457200">
                <a:tc>
                  <a:txBody>
                    <a:bodyPr/>
                    <a:lstStyle/>
                    <a:p>
                      <a:pPr indent="0" marL="0">
                        <a:buNone/>
                      </a:pPr>
                      <a:r>
                        <a:rPr lang="en-US" sz="1400" dirty="0">
                          <a:solidFill>
                            <a:schemeClr val="tx1"/>
                          </a:solidFill>
                        </a:rPr>
                        <a:t>OpenResume</a:t>
                      </a:r>
                      <a:endParaRPr lang="en-US" sz="1400" dirty="0"/>
                    </a:p>
                  </a:txBody>
                  <a:tcPr marL="127000" marR="127000" marT="50800" marB="50800" anchor="ct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CV</a:t>
                      </a:r>
                      <a:endParaRPr lang="en-US" sz="1400" dirty="0"/>
                    </a:p>
                  </a:txBody>
                  <a:tcPr marL="127000" marR="127000" marT="50800" marB="50800" anchor="ct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CV oluşturucu ve ATS ayrıştırıcı</a:t>
                      </a:r>
                      <a:endParaRPr lang="en-US" sz="1400" dirty="0"/>
                    </a:p>
                  </a:txBody>
                  <a:tcPr marL="127000" marR="127000" marT="50800" marB="50800" anchor="ct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AGPL-3.0</a:t>
                      </a:r>
                      <a:endParaRPr lang="en-US" sz="1400" dirty="0"/>
                    </a:p>
                  </a:txBody>
                  <a:tcPr marL="127000" marR="127000" marT="50800" marB="50800" anchor="ct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chemeClr val="bg2"/>
                    </a:solidFill>
                  </a:tcPr>
                </a:tc>
              </a:tr>
              <a:tr h="457200">
                <a:tc>
                  <a:txBody>
                    <a:bodyPr/>
                    <a:lstStyle/>
                    <a:p>
                      <a:pPr indent="0" marL="0">
                        <a:buNone/>
                      </a:pPr>
                      <a:r>
                        <a:rPr lang="en-US" sz="1400" dirty="0">
                          <a:solidFill>
                            <a:schemeClr val="tx1"/>
                          </a:solidFill>
                        </a:rPr>
                        <a:t>Resume Matcher</a:t>
                      </a:r>
                      <a:endParaRPr lang="en-US" sz="1400" dirty="0"/>
                    </a:p>
                  </a:txBody>
                  <a:tcPr marL="127000" marR="127000" marT="50800" marB="50800" anchor="ct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CV</a:t>
                      </a:r>
                      <a:endParaRPr lang="en-US" sz="1400" dirty="0"/>
                    </a:p>
                  </a:txBody>
                  <a:tcPr marL="127000" marR="127000" marT="50800" marB="50800" anchor="ct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Yerel LLM ile ilan–CV uyumu</a:t>
                      </a:r>
                      <a:endParaRPr lang="en-US" sz="1400" dirty="0"/>
                    </a:p>
                  </a:txBody>
                  <a:tcPr marL="127000" marR="127000" marT="50800" marB="50800" anchor="ct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Apache-2.0</a:t>
                      </a:r>
                      <a:endParaRPr lang="en-US" sz="1400" dirty="0"/>
                    </a:p>
                  </a:txBody>
                  <a:tcPr marL="127000" marR="127000" marT="50800" marB="50800" anchor="ct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chemeClr val="bg1"/>
                    </a:solidFill>
                  </a:tcPr>
                </a:tc>
              </a:tr>
              <a:tr h="457200">
                <a:tc>
                  <a:txBody>
                    <a:bodyPr/>
                    <a:lstStyle/>
                    <a:p>
                      <a:pPr indent="0" marL="0">
                        <a:buNone/>
                      </a:pPr>
                      <a:r>
                        <a:rPr lang="en-US" sz="1400" dirty="0">
                          <a:solidFill>
                            <a:schemeClr val="tx1"/>
                          </a:solidFill>
                        </a:rPr>
                        <a:t>career-ops</a:t>
                      </a:r>
                      <a:endParaRPr lang="en-US" sz="1400" dirty="0"/>
                    </a:p>
                  </a:txBody>
                  <a:tcPr marL="127000" marR="127000" marT="50800" marB="50800" anchor="ct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Eylemci</a:t>
                      </a:r>
                      <a:endParaRPr lang="en-US" sz="1400" dirty="0"/>
                    </a:p>
                  </a:txBody>
                  <a:tcPr marL="127000" marR="127000" marT="50800" marB="50800" anchor="ct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CLI eylemcisi: ilan tarar, 1-5 puanlar, CV uyarlar, takip eder</a:t>
                      </a:r>
                      <a:endParaRPr lang="en-US" sz="1400" dirty="0"/>
                    </a:p>
                  </a:txBody>
                  <a:tcPr marL="127000" marR="127000" marT="50800" marB="50800" anchor="ct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MIT</a:t>
                      </a:r>
                      <a:endParaRPr lang="en-US" sz="1400" dirty="0"/>
                    </a:p>
                  </a:txBody>
                  <a:tcPr marL="127000" marR="127000" marT="50800" marB="50800" anchor="ct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chemeClr val="bg2"/>
                    </a:solidFill>
                  </a:tcPr>
                </a:tc>
              </a:tr>
              <a:tr h="457200">
                <a:tc>
                  <a:txBody>
                    <a:bodyPr/>
                    <a:lstStyle/>
                    <a:p>
                      <a:pPr indent="0" marL="0">
                        <a:buNone/>
                      </a:pPr>
                      <a:r>
                        <a:rPr lang="en-US" sz="1400" dirty="0">
                          <a:solidFill>
                            <a:schemeClr val="tx1"/>
                          </a:solidFill>
                        </a:rPr>
                        <a:t>ai-job-search</a:t>
                      </a:r>
                      <a:endParaRPr lang="en-US" sz="1400" dirty="0"/>
                    </a:p>
                  </a:txBody>
                  <a:tcPr marL="127000" marR="127000" marT="50800" marB="50800" anchor="ct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Eylemci</a:t>
                      </a:r>
                      <a:endParaRPr lang="en-US" sz="1400" dirty="0"/>
                    </a:p>
                  </a:txBody>
                  <a:tcPr marL="127000" marR="127000" marT="50800" marB="50800" anchor="ct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Claude Code ile ilan değerlendirme, CV, ön yazı, mülakat</a:t>
                      </a:r>
                      <a:endParaRPr lang="en-US" sz="1400" dirty="0"/>
                    </a:p>
                  </a:txBody>
                  <a:tcPr marL="127000" marR="127000" marT="50800" marB="50800" anchor="ct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MIT</a:t>
                      </a:r>
                      <a:endParaRPr lang="en-US" sz="1400" dirty="0"/>
                    </a:p>
                  </a:txBody>
                  <a:tcPr marL="127000" marR="127000" marT="50800" marB="50800" anchor="ct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chemeClr val="bg1"/>
                    </a:solidFill>
                  </a:tcPr>
                </a:tc>
              </a:tr>
              <a:tr h="457200">
                <a:tc>
                  <a:txBody>
                    <a:bodyPr/>
                    <a:lstStyle/>
                    <a:p>
                      <a:pPr indent="0" marL="0">
                        <a:buNone/>
                      </a:pPr>
                      <a:r>
                        <a:rPr lang="en-US" sz="1400" b="1" dirty="0">
                          <a:solidFill>
                            <a:schemeClr val="accent4"/>
                          </a:solidFill>
                        </a:rPr>
                        <a:t>ApplyPilot ⚠</a:t>
                      </a:r>
                      <a:endParaRPr lang="en-US" sz="1400" dirty="0"/>
                    </a:p>
                  </a:txBody>
                  <a:tcPr marL="127000" marR="127000" marT="50800" marB="50800" anchor="ct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chemeClr val="bg2"/>
                    </a:solidFill>
                  </a:tcPr>
                </a:tc>
                <a:tc>
                  <a:txBody>
                    <a:bodyPr/>
                    <a:lstStyle/>
                    <a:p>
                      <a:pPr indent="0" marL="0">
                        <a:buNone/>
                      </a:pPr>
                      <a:r>
                        <a:rPr lang="en-US" sz="1400" b="1" dirty="0">
                          <a:solidFill>
                            <a:schemeClr val="accent4"/>
                          </a:solidFill>
                        </a:rPr>
                        <a:t>Eylemci</a:t>
                      </a:r>
                      <a:endParaRPr lang="en-US" sz="1400" dirty="0"/>
                    </a:p>
                  </a:txBody>
                  <a:tcPr marL="127000" marR="127000" marT="50800" marB="50800" anchor="ct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chemeClr val="bg2"/>
                    </a:solidFill>
                  </a:tcPr>
                </a:tc>
                <a:tc>
                  <a:txBody>
                    <a:bodyPr/>
                    <a:lstStyle/>
                    <a:p>
                      <a:pPr indent="0" marL="0">
                        <a:buNone/>
                      </a:pPr>
                      <a:r>
                        <a:rPr lang="en-US" sz="1400" b="1" dirty="0">
                          <a:solidFill>
                            <a:schemeClr val="accent4"/>
                          </a:solidFill>
                        </a:rPr>
                        <a:t>Otomatik başvuru; platform koşullarını kontrol edin</a:t>
                      </a:r>
                      <a:endParaRPr lang="en-US" sz="1400" dirty="0"/>
                    </a:p>
                  </a:txBody>
                  <a:tcPr marL="127000" marR="127000" marT="50800" marB="50800" anchor="ct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chemeClr val="bg2"/>
                    </a:solidFill>
                  </a:tcPr>
                </a:tc>
                <a:tc>
                  <a:txBody>
                    <a:bodyPr/>
                    <a:lstStyle/>
                    <a:p>
                      <a:pPr indent="0" marL="0">
                        <a:buNone/>
                      </a:pPr>
                      <a:r>
                        <a:rPr lang="en-US" sz="1400" b="1" dirty="0">
                          <a:solidFill>
                            <a:schemeClr val="accent4"/>
                          </a:solidFill>
                        </a:rPr>
                        <a:t>AGPL-3.0</a:t>
                      </a:r>
                      <a:endParaRPr lang="en-US" sz="1400" dirty="0"/>
                    </a:p>
                  </a:txBody>
                  <a:tcPr marL="127000" marR="127000" marT="50800" marB="50800" anchor="ct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chemeClr val="bg2"/>
                    </a:solidFill>
                  </a:tcPr>
                </a:tc>
              </a:tr>
            </a:tbl>
          </a:graphicData>
        </a:graphic>
      </p:graphicFrame>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17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1" type="body" hasCustomPrompt="1"/>
          </p:nvPr>
        </p:nvSpPr>
        <p:spPr>
          <a:xfrm>
            <a:off x="548640" y="320040"/>
            <a:ext cx="8778240" cy="320040"/>
          </a:xfrm>
          <a:prstGeom prst="rect">
            <a:avLst/>
          </a:prstGeom>
          <a:noFill/>
          <a:ln/>
        </p:spPr>
        <p:txBody>
          <a:bodyPr wrap="square" lIns="0" tIns="0" rIns="0" bIns="0" rtlCol="0" anchor="ctr"/>
          <a:lstStyle/>
          <a:p>
            <a:pPr indent="0" marL="0">
              <a:buNone/>
            </a:pPr>
            <a:r>
              <a:rPr lang="en-US" sz="1300" b="1" spc="200" kern="0" dirty="0">
                <a:solidFill>
                  <a:schemeClr val="accent3"/>
                </a:solidFill>
              </a:rPr>
              <a:t>04 · ARAÇ HARİTASI</a:t>
            </a:r>
            <a:endParaRPr lang="en-US" sz="1300" dirty="0"/>
          </a:p>
        </p:txBody>
      </p:sp>
      <p:sp>
        <p:nvSpPr>
          <p:cNvPr id="3" name="Text 0"/>
          <p:cNvSpPr/>
          <p:nvPr>
            <p:ph idx="102" type="title" hasCustomPrompt="1"/>
          </p:nvPr>
        </p:nvSpPr>
        <p:spPr>
          <a:xfrm>
            <a:off x="548640" y="658368"/>
            <a:ext cx="9052560" cy="731520"/>
          </a:xfrm>
          <a:prstGeom prst="rect">
            <a:avLst/>
          </a:prstGeom>
          <a:noFill/>
          <a:ln/>
        </p:spPr>
        <p:txBody>
          <a:bodyPr wrap="square" lIns="0" tIns="0" rIns="0" bIns="0" rtlCol="0" anchor="t"/>
          <a:lstStyle/>
          <a:p>
            <a:pPr algn="l" indent="0" marL="0">
              <a:buNone/>
            </a:pPr>
            <a:r>
              <a:rPr lang="en-US" sz="3400" b="1" dirty="0">
                <a:solidFill>
                  <a:schemeClr val="tx2"/>
                </a:solidFill>
              </a:rPr>
              <a:t>Ücretli ve Freemium Servisler</a:t>
            </a:r>
            <a:endParaRPr lang="en-US" sz="34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91672" cy="914400"/>
        </p:xfrm>
        <a:graphic>
          <a:graphicData uri="http://schemas.openxmlformats.org/drawingml/2006/table">
            <a:tbl>
              <a:tblPr/>
              <a:tblGrid>
                <a:gridCol w="2377440"/>
                <a:gridCol w="4480560"/>
                <a:gridCol w="4233672"/>
              </a:tblGrid>
              <a:tr h="566928">
                <a:tc>
                  <a:txBody>
                    <a:bodyPr/>
                    <a:lstStyle/>
                    <a:p>
                      <a:pPr indent="0" marL="0">
                        <a:buNone/>
                      </a:pPr>
                      <a:r>
                        <a:rPr lang="en-US" sz="1600" b="1" dirty="0">
                          <a:solidFill>
                            <a:schemeClr val="bg1"/>
                          </a:solidFill>
                        </a:rPr>
                        <a:t>Servis</a:t>
                      </a:r>
                      <a:endParaRPr lang="en-US" sz="1600" dirty="0"/>
                    </a:p>
                  </a:txBody>
                  <a:tcPr marL="127000" marR="127000" marT="50800" marB="50800" anchor="ct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chemeClr val="accent1"/>
                    </a:solidFill>
                  </a:tcPr>
                </a:tc>
                <a:tc>
                  <a:txBody>
                    <a:bodyPr/>
                    <a:lstStyle/>
                    <a:p>
                      <a:pPr indent="0" marL="0">
                        <a:buNone/>
                      </a:pPr>
                      <a:r>
                        <a:rPr lang="en-US" sz="1600" b="1" dirty="0">
                          <a:solidFill>
                            <a:schemeClr val="bg1"/>
                          </a:solidFill>
                        </a:rPr>
                        <a:t>Ücretsiz</a:t>
                      </a:r>
                      <a:endParaRPr lang="en-US" sz="1600" dirty="0"/>
                    </a:p>
                  </a:txBody>
                  <a:tcPr marL="127000" marR="127000" marT="50800" marB="50800" anchor="ct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chemeClr val="accent1"/>
                    </a:solidFill>
                  </a:tcPr>
                </a:tc>
                <a:tc>
                  <a:txBody>
                    <a:bodyPr/>
                    <a:lstStyle/>
                    <a:p>
                      <a:pPr indent="0" marL="0">
                        <a:buNone/>
                      </a:pPr>
                      <a:r>
                        <a:rPr lang="en-US" sz="1600" b="1" dirty="0">
                          <a:solidFill>
                            <a:schemeClr val="bg1"/>
                          </a:solidFill>
                        </a:rPr>
                        <a:t>Ücretli</a:t>
                      </a:r>
                      <a:endParaRPr lang="en-US" sz="1600" dirty="0"/>
                    </a:p>
                  </a:txBody>
                  <a:tcPr marL="127000" marR="127000" marT="50800" marB="50800" anchor="ct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chemeClr val="accent1"/>
                    </a:solidFill>
                  </a:tcPr>
                </a:tc>
              </a:tr>
              <a:tr h="566928">
                <a:tc>
                  <a:txBody>
                    <a:bodyPr/>
                    <a:lstStyle/>
                    <a:p>
                      <a:pPr indent="0" marL="0">
                        <a:buNone/>
                      </a:pPr>
                      <a:r>
                        <a:rPr lang="en-US" sz="1600" dirty="0">
                          <a:solidFill>
                            <a:schemeClr val="tx1"/>
                          </a:solidFill>
                        </a:rPr>
                        <a:t>Teal</a:t>
                      </a:r>
                      <a:endParaRPr lang="en-US" sz="1600" dirty="0"/>
                    </a:p>
                  </a:txBody>
                  <a:tcPr marL="127000" marR="127000" marT="50800" marB="50800" anchor="ct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rPr>
                        <a:t>Sınırsız CV, iş takibi</a:t>
                      </a:r>
                      <a:endParaRPr lang="en-US" sz="1600" dirty="0"/>
                    </a:p>
                  </a:txBody>
                  <a:tcPr marL="127000" marR="127000" marT="50800" marB="50800" anchor="ct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rPr>
                        <a:t>Teal+ 29 $/30 gün</a:t>
                      </a:r>
                      <a:endParaRPr lang="en-US" sz="1600" dirty="0"/>
                    </a:p>
                  </a:txBody>
                  <a:tcPr marL="127000" marR="127000" marT="50800" marB="50800" anchor="ct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chemeClr val="bg1"/>
                    </a:solidFill>
                  </a:tcPr>
                </a:tc>
              </a:tr>
              <a:tr h="566928">
                <a:tc>
                  <a:txBody>
                    <a:bodyPr/>
                    <a:lstStyle/>
                    <a:p>
                      <a:pPr indent="0" marL="0">
                        <a:buNone/>
                      </a:pPr>
                      <a:r>
                        <a:rPr lang="en-US" sz="1600" dirty="0">
                          <a:solidFill>
                            <a:schemeClr val="tx1"/>
                          </a:solidFill>
                        </a:rPr>
                        <a:t>Jobscan</a:t>
                      </a:r>
                      <a:endParaRPr lang="en-US" sz="1600" dirty="0"/>
                    </a:p>
                  </a:txBody>
                  <a:tcPr marL="127000" marR="127000" marT="50800" marB="50800" anchor="ct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chemeClr val="bg2"/>
                    </a:solidFill>
                  </a:tcPr>
                </a:tc>
                <a:tc>
                  <a:txBody>
                    <a:bodyPr/>
                    <a:lstStyle/>
                    <a:p>
                      <a:pPr indent="0" marL="0">
                        <a:buNone/>
                      </a:pPr>
                      <a:r>
                        <a:rPr lang="en-US" sz="1600" dirty="0">
                          <a:solidFill>
                            <a:schemeClr val="tx1"/>
                          </a:solidFill>
                        </a:rPr>
                        <a:t>Ayda 5 tarama</a:t>
                      </a:r>
                      <a:endParaRPr lang="en-US" sz="1600" dirty="0"/>
                    </a:p>
                  </a:txBody>
                  <a:tcPr marL="127000" marR="127000" marT="50800" marB="50800" anchor="ct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chemeClr val="bg2"/>
                    </a:solidFill>
                  </a:tcPr>
                </a:tc>
                <a:tc>
                  <a:txBody>
                    <a:bodyPr/>
                    <a:lstStyle/>
                    <a:p>
                      <a:pPr indent="0" marL="0">
                        <a:buNone/>
                      </a:pPr>
                      <a:r>
                        <a:rPr lang="en-US" sz="1600" dirty="0">
                          <a:solidFill>
                            <a:schemeClr val="tx1"/>
                          </a:solidFill>
                        </a:rPr>
                        <a:t>49,95 $/ay</a:t>
                      </a:r>
                      <a:endParaRPr lang="en-US" sz="1600" dirty="0"/>
                    </a:p>
                  </a:txBody>
                  <a:tcPr marL="127000" marR="127000" marT="50800" marB="50800" anchor="ct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chemeClr val="bg2"/>
                    </a:solidFill>
                  </a:tcPr>
                </a:tc>
              </a:tr>
              <a:tr h="566928">
                <a:tc>
                  <a:txBody>
                    <a:bodyPr/>
                    <a:lstStyle/>
                    <a:p>
                      <a:pPr indent="0" marL="0">
                        <a:buNone/>
                      </a:pPr>
                      <a:r>
                        <a:rPr lang="en-US" sz="1600" dirty="0">
                          <a:solidFill>
                            <a:schemeClr val="tx1"/>
                          </a:solidFill>
                        </a:rPr>
                        <a:t>Rezi</a:t>
                      </a:r>
                      <a:endParaRPr lang="en-US" sz="1600" dirty="0"/>
                    </a:p>
                  </a:txBody>
                  <a:tcPr marL="127000" marR="127000" marT="50800" marB="50800" anchor="ct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rPr>
                        <a:t>1 CV, 3 PDF</a:t>
                      </a:r>
                      <a:endParaRPr lang="en-US" sz="1600" dirty="0"/>
                    </a:p>
                  </a:txBody>
                  <a:tcPr marL="127000" marR="127000" marT="50800" marB="50800" anchor="ct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rPr>
                        <a:t>29 $/ay veya 149 $ ömür boyu</a:t>
                      </a:r>
                      <a:endParaRPr lang="en-US" sz="1600" dirty="0"/>
                    </a:p>
                  </a:txBody>
                  <a:tcPr marL="127000" marR="127000" marT="50800" marB="50800" anchor="ct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chemeClr val="bg1"/>
                    </a:solidFill>
                  </a:tcPr>
                </a:tc>
              </a:tr>
              <a:tr h="566928">
                <a:tc>
                  <a:txBody>
                    <a:bodyPr/>
                    <a:lstStyle/>
                    <a:p>
                      <a:pPr indent="0" marL="0">
                        <a:buNone/>
                      </a:pPr>
                      <a:r>
                        <a:rPr lang="en-US" sz="1600" dirty="0">
                          <a:solidFill>
                            <a:schemeClr val="tx1"/>
                          </a:solidFill>
                        </a:rPr>
                        <a:t>Kickresume</a:t>
                      </a:r>
                      <a:endParaRPr lang="en-US" sz="1600" dirty="0"/>
                    </a:p>
                  </a:txBody>
                  <a:tcPr marL="127000" marR="127000" marT="50800" marB="50800" anchor="ct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chemeClr val="bg2"/>
                    </a:solidFill>
                  </a:tcPr>
                </a:tc>
                <a:tc>
                  <a:txBody>
                    <a:bodyPr/>
                    <a:lstStyle/>
                    <a:p>
                      <a:pPr indent="0" marL="0">
                        <a:buNone/>
                      </a:pPr>
                      <a:r>
                        <a:rPr lang="en-US" sz="1600" dirty="0">
                          <a:solidFill>
                            <a:schemeClr val="tx1"/>
                          </a:solidFill>
                        </a:rPr>
                        <a:t>4 temel CV şablonu</a:t>
                      </a:r>
                      <a:endParaRPr lang="en-US" sz="1600" dirty="0"/>
                    </a:p>
                  </a:txBody>
                  <a:tcPr marL="127000" marR="127000" marT="50800" marB="50800" anchor="ct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chemeClr val="bg2"/>
                    </a:solidFill>
                  </a:tcPr>
                </a:tc>
                <a:tc>
                  <a:txBody>
                    <a:bodyPr/>
                    <a:lstStyle/>
                    <a:p>
                      <a:pPr indent="0" marL="0">
                        <a:buNone/>
                      </a:pPr>
                      <a:r>
                        <a:rPr lang="en-US" sz="1600" dirty="0">
                          <a:solidFill>
                            <a:schemeClr val="tx1"/>
                          </a:solidFill>
                        </a:rPr>
                        <a:t>19 $/ay veya yıllık 54 $</a:t>
                      </a:r>
                      <a:endParaRPr lang="en-US" sz="1600" dirty="0"/>
                    </a:p>
                  </a:txBody>
                  <a:tcPr marL="127000" marR="127000" marT="50800" marB="50800" anchor="ct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chemeClr val="bg2"/>
                    </a:solidFill>
                  </a:tcPr>
                </a:tc>
              </a:tr>
              <a:tr h="566928">
                <a:tc>
                  <a:txBody>
                    <a:bodyPr/>
                    <a:lstStyle/>
                    <a:p>
                      <a:pPr indent="0" marL="0">
                        <a:buNone/>
                      </a:pPr>
                      <a:r>
                        <a:rPr lang="en-US" sz="1600" dirty="0">
                          <a:solidFill>
                            <a:schemeClr val="tx1"/>
                          </a:solidFill>
                        </a:rPr>
                        <a:t>Huntr</a:t>
                      </a:r>
                      <a:endParaRPr lang="en-US" sz="1600" dirty="0"/>
                    </a:p>
                  </a:txBody>
                  <a:tcPr marL="127000" marR="127000" marT="50800" marB="50800" anchor="ct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rPr>
                        <a:t>100 ilana kadar takip</a:t>
                      </a:r>
                      <a:endParaRPr lang="en-US" sz="1600" dirty="0"/>
                    </a:p>
                  </a:txBody>
                  <a:tcPr marL="127000" marR="127000" marT="50800" marB="50800" anchor="ct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rPr>
                        <a:t>40 $/ay</a:t>
                      </a:r>
                      <a:endParaRPr lang="en-US" sz="1600" dirty="0"/>
                    </a:p>
                  </a:txBody>
                  <a:tcPr marL="127000" marR="127000" marT="50800" marB="50800" anchor="ct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chemeClr val="bg1"/>
                    </a:solidFill>
                  </a:tcPr>
                </a:tc>
              </a:tr>
            </a:tbl>
          </a:graphicData>
        </a:graphic>
      </p:graphicFrame>
      <p:sp>
        <p:nvSpPr>
          <p:cNvPr id="6" name="Text 2"/>
          <p:cNvSpPr txBox="1"/>
          <p:nvPr/>
        </p:nvSpPr>
        <p:spPr>
          <a:xfrm>
            <a:off x="548640" y="5623560"/>
            <a:ext cx="11094415" cy="411480"/>
          </a:xfrm>
          <a:prstGeom prst="rect">
            <a:avLst/>
          </a:prstGeom>
          <a:noFill/>
          <a:ln/>
        </p:spPr>
        <p:txBody>
          <a:bodyPr wrap="square" lIns="0" tIns="0" rIns="0" bIns="0" rtlCol="0" anchor="ctr"/>
          <a:lstStyle/>
          <a:p>
            <a:pPr indent="0" marL="0">
              <a:buNone/>
            </a:pPr>
            <a:r>
              <a:rPr lang="en-US" sz="1400" i="1" dirty="0">
                <a:solidFill>
                  <a:schemeClr val="tx1"/>
                </a:solidFill>
              </a:rPr>
              <a:t>Genel LLM'ler (ChatGPT, Claude, Gemini): ücretsiz katman mevcut. Fiyatlar Ekim 2026 itibarıyla; değişebilir.</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17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1" type="body" hasCustomPrompt="1"/>
          </p:nvPr>
        </p:nvSpPr>
        <p:spPr>
          <a:xfrm>
            <a:off x="548640" y="320040"/>
            <a:ext cx="8778240" cy="320040"/>
          </a:xfrm>
          <a:prstGeom prst="rect">
            <a:avLst/>
          </a:prstGeom>
          <a:noFill/>
          <a:ln/>
        </p:spPr>
        <p:txBody>
          <a:bodyPr wrap="square" lIns="0" tIns="0" rIns="0" bIns="0" rtlCol="0" anchor="ctr"/>
          <a:lstStyle/>
          <a:p>
            <a:pPr indent="0" marL="0">
              <a:buNone/>
            </a:pPr>
            <a:r>
              <a:rPr lang="en-US" sz="1300" b="1" spc="200" kern="0" dirty="0">
                <a:solidFill>
                  <a:schemeClr val="accent3"/>
                </a:solidFill>
              </a:rPr>
              <a:t>04 · ARAÇ HARİTASI</a:t>
            </a:r>
            <a:endParaRPr lang="en-US" sz="1300" dirty="0"/>
          </a:p>
        </p:txBody>
      </p:sp>
      <p:sp>
        <p:nvSpPr>
          <p:cNvPr id="3" name="Text 0"/>
          <p:cNvSpPr/>
          <p:nvPr>
            <p:ph idx="102" type="title" hasCustomPrompt="1"/>
          </p:nvPr>
        </p:nvSpPr>
        <p:spPr>
          <a:xfrm>
            <a:off x="548640" y="658368"/>
            <a:ext cx="9052560" cy="731520"/>
          </a:xfrm>
          <a:prstGeom prst="rect">
            <a:avLst/>
          </a:prstGeom>
          <a:noFill/>
          <a:ln/>
        </p:spPr>
        <p:txBody>
          <a:bodyPr wrap="square" lIns="0" tIns="0" rIns="0" bIns="0" rtlCol="0" anchor="t"/>
          <a:lstStyle/>
          <a:p>
            <a:pPr algn="l" indent="0" marL="0">
              <a:buNone/>
            </a:pPr>
            <a:r>
              <a:rPr lang="en-US" sz="3400" b="1" dirty="0">
                <a:solidFill>
                  <a:schemeClr val="tx2"/>
                </a:solidFill>
              </a:rPr>
              <a:t>Hangi Araç Kime?</a:t>
            </a:r>
            <a:endParaRPr lang="en-US" sz="3400" dirty="0"/>
          </a:p>
        </p:txBody>
      </p:sp>
      <p:sp>
        <p:nvSpPr>
          <p:cNvPr id="5" name="kart"/>
          <p:cNvSpPr/>
          <p:nvPr/>
        </p:nvSpPr>
        <p:spPr>
          <a:xfrm>
            <a:off x="548640" y="1691640"/>
            <a:ext cx="5410048" cy="1874520"/>
          </a:xfrm>
          <a:prstGeom prst="roundRect">
            <a:avLst>
              <a:gd name="adj" fmla="val 3902"/>
            </a:avLst>
          </a:prstGeom>
          <a:solidFill>
            <a:schemeClr val="bg2"/>
          </a:solidFill>
          <a:ln/>
        </p:spPr>
      </p:sp>
      <p:sp>
        <p:nvSpPr>
          <p:cNvPr id="6" name="ikon-daire"/>
          <p:cNvSpPr/>
          <p:nvPr/>
        </p:nvSpPr>
        <p:spPr>
          <a:xfrm>
            <a:off x="868680" y="2011680"/>
            <a:ext cx="685800" cy="685800"/>
          </a:xfrm>
          <a:prstGeom prst="ellipse">
            <a:avLst/>
          </a:prstGeom>
          <a:solidFill>
            <a:schemeClr val="accent1"/>
          </a:solidFill>
          <a:ln/>
        </p:spPr>
      </p:sp>
      <p:pic>
        <p:nvPicPr>
          <p:cNvPr id="7" name="ikon" descr="preencoded.png">    </p:cNvPr>
          <p:cNvPicPr>
            <a:picLocks noChangeAspect="1"/>
          </p:cNvPicPr>
          <p:nvPr/>
        </p:nvPicPr>
        <p:blipFill>
          <a:blip r:embed="rId1"/>
          <a:stretch>
            <a:fillRect/>
          </a:stretch>
        </p:blipFill>
        <p:spPr>
          <a:xfrm>
            <a:off x="1040130" y="2183130"/>
            <a:ext cx="342900" cy="342900"/>
          </a:xfrm>
          <a:prstGeom prst="rect">
            <a:avLst/>
          </a:prstGeom>
        </p:spPr>
      </p:pic>
      <p:sp>
        <p:nvSpPr>
          <p:cNvPr id="8" name="Text 4"/>
          <p:cNvSpPr txBox="1"/>
          <p:nvPr/>
        </p:nvSpPr>
        <p:spPr>
          <a:xfrm>
            <a:off x="1783080" y="1965960"/>
            <a:ext cx="3947008" cy="1417320"/>
          </a:xfrm>
          <a:prstGeom prst="rect">
            <a:avLst/>
          </a:prstGeom>
          <a:noFill/>
          <a:ln/>
        </p:spPr>
        <p:txBody>
          <a:bodyPr wrap="square" lIns="0" tIns="0" rIns="0" bIns="0" rtlCol="0" anchor="t"/>
          <a:lstStyle/>
          <a:p>
            <a:pPr indent="0" marL="0">
              <a:spcAft>
                <a:spcPts val="600"/>
              </a:spcAft>
              <a:buNone/>
            </a:pPr>
            <a:r>
              <a:rPr lang="en-US" sz="1900" b="1" dirty="0">
                <a:solidFill>
                  <a:schemeClr val="tx2"/>
                </a:solidFill>
              </a:rPr>
              <a:t>Yeni başlıyorum</a:t>
            </a:r>
            <a:endParaRPr lang="en-US" sz="1900" dirty="0"/>
          </a:p>
          <a:p>
            <a:pPr indent="0" marL="0">
              <a:spcAft>
                <a:spcPts val="600"/>
              </a:spcAft>
              <a:buNone/>
            </a:pPr>
            <a:r>
              <a:rPr lang="en-US" sz="1500" dirty="0">
                <a:solidFill>
                  <a:schemeClr val="tx1"/>
                </a:solidFill>
              </a:rPr>
              <a:t>Ücretsiz LLM + Reactive Resume</a:t>
            </a:r>
            <a:endParaRPr lang="en-US" sz="1900" dirty="0"/>
          </a:p>
        </p:txBody>
      </p:sp>
      <p:sp>
        <p:nvSpPr>
          <p:cNvPr id="9" name="kart"/>
          <p:cNvSpPr/>
          <p:nvPr/>
        </p:nvSpPr>
        <p:spPr>
          <a:xfrm>
            <a:off x="6233008" y="1691640"/>
            <a:ext cx="5410048" cy="1874520"/>
          </a:xfrm>
          <a:prstGeom prst="roundRect">
            <a:avLst>
              <a:gd name="adj" fmla="val 3902"/>
            </a:avLst>
          </a:prstGeom>
          <a:solidFill>
            <a:schemeClr val="bg2"/>
          </a:solidFill>
          <a:ln/>
        </p:spPr>
      </p:sp>
      <p:sp>
        <p:nvSpPr>
          <p:cNvPr id="10" name="ikon-daire"/>
          <p:cNvSpPr/>
          <p:nvPr/>
        </p:nvSpPr>
        <p:spPr>
          <a:xfrm>
            <a:off x="6553048" y="2011680"/>
            <a:ext cx="685800" cy="685800"/>
          </a:xfrm>
          <a:prstGeom prst="ellipse">
            <a:avLst/>
          </a:prstGeom>
          <a:solidFill>
            <a:schemeClr val="accent1"/>
          </a:solidFill>
          <a:ln/>
        </p:spPr>
      </p:sp>
      <p:pic>
        <p:nvPicPr>
          <p:cNvPr id="11" name="ikon" descr="preencoded.png">    </p:cNvPr>
          <p:cNvPicPr>
            <a:picLocks noChangeAspect="1"/>
          </p:cNvPicPr>
          <p:nvPr/>
        </p:nvPicPr>
        <p:blipFill>
          <a:blip r:embed="rId2"/>
          <a:stretch>
            <a:fillRect/>
          </a:stretch>
        </p:blipFill>
        <p:spPr>
          <a:xfrm>
            <a:off x="6724498" y="2183130"/>
            <a:ext cx="342900" cy="342900"/>
          </a:xfrm>
          <a:prstGeom prst="rect">
            <a:avLst/>
          </a:prstGeom>
        </p:spPr>
      </p:pic>
      <p:sp>
        <p:nvSpPr>
          <p:cNvPr id="12" name="Text 7"/>
          <p:cNvSpPr txBox="1"/>
          <p:nvPr/>
        </p:nvSpPr>
        <p:spPr>
          <a:xfrm>
            <a:off x="7467448" y="1965960"/>
            <a:ext cx="3947008" cy="1417320"/>
          </a:xfrm>
          <a:prstGeom prst="rect">
            <a:avLst/>
          </a:prstGeom>
          <a:noFill/>
          <a:ln/>
        </p:spPr>
        <p:txBody>
          <a:bodyPr wrap="square" lIns="0" tIns="0" rIns="0" bIns="0" rtlCol="0" anchor="t"/>
          <a:lstStyle/>
          <a:p>
            <a:pPr indent="0" marL="0">
              <a:spcAft>
                <a:spcPts val="600"/>
              </a:spcAft>
              <a:buNone/>
            </a:pPr>
            <a:r>
              <a:rPr lang="en-US" sz="1900" b="1" dirty="0">
                <a:solidFill>
                  <a:schemeClr val="tx2"/>
                </a:solidFill>
              </a:rPr>
              <a:t>ATS'ye takılıyor muyum?</a:t>
            </a:r>
            <a:endParaRPr lang="en-US" sz="1900" dirty="0"/>
          </a:p>
          <a:p>
            <a:pPr indent="0" marL="0">
              <a:spcAft>
                <a:spcPts val="600"/>
              </a:spcAft>
              <a:buNone/>
            </a:pPr>
            <a:r>
              <a:rPr lang="en-US" sz="1500" dirty="0">
                <a:solidFill>
                  <a:schemeClr val="tx1"/>
                </a:solidFill>
              </a:rPr>
              <a:t>OpenResume ayrıştırıcı, Jobscan ücretsiz taramaları</a:t>
            </a:r>
            <a:endParaRPr lang="en-US" sz="1900" dirty="0"/>
          </a:p>
        </p:txBody>
      </p:sp>
      <p:sp>
        <p:nvSpPr>
          <p:cNvPr id="13" name="kart"/>
          <p:cNvSpPr/>
          <p:nvPr/>
        </p:nvSpPr>
        <p:spPr>
          <a:xfrm>
            <a:off x="548640" y="3840480"/>
            <a:ext cx="5410048" cy="1874520"/>
          </a:xfrm>
          <a:prstGeom prst="roundRect">
            <a:avLst>
              <a:gd name="adj" fmla="val 3902"/>
            </a:avLst>
          </a:prstGeom>
          <a:solidFill>
            <a:schemeClr val="bg2"/>
          </a:solidFill>
          <a:ln/>
        </p:spPr>
      </p:sp>
      <p:sp>
        <p:nvSpPr>
          <p:cNvPr id="14" name="ikon-daire"/>
          <p:cNvSpPr/>
          <p:nvPr/>
        </p:nvSpPr>
        <p:spPr>
          <a:xfrm>
            <a:off x="868680" y="4160520"/>
            <a:ext cx="685800" cy="685800"/>
          </a:xfrm>
          <a:prstGeom prst="ellipse">
            <a:avLst/>
          </a:prstGeom>
          <a:solidFill>
            <a:schemeClr val="accent1"/>
          </a:solidFill>
          <a:ln/>
        </p:spPr>
      </p:sp>
      <p:pic>
        <p:nvPicPr>
          <p:cNvPr id="15" name="ikon" descr="preencoded.png">    </p:cNvPr>
          <p:cNvPicPr>
            <a:picLocks noChangeAspect="1"/>
          </p:cNvPicPr>
          <p:nvPr/>
        </p:nvPicPr>
        <p:blipFill>
          <a:blip r:embed="rId3"/>
          <a:stretch>
            <a:fillRect/>
          </a:stretch>
        </p:blipFill>
        <p:spPr>
          <a:xfrm>
            <a:off x="1040130" y="4331970"/>
            <a:ext cx="342900" cy="342900"/>
          </a:xfrm>
          <a:prstGeom prst="rect">
            <a:avLst/>
          </a:prstGeom>
        </p:spPr>
      </p:pic>
      <p:sp>
        <p:nvSpPr>
          <p:cNvPr id="16" name="Text 10"/>
          <p:cNvSpPr txBox="1"/>
          <p:nvPr/>
        </p:nvSpPr>
        <p:spPr>
          <a:xfrm>
            <a:off x="1783080" y="4114800"/>
            <a:ext cx="3947008" cy="1417320"/>
          </a:xfrm>
          <a:prstGeom prst="rect">
            <a:avLst/>
          </a:prstGeom>
          <a:noFill/>
          <a:ln/>
        </p:spPr>
        <p:txBody>
          <a:bodyPr wrap="square" lIns="0" tIns="0" rIns="0" bIns="0" rtlCol="0" anchor="t"/>
          <a:lstStyle/>
          <a:p>
            <a:pPr indent="0" marL="0">
              <a:spcAft>
                <a:spcPts val="600"/>
              </a:spcAft>
              <a:buNone/>
            </a:pPr>
            <a:r>
              <a:rPr lang="en-US" sz="1900" b="1" dirty="0">
                <a:solidFill>
                  <a:schemeClr val="tx2"/>
                </a:solidFill>
              </a:rPr>
              <a:t>Çok başvuru, takip zor</a:t>
            </a:r>
            <a:endParaRPr lang="en-US" sz="1900" dirty="0"/>
          </a:p>
          <a:p>
            <a:pPr indent="0" marL="0">
              <a:spcAft>
                <a:spcPts val="600"/>
              </a:spcAft>
              <a:buNone/>
            </a:pPr>
            <a:r>
              <a:rPr lang="en-US" sz="1500" dirty="0">
                <a:solidFill>
                  <a:schemeClr val="tx1"/>
                </a:solidFill>
              </a:rPr>
              <a:t>Huntr veya Teal ücretsiz katmanı</a:t>
            </a:r>
            <a:endParaRPr lang="en-US" sz="1900" dirty="0"/>
          </a:p>
        </p:txBody>
      </p:sp>
      <p:sp>
        <p:nvSpPr>
          <p:cNvPr id="17" name="kart"/>
          <p:cNvSpPr/>
          <p:nvPr/>
        </p:nvSpPr>
        <p:spPr>
          <a:xfrm>
            <a:off x="6233008" y="3840480"/>
            <a:ext cx="5410048" cy="1874520"/>
          </a:xfrm>
          <a:prstGeom prst="roundRect">
            <a:avLst>
              <a:gd name="adj" fmla="val 3902"/>
            </a:avLst>
          </a:prstGeom>
          <a:solidFill>
            <a:schemeClr val="bg2"/>
          </a:solidFill>
          <a:ln/>
        </p:spPr>
      </p:sp>
      <p:sp>
        <p:nvSpPr>
          <p:cNvPr id="18" name="ikon-daire"/>
          <p:cNvSpPr/>
          <p:nvPr/>
        </p:nvSpPr>
        <p:spPr>
          <a:xfrm>
            <a:off x="6553048" y="4160520"/>
            <a:ext cx="685800" cy="685800"/>
          </a:xfrm>
          <a:prstGeom prst="ellipse">
            <a:avLst/>
          </a:prstGeom>
          <a:solidFill>
            <a:schemeClr val="accent1"/>
          </a:solidFill>
          <a:ln/>
        </p:spPr>
      </p:sp>
      <p:pic>
        <p:nvPicPr>
          <p:cNvPr id="19" name="ikon" descr="preencoded.png">    </p:cNvPr>
          <p:cNvPicPr>
            <a:picLocks noChangeAspect="1"/>
          </p:cNvPicPr>
          <p:nvPr/>
        </p:nvPicPr>
        <p:blipFill>
          <a:blip r:embed="rId4"/>
          <a:stretch>
            <a:fillRect/>
          </a:stretch>
        </p:blipFill>
        <p:spPr>
          <a:xfrm>
            <a:off x="6724498" y="4331970"/>
            <a:ext cx="342900" cy="342900"/>
          </a:xfrm>
          <a:prstGeom prst="rect">
            <a:avLst/>
          </a:prstGeom>
        </p:spPr>
      </p:pic>
      <p:sp>
        <p:nvSpPr>
          <p:cNvPr id="20" name="Text 13"/>
          <p:cNvSpPr txBox="1"/>
          <p:nvPr/>
        </p:nvSpPr>
        <p:spPr>
          <a:xfrm>
            <a:off x="7467448" y="4114800"/>
            <a:ext cx="3947008" cy="1417320"/>
          </a:xfrm>
          <a:prstGeom prst="rect">
            <a:avLst/>
          </a:prstGeom>
          <a:noFill/>
          <a:ln/>
        </p:spPr>
        <p:txBody>
          <a:bodyPr wrap="square" lIns="0" tIns="0" rIns="0" bIns="0" rtlCol="0" anchor="t"/>
          <a:lstStyle/>
          <a:p>
            <a:pPr indent="0" marL="0">
              <a:spcAft>
                <a:spcPts val="600"/>
              </a:spcAft>
              <a:buNone/>
            </a:pPr>
            <a:r>
              <a:rPr lang="en-US" sz="1900" b="1" dirty="0">
                <a:solidFill>
                  <a:schemeClr val="tx2"/>
                </a:solidFill>
              </a:rPr>
              <a:t>Geliştiriciyim, kontrol bende olsun</a:t>
            </a:r>
            <a:endParaRPr lang="en-US" sz="1900" dirty="0"/>
          </a:p>
          <a:p>
            <a:pPr indent="0" marL="0">
              <a:spcAft>
                <a:spcPts val="600"/>
              </a:spcAft>
              <a:buNone/>
            </a:pPr>
            <a:r>
              <a:rPr lang="en-US" sz="1500" dirty="0">
                <a:solidFill>
                  <a:schemeClr val="tx1"/>
                </a:solidFill>
              </a:rPr>
              <a:t>RenderCV veya LaTeX + Git + eylemci (career-ops, ai-job-search ya da kendi AGENTS.md dosyan)</a:t>
            </a:r>
            <a:endParaRPr lang="en-US" sz="19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170"/>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1" type="body" hasCustomPrompt="1"/>
          </p:nvPr>
        </p:nvSpPr>
        <p:spPr>
          <a:xfrm>
            <a:off x="548640" y="320040"/>
            <a:ext cx="8778240" cy="320040"/>
          </a:xfrm>
          <a:prstGeom prst="rect">
            <a:avLst/>
          </a:prstGeom>
          <a:noFill/>
          <a:ln/>
        </p:spPr>
        <p:txBody>
          <a:bodyPr wrap="square" lIns="0" tIns="0" rIns="0" bIns="0" rtlCol="0" anchor="ctr"/>
          <a:lstStyle/>
          <a:p>
            <a:pPr indent="0" marL="0">
              <a:buNone/>
            </a:pPr>
            <a:r>
              <a:rPr lang="en-US" sz="1300" b="1" spc="200" kern="0" dirty="0">
                <a:solidFill>
                  <a:schemeClr val="accent3"/>
                </a:solidFill>
              </a:rPr>
              <a:t>KAPANIŞ</a:t>
            </a:r>
            <a:endParaRPr lang="en-US" sz="1300" dirty="0"/>
          </a:p>
        </p:txBody>
      </p:sp>
      <p:sp>
        <p:nvSpPr>
          <p:cNvPr id="3" name="Text 0"/>
          <p:cNvSpPr/>
          <p:nvPr>
            <p:ph idx="102" type="title" hasCustomPrompt="1"/>
          </p:nvPr>
        </p:nvSpPr>
        <p:spPr>
          <a:xfrm>
            <a:off x="548640" y="658368"/>
            <a:ext cx="9052560" cy="731520"/>
          </a:xfrm>
          <a:prstGeom prst="rect">
            <a:avLst/>
          </a:prstGeom>
          <a:noFill/>
          <a:ln/>
        </p:spPr>
        <p:txBody>
          <a:bodyPr wrap="square" lIns="0" tIns="0" rIns="0" bIns="0" rtlCol="0" anchor="t"/>
          <a:lstStyle/>
          <a:p>
            <a:pPr algn="l" indent="0" marL="0">
              <a:buNone/>
            </a:pPr>
            <a:r>
              <a:rPr lang="en-US" sz="3400" b="1" dirty="0">
                <a:solidFill>
                  <a:schemeClr val="tx2"/>
                </a:solidFill>
              </a:rPr>
              <a:t>Riskler ve Etik</a:t>
            </a:r>
            <a:endParaRPr lang="en-US" sz="3400" dirty="0"/>
          </a:p>
        </p:txBody>
      </p:sp>
      <p:sp>
        <p:nvSpPr>
          <p:cNvPr id="5" name="ikon-daire"/>
          <p:cNvSpPr/>
          <p:nvPr/>
        </p:nvSpPr>
        <p:spPr>
          <a:xfrm>
            <a:off x="548640" y="1737360"/>
            <a:ext cx="566928" cy="566928"/>
          </a:xfrm>
          <a:prstGeom prst="ellipse">
            <a:avLst/>
          </a:prstGeom>
          <a:solidFill>
            <a:schemeClr val="accent4"/>
          </a:solidFill>
          <a:ln/>
        </p:spPr>
      </p:sp>
      <p:pic>
        <p:nvPicPr>
          <p:cNvPr id="6" name="ikon" descr="preencoded.png">    </p:cNvPr>
          <p:cNvPicPr>
            <a:picLocks noChangeAspect="1"/>
          </p:cNvPicPr>
          <p:nvPr/>
        </p:nvPicPr>
        <p:blipFill>
          <a:blip r:embed="rId1"/>
          <a:stretch>
            <a:fillRect/>
          </a:stretch>
        </p:blipFill>
        <p:spPr>
          <a:xfrm>
            <a:off x="690372" y="1879092"/>
            <a:ext cx="283464" cy="283464"/>
          </a:xfrm>
          <a:prstGeom prst="rect">
            <a:avLst/>
          </a:prstGeom>
        </p:spPr>
      </p:pic>
      <p:sp>
        <p:nvSpPr>
          <p:cNvPr id="7" name="Text 3"/>
          <p:cNvSpPr txBox="1"/>
          <p:nvPr/>
        </p:nvSpPr>
        <p:spPr>
          <a:xfrm>
            <a:off x="1344168" y="1691640"/>
            <a:ext cx="6428232" cy="960120"/>
          </a:xfrm>
          <a:prstGeom prst="rect">
            <a:avLst/>
          </a:prstGeom>
          <a:noFill/>
          <a:ln/>
        </p:spPr>
        <p:txBody>
          <a:bodyPr wrap="square" lIns="0" tIns="0" rIns="0" bIns="0" rtlCol="0" anchor="t"/>
          <a:lstStyle/>
          <a:p>
            <a:pPr indent="0" marL="0">
              <a:spcAft>
                <a:spcPts val="200"/>
              </a:spcAft>
              <a:buNone/>
            </a:pPr>
            <a:r>
              <a:rPr lang="en-US" sz="1800" b="1" dirty="0">
                <a:solidFill>
                  <a:schemeClr val="tx2"/>
                </a:solidFill>
              </a:rPr>
              <a:t>Uydurma</a:t>
            </a:r>
            <a:endParaRPr lang="en-US" sz="1800" dirty="0"/>
          </a:p>
          <a:p>
            <a:pPr indent="0" marL="0">
              <a:spcAft>
                <a:spcPts val="200"/>
              </a:spcAft>
              <a:buNone/>
            </a:pPr>
            <a:r>
              <a:rPr lang="en-US" sz="1500" dirty="0">
                <a:solidFill>
                  <a:schemeClr val="tx1"/>
                </a:solidFill>
              </a:rPr>
              <a:t>LLM olmayan deneyim veya sayı ekleyebilir; her maddeyi doğrula</a:t>
            </a:r>
            <a:endParaRPr lang="en-US" sz="1800" dirty="0"/>
          </a:p>
        </p:txBody>
      </p:sp>
      <p:sp>
        <p:nvSpPr>
          <p:cNvPr id="8" name="ikon-daire"/>
          <p:cNvSpPr/>
          <p:nvPr/>
        </p:nvSpPr>
        <p:spPr>
          <a:xfrm>
            <a:off x="548640" y="2816352"/>
            <a:ext cx="566928" cy="566928"/>
          </a:xfrm>
          <a:prstGeom prst="ellipse">
            <a:avLst/>
          </a:prstGeom>
          <a:solidFill>
            <a:schemeClr val="accent4"/>
          </a:solidFill>
          <a:ln/>
        </p:spPr>
      </p:sp>
      <p:pic>
        <p:nvPicPr>
          <p:cNvPr id="9" name="ikon" descr="preencoded.png">    </p:cNvPr>
          <p:cNvPicPr>
            <a:picLocks noChangeAspect="1"/>
          </p:cNvPicPr>
          <p:nvPr/>
        </p:nvPicPr>
        <p:blipFill>
          <a:blip r:embed="rId2"/>
          <a:stretch>
            <a:fillRect/>
          </a:stretch>
        </p:blipFill>
        <p:spPr>
          <a:xfrm>
            <a:off x="690372" y="2958084"/>
            <a:ext cx="283464" cy="283464"/>
          </a:xfrm>
          <a:prstGeom prst="rect">
            <a:avLst/>
          </a:prstGeom>
        </p:spPr>
      </p:pic>
      <p:sp>
        <p:nvSpPr>
          <p:cNvPr id="10" name="Text 5"/>
          <p:cNvSpPr txBox="1"/>
          <p:nvPr/>
        </p:nvSpPr>
        <p:spPr>
          <a:xfrm>
            <a:off x="1344168" y="2770632"/>
            <a:ext cx="6428232" cy="960120"/>
          </a:xfrm>
          <a:prstGeom prst="rect">
            <a:avLst/>
          </a:prstGeom>
          <a:noFill/>
          <a:ln/>
        </p:spPr>
        <p:txBody>
          <a:bodyPr wrap="square" lIns="0" tIns="0" rIns="0" bIns="0" rtlCol="0" anchor="t"/>
          <a:lstStyle/>
          <a:p>
            <a:pPr indent="0" marL="0">
              <a:spcAft>
                <a:spcPts val="200"/>
              </a:spcAft>
              <a:buNone/>
            </a:pPr>
            <a:r>
              <a:rPr lang="en-US" sz="1800" b="1" dirty="0">
                <a:solidFill>
                  <a:schemeClr val="tx2"/>
                </a:solidFill>
              </a:rPr>
              <a:t>Kişisel veri (KVKK)</a:t>
            </a:r>
            <a:endParaRPr lang="en-US" sz="1800" dirty="0"/>
          </a:p>
          <a:p>
            <a:pPr indent="0" marL="0">
              <a:spcAft>
                <a:spcPts val="200"/>
              </a:spcAft>
              <a:buNone/>
            </a:pPr>
            <a:r>
              <a:rPr lang="en-US" sz="1500" dirty="0">
                <a:solidFill>
                  <a:schemeClr val="tx1"/>
                </a:solidFill>
              </a:rPr>
              <a:t>Telefon, adres, kimlik bilgisini bulut LLM'e yükleme; maskele veya yerel model kullan</a:t>
            </a:r>
            <a:endParaRPr lang="en-US" sz="1800" dirty="0"/>
          </a:p>
        </p:txBody>
      </p:sp>
      <p:sp>
        <p:nvSpPr>
          <p:cNvPr id="11" name="ikon-daire"/>
          <p:cNvSpPr/>
          <p:nvPr/>
        </p:nvSpPr>
        <p:spPr>
          <a:xfrm>
            <a:off x="548640" y="3895344"/>
            <a:ext cx="566928" cy="566928"/>
          </a:xfrm>
          <a:prstGeom prst="ellipse">
            <a:avLst/>
          </a:prstGeom>
          <a:solidFill>
            <a:schemeClr val="accent4"/>
          </a:solidFill>
          <a:ln/>
        </p:spPr>
      </p:sp>
      <p:pic>
        <p:nvPicPr>
          <p:cNvPr id="12" name="ikon" descr="preencoded.png">    </p:cNvPr>
          <p:cNvPicPr>
            <a:picLocks noChangeAspect="1"/>
          </p:cNvPicPr>
          <p:nvPr/>
        </p:nvPicPr>
        <p:blipFill>
          <a:blip r:embed="rId3"/>
          <a:stretch>
            <a:fillRect/>
          </a:stretch>
        </p:blipFill>
        <p:spPr>
          <a:xfrm>
            <a:off x="690372" y="4037076"/>
            <a:ext cx="283464" cy="283464"/>
          </a:xfrm>
          <a:prstGeom prst="rect">
            <a:avLst/>
          </a:prstGeom>
        </p:spPr>
      </p:pic>
      <p:sp>
        <p:nvSpPr>
          <p:cNvPr id="13" name="Text 7"/>
          <p:cNvSpPr txBox="1"/>
          <p:nvPr/>
        </p:nvSpPr>
        <p:spPr>
          <a:xfrm>
            <a:off x="1344168" y="3849624"/>
            <a:ext cx="6428232" cy="960120"/>
          </a:xfrm>
          <a:prstGeom prst="rect">
            <a:avLst/>
          </a:prstGeom>
          <a:noFill/>
          <a:ln/>
        </p:spPr>
        <p:txBody>
          <a:bodyPr wrap="square" lIns="0" tIns="0" rIns="0" bIns="0" rtlCol="0" anchor="t"/>
          <a:lstStyle/>
          <a:p>
            <a:pPr indent="0" marL="0">
              <a:spcAft>
                <a:spcPts val="200"/>
              </a:spcAft>
              <a:buNone/>
            </a:pPr>
            <a:r>
              <a:rPr lang="en-US" sz="1800" b="1" dirty="0">
                <a:solidFill>
                  <a:schemeClr val="tx2"/>
                </a:solidFill>
              </a:rPr>
              <a:t>Otomatik toplu başvuru</a:t>
            </a:r>
            <a:endParaRPr lang="en-US" sz="1800" dirty="0"/>
          </a:p>
          <a:p>
            <a:pPr indent="0" marL="0">
              <a:spcAft>
                <a:spcPts val="200"/>
              </a:spcAft>
              <a:buNone/>
            </a:pPr>
            <a:r>
              <a:rPr lang="en-US" sz="1500" dirty="0">
                <a:solidFill>
                  <a:schemeClr val="tx1"/>
                </a:solidFill>
              </a:rPr>
              <a:t>Platform koşullarını ihlal edebilir, hesap kısıtlanabilir</a:t>
            </a:r>
            <a:endParaRPr lang="en-US" sz="1800" dirty="0"/>
          </a:p>
        </p:txBody>
      </p:sp>
      <p:sp>
        <p:nvSpPr>
          <p:cNvPr id="14" name="ikon-daire"/>
          <p:cNvSpPr/>
          <p:nvPr/>
        </p:nvSpPr>
        <p:spPr>
          <a:xfrm>
            <a:off x="548640" y="4974336"/>
            <a:ext cx="566928" cy="566928"/>
          </a:xfrm>
          <a:prstGeom prst="ellipse">
            <a:avLst/>
          </a:prstGeom>
          <a:solidFill>
            <a:schemeClr val="accent4"/>
          </a:solidFill>
          <a:ln/>
        </p:spPr>
      </p:sp>
      <p:pic>
        <p:nvPicPr>
          <p:cNvPr id="15" name="ikon" descr="preencoded.png">    </p:cNvPr>
          <p:cNvPicPr>
            <a:picLocks noChangeAspect="1"/>
          </p:cNvPicPr>
          <p:nvPr/>
        </p:nvPicPr>
        <p:blipFill>
          <a:blip r:embed="rId4"/>
          <a:stretch>
            <a:fillRect/>
          </a:stretch>
        </p:blipFill>
        <p:spPr>
          <a:xfrm>
            <a:off x="690372" y="5116068"/>
            <a:ext cx="283464" cy="283464"/>
          </a:xfrm>
          <a:prstGeom prst="rect">
            <a:avLst/>
          </a:prstGeom>
        </p:spPr>
      </p:pic>
      <p:sp>
        <p:nvSpPr>
          <p:cNvPr id="16" name="Text 9"/>
          <p:cNvSpPr txBox="1"/>
          <p:nvPr/>
        </p:nvSpPr>
        <p:spPr>
          <a:xfrm>
            <a:off x="1344168" y="4928616"/>
            <a:ext cx="6428232" cy="960120"/>
          </a:xfrm>
          <a:prstGeom prst="rect">
            <a:avLst/>
          </a:prstGeom>
          <a:noFill/>
          <a:ln/>
        </p:spPr>
        <p:txBody>
          <a:bodyPr wrap="square" lIns="0" tIns="0" rIns="0" bIns="0" rtlCol="0" anchor="t"/>
          <a:lstStyle/>
          <a:p>
            <a:pPr indent="0" marL="0">
              <a:spcAft>
                <a:spcPts val="200"/>
              </a:spcAft>
              <a:buNone/>
            </a:pPr>
            <a:r>
              <a:rPr lang="en-US" sz="1800" b="1" dirty="0">
                <a:solidFill>
                  <a:schemeClr val="tx2"/>
                </a:solidFill>
              </a:rPr>
              <a:t>"YZ kokan" metin</a:t>
            </a:r>
            <a:endParaRPr lang="en-US" sz="1800" dirty="0"/>
          </a:p>
          <a:p>
            <a:pPr indent="0" marL="0">
              <a:spcAft>
                <a:spcPts val="200"/>
              </a:spcAft>
              <a:buNone/>
            </a:pPr>
            <a:r>
              <a:rPr lang="en-US" sz="1500" dirty="0">
                <a:solidFill>
                  <a:schemeClr val="tx1"/>
                </a:solidFill>
              </a:rPr>
              <a:t>Kalıp ifadeler, abartılı sıfatlar; kendi sesini koru</a:t>
            </a:r>
            <a:endParaRPr lang="en-US" sz="1800" dirty="0"/>
          </a:p>
        </p:txBody>
      </p:sp>
      <p:sp>
        <p:nvSpPr>
          <p:cNvPr id="17" name="son-karar"/>
          <p:cNvSpPr/>
          <p:nvPr/>
        </p:nvSpPr>
        <p:spPr>
          <a:xfrm>
            <a:off x="8138160" y="1691640"/>
            <a:ext cx="3504895" cy="4160520"/>
          </a:xfrm>
          <a:prstGeom prst="roundRect">
            <a:avLst>
              <a:gd name="adj" fmla="val 2087"/>
            </a:avLst>
          </a:prstGeom>
          <a:solidFill>
            <a:schemeClr val="accent1"/>
          </a:solidFill>
          <a:ln/>
        </p:spPr>
      </p:sp>
      <p:sp>
        <p:nvSpPr>
          <p:cNvPr id="18" name="ikon-daire"/>
          <p:cNvSpPr/>
          <p:nvPr/>
        </p:nvSpPr>
        <p:spPr>
          <a:xfrm>
            <a:off x="9341968" y="2194560"/>
            <a:ext cx="1097280" cy="1097280"/>
          </a:xfrm>
          <a:prstGeom prst="ellipse">
            <a:avLst/>
          </a:prstGeom>
          <a:solidFill>
            <a:schemeClr val="accent2"/>
          </a:solidFill>
          <a:ln/>
        </p:spPr>
      </p:sp>
      <p:pic>
        <p:nvPicPr>
          <p:cNvPr id="19" name="ikon" descr="preencoded.png">    </p:cNvPr>
          <p:cNvPicPr>
            <a:picLocks noChangeAspect="1"/>
          </p:cNvPicPr>
          <p:nvPr/>
        </p:nvPicPr>
        <p:blipFill>
          <a:blip r:embed="rId5"/>
          <a:stretch>
            <a:fillRect/>
          </a:stretch>
        </p:blipFill>
        <p:spPr>
          <a:xfrm>
            <a:off x="9616288" y="2468880"/>
            <a:ext cx="548640" cy="548640"/>
          </a:xfrm>
          <a:prstGeom prst="rect">
            <a:avLst/>
          </a:prstGeom>
        </p:spPr>
      </p:pic>
      <p:sp>
        <p:nvSpPr>
          <p:cNvPr id="20" name="Text 12"/>
          <p:cNvSpPr txBox="1"/>
          <p:nvPr/>
        </p:nvSpPr>
        <p:spPr>
          <a:xfrm>
            <a:off x="8412480" y="3566160"/>
            <a:ext cx="2956255" cy="1828800"/>
          </a:xfrm>
          <a:prstGeom prst="rect">
            <a:avLst/>
          </a:prstGeom>
          <a:noFill/>
          <a:ln/>
        </p:spPr>
        <p:txBody>
          <a:bodyPr wrap="square" lIns="0" tIns="0" rIns="0" bIns="0" rtlCol="0" anchor="t"/>
          <a:lstStyle/>
          <a:p>
            <a:pPr algn="ctr" indent="0" marL="0">
              <a:spcAft>
                <a:spcPts val="800"/>
              </a:spcAft>
              <a:buNone/>
            </a:pPr>
            <a:r>
              <a:rPr lang="en-US" sz="2400" b="1" dirty="0">
                <a:solidFill>
                  <a:schemeClr val="bg1"/>
                </a:solidFill>
              </a:rPr>
              <a:t>Son karar insanda</a:t>
            </a:r>
            <a:endParaRPr lang="en-US" sz="2400" dirty="0"/>
          </a:p>
          <a:p>
            <a:pPr algn="ctr" indent="0" marL="0">
              <a:spcAft>
                <a:spcPts val="800"/>
              </a:spcAft>
              <a:buNone/>
            </a:pPr>
            <a:r>
              <a:rPr lang="en-US" sz="1600" dirty="0">
                <a:solidFill>
                  <a:schemeClr val="bg2"/>
                </a:solidFill>
              </a:rPr>
              <a:t>Eylemci önerir, siz onaylarsınız.</a:t>
            </a:r>
            <a:endParaRPr lang="en-US" sz="2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170"/>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1" type="body" hasCustomPrompt="1"/>
          </p:nvPr>
        </p:nvSpPr>
        <p:spPr>
          <a:xfrm>
            <a:off x="548640" y="320040"/>
            <a:ext cx="8778240" cy="320040"/>
          </a:xfrm>
          <a:prstGeom prst="rect">
            <a:avLst/>
          </a:prstGeom>
          <a:noFill/>
          <a:ln/>
        </p:spPr>
        <p:txBody>
          <a:bodyPr wrap="square" lIns="0" tIns="0" rIns="0" bIns="0" rtlCol="0" anchor="ctr"/>
          <a:lstStyle/>
          <a:p>
            <a:pPr indent="0" marL="0">
              <a:buNone/>
            </a:pPr>
            <a:r>
              <a:rPr lang="en-US" sz="1300" b="1" spc="200" kern="0" dirty="0">
                <a:solidFill>
                  <a:schemeClr val="accent3"/>
                </a:solidFill>
              </a:rPr>
              <a:t>KAPANIŞ</a:t>
            </a:r>
            <a:endParaRPr lang="en-US" sz="1300" dirty="0"/>
          </a:p>
        </p:txBody>
      </p:sp>
      <p:sp>
        <p:nvSpPr>
          <p:cNvPr id="3" name="Text 0"/>
          <p:cNvSpPr/>
          <p:nvPr>
            <p:ph idx="102" type="title" hasCustomPrompt="1"/>
          </p:nvPr>
        </p:nvSpPr>
        <p:spPr>
          <a:xfrm>
            <a:off x="548640" y="658368"/>
            <a:ext cx="9052560" cy="731520"/>
          </a:xfrm>
          <a:prstGeom prst="rect">
            <a:avLst/>
          </a:prstGeom>
          <a:noFill/>
          <a:ln/>
        </p:spPr>
        <p:txBody>
          <a:bodyPr wrap="square" lIns="0" tIns="0" rIns="0" bIns="0" rtlCol="0" anchor="t"/>
          <a:lstStyle/>
          <a:p>
            <a:pPr algn="l" indent="0" marL="0">
              <a:buNone/>
            </a:pPr>
            <a:r>
              <a:rPr lang="en-US" sz="3400" b="1" dirty="0">
                <a:solidFill>
                  <a:schemeClr val="tx2"/>
                </a:solidFill>
              </a:rPr>
              <a:t>Bugün Başlayın</a:t>
            </a:r>
            <a:endParaRPr lang="en-US" sz="3400" dirty="0"/>
          </a:p>
        </p:txBody>
      </p:sp>
      <p:sp>
        <p:nvSpPr>
          <p:cNvPr id="5" name="zaman-cizgisi"/>
          <p:cNvSpPr/>
          <p:nvPr/>
        </p:nvSpPr>
        <p:spPr>
          <a:xfrm>
            <a:off x="1658082" y="2514600"/>
            <a:ext cx="8875532" cy="0"/>
          </a:xfrm>
          <a:prstGeom prst="line">
            <a:avLst/>
          </a:prstGeom>
          <a:noFill/>
          <a:ln w="25400">
            <a:solidFill>
              <a:schemeClr val="accent2"/>
            </a:solidFill>
            <a:prstDash val="solid"/>
          </a:ln>
        </p:spPr>
      </p:sp>
      <p:sp>
        <p:nvSpPr>
          <p:cNvPr id="6" name="Shape 3"/>
          <p:cNvSpPr/>
          <p:nvPr/>
        </p:nvSpPr>
        <p:spPr>
          <a:xfrm>
            <a:off x="1246602" y="2103120"/>
            <a:ext cx="822960" cy="822960"/>
          </a:xfrm>
          <a:prstGeom prst="ellipse">
            <a:avLst/>
          </a:prstGeom>
          <a:solidFill>
            <a:schemeClr val="accent2"/>
          </a:solidFill>
          <a:ln w="38100">
            <a:solidFill>
              <a:schemeClr val="bg1"/>
            </a:solidFill>
            <a:prstDash val="solid"/>
          </a:ln>
        </p:spPr>
      </p:sp>
      <p:sp>
        <p:nvSpPr>
          <p:cNvPr id="7" name="Text 4"/>
          <p:cNvSpPr txBox="1"/>
          <p:nvPr/>
        </p:nvSpPr>
        <p:spPr>
          <a:xfrm>
            <a:off x="1246602" y="2103120"/>
            <a:ext cx="822960" cy="822960"/>
          </a:xfrm>
          <a:prstGeom prst="rect">
            <a:avLst/>
          </a:prstGeom>
          <a:noFill/>
          <a:ln/>
        </p:spPr>
        <p:txBody>
          <a:bodyPr wrap="square" lIns="0" tIns="0" rIns="0" bIns="0" rtlCol="0" anchor="ctr"/>
          <a:lstStyle/>
          <a:p>
            <a:pPr algn="ctr" indent="0" marL="0">
              <a:buNone/>
            </a:pPr>
            <a:r>
              <a:rPr lang="en-US" sz="2600" b="1" dirty="0">
                <a:solidFill>
                  <a:schemeClr val="bg1"/>
                </a:solidFill>
                <a:latin typeface="Cambria" pitchFamily="34" charset="0"/>
                <a:ea typeface="Cambria" pitchFamily="34" charset="-122"/>
                <a:cs typeface="Cambria" pitchFamily="34" charset="-120"/>
              </a:rPr>
              <a:t>1</a:t>
            </a:r>
            <a:endParaRPr lang="en-US" sz="2600" dirty="0"/>
          </a:p>
        </p:txBody>
      </p:sp>
      <p:sp>
        <p:nvSpPr>
          <p:cNvPr id="8" name="Text 5"/>
          <p:cNvSpPr txBox="1"/>
          <p:nvPr/>
        </p:nvSpPr>
        <p:spPr>
          <a:xfrm>
            <a:off x="658368" y="3200400"/>
            <a:ext cx="1999427" cy="1920240"/>
          </a:xfrm>
          <a:prstGeom prst="rect">
            <a:avLst/>
          </a:prstGeom>
          <a:noFill/>
          <a:ln/>
        </p:spPr>
        <p:txBody>
          <a:bodyPr wrap="square" lIns="0" tIns="0" rIns="0" bIns="0" rtlCol="0" anchor="t"/>
          <a:lstStyle/>
          <a:p>
            <a:pPr algn="ctr" indent="0" marL="0">
              <a:spcAft>
                <a:spcPts val="600"/>
              </a:spcAft>
              <a:buNone/>
            </a:pPr>
            <a:r>
              <a:rPr lang="en-US" sz="1900" b="1" dirty="0">
                <a:solidFill>
                  <a:schemeClr val="tx2"/>
                </a:solidFill>
              </a:rPr>
              <a:t>Tek kaynak</a:t>
            </a:r>
            <a:endParaRPr lang="en-US" sz="1900" dirty="0"/>
          </a:p>
          <a:p>
            <a:pPr algn="ctr" indent="0" marL="0">
              <a:spcAft>
                <a:spcPts val="600"/>
              </a:spcAft>
              <a:buNone/>
            </a:pPr>
            <a:r>
              <a:rPr lang="en-US" sz="1500" dirty="0">
                <a:solidFill>
                  <a:schemeClr val="tx1"/>
                </a:solidFill>
              </a:rPr>
              <a:t>Tüm deneyim ve projeleri YAML veya JSON dosyasında topla</a:t>
            </a:r>
            <a:endParaRPr lang="en-US" sz="1900" dirty="0"/>
          </a:p>
        </p:txBody>
      </p:sp>
      <p:sp>
        <p:nvSpPr>
          <p:cNvPr id="9" name="Shape 6"/>
          <p:cNvSpPr/>
          <p:nvPr/>
        </p:nvSpPr>
        <p:spPr>
          <a:xfrm>
            <a:off x="3465485" y="2103120"/>
            <a:ext cx="822960" cy="822960"/>
          </a:xfrm>
          <a:prstGeom prst="ellipse">
            <a:avLst/>
          </a:prstGeom>
          <a:solidFill>
            <a:schemeClr val="accent1"/>
          </a:solidFill>
          <a:ln w="38100">
            <a:solidFill>
              <a:schemeClr val="bg1"/>
            </a:solidFill>
            <a:prstDash val="solid"/>
          </a:ln>
        </p:spPr>
      </p:sp>
      <p:sp>
        <p:nvSpPr>
          <p:cNvPr id="10" name="Text 7"/>
          <p:cNvSpPr txBox="1"/>
          <p:nvPr/>
        </p:nvSpPr>
        <p:spPr>
          <a:xfrm>
            <a:off x="3465485" y="2103120"/>
            <a:ext cx="822960" cy="822960"/>
          </a:xfrm>
          <a:prstGeom prst="rect">
            <a:avLst/>
          </a:prstGeom>
          <a:noFill/>
          <a:ln/>
        </p:spPr>
        <p:txBody>
          <a:bodyPr wrap="square" lIns="0" tIns="0" rIns="0" bIns="0" rtlCol="0" anchor="ctr"/>
          <a:lstStyle/>
          <a:p>
            <a:pPr algn="ctr" indent="0" marL="0">
              <a:buNone/>
            </a:pPr>
            <a:r>
              <a:rPr lang="en-US" sz="2600" b="1" dirty="0">
                <a:solidFill>
                  <a:schemeClr val="bg1"/>
                </a:solidFill>
                <a:latin typeface="Cambria" pitchFamily="34" charset="0"/>
                <a:ea typeface="Cambria" pitchFamily="34" charset="-122"/>
                <a:cs typeface="Cambria" pitchFamily="34" charset="-120"/>
              </a:rPr>
              <a:t>2</a:t>
            </a:r>
            <a:endParaRPr lang="en-US" sz="2600" dirty="0"/>
          </a:p>
        </p:txBody>
      </p:sp>
      <p:sp>
        <p:nvSpPr>
          <p:cNvPr id="11" name="Text 8"/>
          <p:cNvSpPr txBox="1"/>
          <p:nvPr/>
        </p:nvSpPr>
        <p:spPr>
          <a:xfrm>
            <a:off x="2877251" y="3200400"/>
            <a:ext cx="1999427" cy="1920240"/>
          </a:xfrm>
          <a:prstGeom prst="rect">
            <a:avLst/>
          </a:prstGeom>
          <a:noFill/>
          <a:ln/>
        </p:spPr>
        <p:txBody>
          <a:bodyPr wrap="square" lIns="0" tIns="0" rIns="0" bIns="0" rtlCol="0" anchor="t"/>
          <a:lstStyle/>
          <a:p>
            <a:pPr algn="ctr" indent="0" marL="0">
              <a:spcAft>
                <a:spcPts val="600"/>
              </a:spcAft>
              <a:buNone/>
            </a:pPr>
            <a:r>
              <a:rPr lang="en-US" sz="1900" b="1" dirty="0">
                <a:solidFill>
                  <a:schemeClr val="tx2"/>
                </a:solidFill>
              </a:rPr>
              <a:t>Şablon</a:t>
            </a:r>
            <a:endParaRPr lang="en-US" sz="1900" dirty="0"/>
          </a:p>
          <a:p>
            <a:pPr algn="ctr" indent="0" marL="0">
              <a:spcAft>
                <a:spcPts val="600"/>
              </a:spcAft>
              <a:buNone/>
            </a:pPr>
            <a:r>
              <a:rPr lang="en-US" sz="1500" dirty="0">
                <a:solidFill>
                  <a:schemeClr val="tx1"/>
                </a:solidFill>
              </a:rPr>
              <a:t>ATS uyumlu tek sütun: LaTeX, RenderCV, Reactive Resume</a:t>
            </a:r>
            <a:endParaRPr lang="en-US" sz="1900" dirty="0"/>
          </a:p>
        </p:txBody>
      </p:sp>
      <p:sp>
        <p:nvSpPr>
          <p:cNvPr id="12" name="Shape 9"/>
          <p:cNvSpPr/>
          <p:nvPr/>
        </p:nvSpPr>
        <p:spPr>
          <a:xfrm>
            <a:off x="5684368" y="2103120"/>
            <a:ext cx="822960" cy="822960"/>
          </a:xfrm>
          <a:prstGeom prst="ellipse">
            <a:avLst/>
          </a:prstGeom>
          <a:solidFill>
            <a:schemeClr val="accent1"/>
          </a:solidFill>
          <a:ln w="38100">
            <a:solidFill>
              <a:schemeClr val="bg1"/>
            </a:solidFill>
            <a:prstDash val="solid"/>
          </a:ln>
        </p:spPr>
      </p:sp>
      <p:sp>
        <p:nvSpPr>
          <p:cNvPr id="13" name="Text 10"/>
          <p:cNvSpPr txBox="1"/>
          <p:nvPr/>
        </p:nvSpPr>
        <p:spPr>
          <a:xfrm>
            <a:off x="5684368" y="2103120"/>
            <a:ext cx="822960" cy="822960"/>
          </a:xfrm>
          <a:prstGeom prst="rect">
            <a:avLst/>
          </a:prstGeom>
          <a:noFill/>
          <a:ln/>
        </p:spPr>
        <p:txBody>
          <a:bodyPr wrap="square" lIns="0" tIns="0" rIns="0" bIns="0" rtlCol="0" anchor="ctr"/>
          <a:lstStyle/>
          <a:p>
            <a:pPr algn="ctr" indent="0" marL="0">
              <a:buNone/>
            </a:pPr>
            <a:r>
              <a:rPr lang="en-US" sz="2600" b="1" dirty="0">
                <a:solidFill>
                  <a:schemeClr val="bg1"/>
                </a:solidFill>
                <a:latin typeface="Cambria" pitchFamily="34" charset="0"/>
                <a:ea typeface="Cambria" pitchFamily="34" charset="-122"/>
                <a:cs typeface="Cambria" pitchFamily="34" charset="-120"/>
              </a:rPr>
              <a:t>3</a:t>
            </a:r>
            <a:endParaRPr lang="en-US" sz="2600" dirty="0"/>
          </a:p>
        </p:txBody>
      </p:sp>
      <p:sp>
        <p:nvSpPr>
          <p:cNvPr id="14" name="Text 11"/>
          <p:cNvSpPr txBox="1"/>
          <p:nvPr/>
        </p:nvSpPr>
        <p:spPr>
          <a:xfrm>
            <a:off x="5096134" y="3200400"/>
            <a:ext cx="1999427" cy="1920240"/>
          </a:xfrm>
          <a:prstGeom prst="rect">
            <a:avLst/>
          </a:prstGeom>
          <a:noFill/>
          <a:ln/>
        </p:spPr>
        <p:txBody>
          <a:bodyPr wrap="square" lIns="0" tIns="0" rIns="0" bIns="0" rtlCol="0" anchor="t"/>
          <a:lstStyle/>
          <a:p>
            <a:pPr algn="ctr" indent="0" marL="0">
              <a:spcAft>
                <a:spcPts val="600"/>
              </a:spcAft>
              <a:buNone/>
            </a:pPr>
            <a:r>
              <a:rPr lang="en-US" sz="1900" b="1" dirty="0">
                <a:solidFill>
                  <a:schemeClr val="tx2"/>
                </a:solidFill>
              </a:rPr>
              <a:t>Alan CV'leri</a:t>
            </a:r>
            <a:endParaRPr lang="en-US" sz="1900" dirty="0"/>
          </a:p>
          <a:p>
            <a:pPr algn="ctr" indent="0" marL="0">
              <a:spcAft>
                <a:spcPts val="600"/>
              </a:spcAft>
              <a:buNone/>
            </a:pPr>
            <a:r>
              <a:rPr lang="en-US" sz="1500" dirty="0">
                <a:solidFill>
                  <a:schemeClr val="tx1"/>
                </a:solidFill>
              </a:rPr>
              <a:t>Hedef rollerine göre 2-4 alan CV'si çıkar</a:t>
            </a:r>
            <a:endParaRPr lang="en-US" sz="1900" dirty="0"/>
          </a:p>
        </p:txBody>
      </p:sp>
      <p:sp>
        <p:nvSpPr>
          <p:cNvPr id="15" name="Shape 12"/>
          <p:cNvSpPr/>
          <p:nvPr/>
        </p:nvSpPr>
        <p:spPr>
          <a:xfrm>
            <a:off x="7903251" y="2103120"/>
            <a:ext cx="822960" cy="822960"/>
          </a:xfrm>
          <a:prstGeom prst="ellipse">
            <a:avLst/>
          </a:prstGeom>
          <a:solidFill>
            <a:schemeClr val="accent1"/>
          </a:solidFill>
          <a:ln w="38100">
            <a:solidFill>
              <a:schemeClr val="bg1"/>
            </a:solidFill>
            <a:prstDash val="solid"/>
          </a:ln>
        </p:spPr>
      </p:sp>
      <p:sp>
        <p:nvSpPr>
          <p:cNvPr id="16" name="Text 13"/>
          <p:cNvSpPr txBox="1"/>
          <p:nvPr/>
        </p:nvSpPr>
        <p:spPr>
          <a:xfrm>
            <a:off x="7903251" y="2103120"/>
            <a:ext cx="822960" cy="822960"/>
          </a:xfrm>
          <a:prstGeom prst="rect">
            <a:avLst/>
          </a:prstGeom>
          <a:noFill/>
          <a:ln/>
        </p:spPr>
        <p:txBody>
          <a:bodyPr wrap="square" lIns="0" tIns="0" rIns="0" bIns="0" rtlCol="0" anchor="ctr"/>
          <a:lstStyle/>
          <a:p>
            <a:pPr algn="ctr" indent="0" marL="0">
              <a:buNone/>
            </a:pPr>
            <a:r>
              <a:rPr lang="en-US" sz="2600" b="1" dirty="0">
                <a:solidFill>
                  <a:schemeClr val="bg1"/>
                </a:solidFill>
                <a:latin typeface="Cambria" pitchFamily="34" charset="0"/>
                <a:ea typeface="Cambria" pitchFamily="34" charset="-122"/>
                <a:cs typeface="Cambria" pitchFamily="34" charset="-120"/>
              </a:rPr>
              <a:t>4</a:t>
            </a:r>
            <a:endParaRPr lang="en-US" sz="2600" dirty="0"/>
          </a:p>
        </p:txBody>
      </p:sp>
      <p:sp>
        <p:nvSpPr>
          <p:cNvPr id="17" name="Text 14"/>
          <p:cNvSpPr txBox="1"/>
          <p:nvPr/>
        </p:nvSpPr>
        <p:spPr>
          <a:xfrm>
            <a:off x="7315017" y="3200400"/>
            <a:ext cx="1999427" cy="1920240"/>
          </a:xfrm>
          <a:prstGeom prst="rect">
            <a:avLst/>
          </a:prstGeom>
          <a:noFill/>
          <a:ln/>
        </p:spPr>
        <p:txBody>
          <a:bodyPr wrap="square" lIns="0" tIns="0" rIns="0" bIns="0" rtlCol="0" anchor="t"/>
          <a:lstStyle/>
          <a:p>
            <a:pPr algn="ctr" indent="0" marL="0">
              <a:spcAft>
                <a:spcPts val="600"/>
              </a:spcAft>
              <a:buNone/>
            </a:pPr>
            <a:r>
              <a:rPr lang="en-US" sz="1900" b="1" dirty="0">
                <a:solidFill>
                  <a:schemeClr val="tx2"/>
                </a:solidFill>
              </a:rPr>
              <a:t>İlan başına</a:t>
            </a:r>
            <a:endParaRPr lang="en-US" sz="1900" dirty="0"/>
          </a:p>
          <a:p>
            <a:pPr algn="ctr" indent="0" marL="0">
              <a:spcAft>
                <a:spcPts val="600"/>
              </a:spcAft>
              <a:buNone/>
            </a:pPr>
            <a:r>
              <a:rPr lang="en-US" sz="1500" dirty="0">
                <a:solidFill>
                  <a:schemeClr val="tx1"/>
                </a:solidFill>
              </a:rPr>
              <a:t>LLM ile boşluk analizi, uyarlama, insan kontrolü</a:t>
            </a:r>
            <a:endParaRPr lang="en-US" sz="1900" dirty="0"/>
          </a:p>
        </p:txBody>
      </p:sp>
      <p:sp>
        <p:nvSpPr>
          <p:cNvPr id="18" name="Shape 15"/>
          <p:cNvSpPr/>
          <p:nvPr/>
        </p:nvSpPr>
        <p:spPr>
          <a:xfrm>
            <a:off x="10122134" y="2103120"/>
            <a:ext cx="822960" cy="822960"/>
          </a:xfrm>
          <a:prstGeom prst="ellipse">
            <a:avLst/>
          </a:prstGeom>
          <a:solidFill>
            <a:schemeClr val="accent1"/>
          </a:solidFill>
          <a:ln w="38100">
            <a:solidFill>
              <a:schemeClr val="bg1"/>
            </a:solidFill>
            <a:prstDash val="solid"/>
          </a:ln>
        </p:spPr>
      </p:sp>
      <p:sp>
        <p:nvSpPr>
          <p:cNvPr id="19" name="Text 16"/>
          <p:cNvSpPr txBox="1"/>
          <p:nvPr/>
        </p:nvSpPr>
        <p:spPr>
          <a:xfrm>
            <a:off x="10122134" y="2103120"/>
            <a:ext cx="822960" cy="822960"/>
          </a:xfrm>
          <a:prstGeom prst="rect">
            <a:avLst/>
          </a:prstGeom>
          <a:noFill/>
          <a:ln/>
        </p:spPr>
        <p:txBody>
          <a:bodyPr wrap="square" lIns="0" tIns="0" rIns="0" bIns="0" rtlCol="0" anchor="ctr"/>
          <a:lstStyle/>
          <a:p>
            <a:pPr algn="ctr" indent="0" marL="0">
              <a:buNone/>
            </a:pPr>
            <a:r>
              <a:rPr lang="en-US" sz="2600" b="1" dirty="0">
                <a:solidFill>
                  <a:schemeClr val="bg1"/>
                </a:solidFill>
                <a:latin typeface="Cambria" pitchFamily="34" charset="0"/>
                <a:ea typeface="Cambria" pitchFamily="34" charset="-122"/>
                <a:cs typeface="Cambria" pitchFamily="34" charset="-120"/>
              </a:rPr>
              <a:t>5</a:t>
            </a:r>
            <a:endParaRPr lang="en-US" sz="2600" dirty="0"/>
          </a:p>
        </p:txBody>
      </p:sp>
      <p:sp>
        <p:nvSpPr>
          <p:cNvPr id="20" name="Text 17"/>
          <p:cNvSpPr txBox="1"/>
          <p:nvPr/>
        </p:nvSpPr>
        <p:spPr>
          <a:xfrm>
            <a:off x="9533900" y="3200400"/>
            <a:ext cx="1999427" cy="1920240"/>
          </a:xfrm>
          <a:prstGeom prst="rect">
            <a:avLst/>
          </a:prstGeom>
          <a:noFill/>
          <a:ln/>
        </p:spPr>
        <p:txBody>
          <a:bodyPr wrap="square" lIns="0" tIns="0" rIns="0" bIns="0" rtlCol="0" anchor="t"/>
          <a:lstStyle/>
          <a:p>
            <a:pPr algn="ctr" indent="0" marL="0">
              <a:spcAft>
                <a:spcPts val="600"/>
              </a:spcAft>
              <a:buNone/>
            </a:pPr>
            <a:r>
              <a:rPr lang="en-US" sz="1900" b="1" dirty="0">
                <a:solidFill>
                  <a:schemeClr val="tx2"/>
                </a:solidFill>
              </a:rPr>
              <a:t>Rutin</a:t>
            </a:r>
            <a:endParaRPr lang="en-US" sz="1900" dirty="0"/>
          </a:p>
          <a:p>
            <a:pPr algn="ctr" indent="0" marL="0">
              <a:spcAft>
                <a:spcPts val="600"/>
              </a:spcAft>
              <a:buNone/>
            </a:pPr>
            <a:r>
              <a:rPr lang="en-US" sz="1500" dirty="0">
                <a:solidFill>
                  <a:schemeClr val="tx1"/>
                </a:solidFill>
              </a:rPr>
              <a:t>Başvuru takibi, ilan uyarıları, eski ilan temizliği</a:t>
            </a:r>
            <a:endParaRPr lang="en-US" sz="1900" dirty="0"/>
          </a:p>
        </p:txBody>
      </p:sp>
      <p:sp>
        <p:nvSpPr>
          <p:cNvPr id="21" name="ana-mesaj"/>
          <p:cNvSpPr/>
          <p:nvPr/>
        </p:nvSpPr>
        <p:spPr>
          <a:xfrm>
            <a:off x="548640" y="5349240"/>
            <a:ext cx="11094415" cy="731520"/>
          </a:xfrm>
          <a:prstGeom prst="roundRect">
            <a:avLst>
              <a:gd name="adj" fmla="val 10000"/>
            </a:avLst>
          </a:prstGeom>
          <a:solidFill>
            <a:schemeClr val="accent1"/>
          </a:solidFill>
          <a:ln/>
        </p:spPr>
      </p:sp>
      <p:sp>
        <p:nvSpPr>
          <p:cNvPr id="22" name="Text 19"/>
          <p:cNvSpPr txBox="1"/>
          <p:nvPr/>
        </p:nvSpPr>
        <p:spPr>
          <a:xfrm>
            <a:off x="868680" y="5349240"/>
            <a:ext cx="10454335" cy="731520"/>
          </a:xfrm>
          <a:prstGeom prst="rect">
            <a:avLst/>
          </a:prstGeom>
          <a:noFill/>
          <a:ln/>
        </p:spPr>
        <p:txBody>
          <a:bodyPr wrap="square" lIns="0" tIns="0" rIns="0" bIns="0" rtlCol="0" anchor="ctr"/>
          <a:lstStyle/>
          <a:p>
            <a:pPr indent="0" marL="0">
              <a:buNone/>
            </a:pPr>
            <a:r>
              <a:rPr lang="en-US" sz="1800" b="1" dirty="0">
                <a:solidFill>
                  <a:schemeClr val="bg1"/>
                </a:solidFill>
              </a:rPr>
              <a:t>İlk adım en önemlisi: tek kaynak olmadan her uyarlama yeni bir kopya demektir.</a:t>
            </a:r>
            <a:endParaRPr lang="en-US" sz="18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17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2" type="title" hasCustomPrompt="1"/>
          </p:nvPr>
        </p:nvSpPr>
        <p:spPr>
          <a:xfrm>
            <a:off x="640080" y="1828800"/>
            <a:ext cx="7863840" cy="1005840"/>
          </a:xfrm>
          <a:prstGeom prst="rect">
            <a:avLst/>
          </a:prstGeom>
          <a:noFill/>
          <a:ln/>
        </p:spPr>
        <p:txBody>
          <a:bodyPr wrap="square" lIns="0" tIns="0" rIns="0" bIns="0" rtlCol="0" anchor="b"/>
          <a:lstStyle/>
          <a:p>
            <a:pPr algn="l" indent="0" marL="0">
              <a:buNone/>
            </a:pPr>
            <a:r>
              <a:rPr lang="en-US" sz="5000" b="1" dirty="0">
                <a:solidFill>
                  <a:schemeClr val="bg1"/>
                </a:solidFill>
              </a:rPr>
              <a:t>Teşekkürler</a:t>
            </a:r>
            <a:endParaRPr lang="en-US" sz="5000" dirty="0"/>
          </a:p>
        </p:txBody>
      </p:sp>
      <p:sp>
        <p:nvSpPr>
          <p:cNvPr id="3" name="Text 0"/>
          <p:cNvSpPr/>
          <p:nvPr>
            <p:ph idx="103" type="body" hasCustomPrompt="1"/>
          </p:nvPr>
        </p:nvSpPr>
        <p:spPr>
          <a:xfrm>
            <a:off x="640080" y="2880360"/>
            <a:ext cx="7863840" cy="640080"/>
          </a:xfrm>
          <a:prstGeom prst="rect">
            <a:avLst/>
          </a:prstGeom>
          <a:noFill/>
          <a:ln/>
        </p:spPr>
        <p:txBody>
          <a:bodyPr wrap="square" lIns="0" tIns="0" rIns="0" bIns="0" rtlCol="0" anchor="t"/>
          <a:lstStyle/>
          <a:p>
            <a:pPr indent="0" marL="0">
              <a:buNone/>
            </a:pPr>
            <a:r>
              <a:rPr lang="en-US" sz="2800" dirty="0">
                <a:solidFill>
                  <a:schemeClr val="accent2"/>
                </a:solidFill>
              </a:rPr>
              <a:t>Sorular?</a:t>
            </a:r>
            <a:endParaRPr lang="en-US" sz="2800" dirty="0"/>
          </a:p>
        </p:txBody>
      </p:sp>
      <p:sp>
        <p:nvSpPr>
          <p:cNvPr id="4" name="Text 0"/>
          <p:cNvSpPr/>
          <p:nvPr>
            <p:ph idx="104" type="body" hasCustomPrompt="1"/>
          </p:nvPr>
        </p:nvSpPr>
        <p:spPr>
          <a:xfrm>
            <a:off x="640080" y="4023360"/>
            <a:ext cx="7863840" cy="2011680"/>
          </a:xfrm>
          <a:prstGeom prst="rect">
            <a:avLst/>
          </a:prstGeom>
          <a:noFill/>
          <a:ln/>
        </p:spPr>
        <p:txBody>
          <a:bodyPr wrap="square" lIns="0" tIns="0" rIns="0" bIns="0" rtlCol="0" anchor="t"/>
          <a:lstStyle/>
          <a:p>
            <a:pPr indent="0" marL="0">
              <a:spcAft>
                <a:spcPts val="600"/>
              </a:spcAft>
              <a:buNone/>
            </a:pPr>
            <a:r>
              <a:rPr lang="en-US" sz="1600" b="1" dirty="0">
                <a:solidFill>
                  <a:schemeClr val="bg2"/>
                </a:solidFill>
              </a:rPr>
              <a:t>Sunum ve kaynaklar: </a:t>
            </a:r>
            <a:pPr indent="0" marL="0">
              <a:spcAft>
                <a:spcPts val="600"/>
              </a:spcAft>
              <a:buNone/>
            </a:pPr>
            <a:r>
              <a:rPr lang="en-US" sz="1600" u="sng" dirty="0">
                <a:solidFill>
                  <a:schemeClr val="bg1"/>
                </a:solidFill>
                <a:hlinkClick r:id="rId1" invalidUrl="" action="" tgtFrame="" tooltip="" history="1" highlightClick="0" endSnd="0">
                  <a:extLst>
                    <a:ext uri="{A12FA001-AC4F-418D-AE19-62706E023703}">
                      <ahyp:hlinkClr xmlns:ahyp="http://schemas.microsoft.com/office/drawing/2018/hyperlinkcolor" val="tx"/>
                    </a:ext>
                  </a:extLst>
                </a:hlinkClick>
              </a:rPr>
              <a:t>github.com/kaayra2000/kurslar</a:t>
            </a:r>
            <a:endParaRPr lang="en-US" sz="1600" dirty="0"/>
          </a:p>
          <a:p>
            <a:pPr indent="0" marL="0">
              <a:spcAft>
                <a:spcPts val="600"/>
              </a:spcAft>
              <a:buNone/>
            </a:pPr>
            <a:r>
              <a:rPr lang="en-US" sz="1600" b="1" dirty="0">
                <a:solidFill>
                  <a:schemeClr val="bg2"/>
                </a:solidFill>
              </a:rPr>
              <a:t>GitHub: </a:t>
            </a:r>
            <a:pPr indent="0" marL="0">
              <a:spcAft>
                <a:spcPts val="600"/>
              </a:spcAft>
              <a:buNone/>
            </a:pPr>
            <a:r>
              <a:rPr lang="en-US" sz="1600" dirty="0">
                <a:solidFill>
                  <a:schemeClr val="bg2"/>
                </a:solidFill>
              </a:rPr>
              <a:t>kaayra2000</a:t>
            </a:r>
            <a:endParaRPr lang="en-US" sz="1600" dirty="0"/>
          </a:p>
          <a:p>
            <a:pPr indent="0" marL="0">
              <a:spcAft>
                <a:spcPts val="600"/>
              </a:spcAft>
              <a:buNone/>
            </a:pPr>
            <a:r>
              <a:rPr lang="en-US" sz="1600" b="1" dirty="0">
                <a:solidFill>
                  <a:schemeClr val="bg2"/>
                </a:solidFill>
              </a:rPr>
              <a:t>LinkedIn: </a:t>
            </a:r>
            <a:pPr indent="0" marL="0">
              <a:spcAft>
                <a:spcPts val="600"/>
              </a:spcAft>
              <a:buNone/>
            </a:pPr>
            <a:r>
              <a:rPr lang="en-US" sz="1600" dirty="0">
                <a:solidFill>
                  <a:schemeClr val="bg2"/>
                </a:solidFill>
              </a:rPr>
              <a:t>Muhammed Kayra Bulut</a:t>
            </a:r>
            <a:endParaRPr lang="en-US" sz="1600" dirty="0"/>
          </a:p>
        </p:txBody>
      </p:sp>
    </p:spTree>
  </p:cSld>
  <p:clrMapOvr>
    <a:masterClrMapping/>
  </p:clrMapOvr>
</p:sld>
</file>

<file path=ppt/theme/theme1.xml><?xml version="1.0" encoding="utf-8"?>
<a:theme xmlns:a="http://schemas.openxmlformats.org/drawingml/2006/main" name="Yildiz Teknopark">
  <a:themeElements>
    <a:clrScheme name="Yildiz Teknopark">
      <a:dk1>
        <a:srgbClr val="1B1F2E"/>
      </a:dk1>
      <a:lt1>
        <a:srgbClr val="FFFFFF"/>
      </a:lt1>
      <a:dk2>
        <a:srgbClr val="0B1F5C"/>
      </a:dk2>
      <a:lt2>
        <a:srgbClr val="EEF1F8"/>
      </a:lt2>
      <a:accent1>
        <a:srgbClr val="0B1F5C"/>
      </a:accent1>
      <a:accent2>
        <a:srgbClr val="AD9A6B"/>
      </a:accent2>
      <a:accent3>
        <a:srgbClr val="7D6A3F"/>
      </a:accent3>
      <a:accent4>
        <a:srgbClr val="B42318"/>
      </a:accent4>
      <a:accent5>
        <a:srgbClr val="2E7D5B"/>
      </a:accent5>
      <a:accent6>
        <a:srgbClr val="3B5BA9"/>
      </a:accent6>
      <a:hlink>
        <a:srgbClr val="3B5BA9"/>
      </a:hlink>
      <a:folHlink>
        <a:srgbClr val="6B4FA0"/>
      </a:folHlink>
    </a:clrScheme>
    <a:fontScheme name="Yildiz Teknopar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YTÜ Yıldız Teknopark</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Yapay Zekâ ile Kariyer: CV Hazırlama, Yönetme ve İlan Bulma</dc:title>
  <dc:subject>PptxGenJS Presentation</dc:subject>
  <dc:creator>Muhammed Kayra Bulut</dc:creator>
  <cp:lastModifiedBy>Muhammed Kayra Bulut</cp:lastModifiedBy>
  <cp:revision>1</cp:revision>
  <dcterms:created xsi:type="dcterms:W3CDTF">2026-10-05T07:14:16Z</dcterms:created>
  <dcterms:modified xsi:type="dcterms:W3CDTF">2026-10-05T07:14:16Z</dcterms:modified>
</cp:coreProperties>
</file>