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ec32e6c3-6e6d-cedd-6ae4-856b272e48ff}">
          <p14:sldIdLst>
            <p14:sldId id="256"/>
            <p14:sldId id="257"/>
            <p14:sldId id="258"/>
          </p14:sldIdLst>
        </p14:section>
        <p14:section name="01 · CV ve ATS" id="{27d994cd-2208-4c31-d4ba-291f73ec76d3}">
          <p14:sldIdLst>
            <p14:sldId id="259"/>
            <p14:sldId id="260"/>
            <p14:sldId id="261"/>
            <p14:sldId id="262"/>
            <p14:sldId id="263"/>
          </p14:sldIdLst>
        </p14:section>
        <p14:section name="02 · CV'yi Kod Gibi Yönetmek" id="{cd05fade-53d8-28e7-56dd-90ea74ae4ce1}">
          <p14:sldIdLst>
            <p14:sldId id="264"/>
            <p14:sldId id="265"/>
            <p14:sldId id="266"/>
            <p14:sldId id="267"/>
            <p14:sldId id="268"/>
            <p14:sldId id="269"/>
          </p14:sldIdLst>
        </p14:section>
        <p14:section name="03 · İlan Bulma" id="{3f119dd2-9e1b-7546-f544-63bbf3977a42}">
          <p14:sldIdLst>
            <p14:sldId id="270"/>
            <p14:sldId id="271"/>
            <p14:sldId id="272"/>
          </p14:sldIdLst>
        </p14:section>
        <p14:section name="04 · Araç Haritası" id="{801acefa-fcb4-91b0-5f12-d732fbdf18fe}">
          <p14:sldIdLst>
            <p14:sldId id="273"/>
            <p14:sldId id="274"/>
            <p14:sldId id="275"/>
          </p14:sldIdLst>
        </p14:section>
        <p14:section name="Kapanış" id="{37cc9ad7-8ab9-bbe2-0a78-cc4c1c848e8c}">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Hoş geldiniz. Ben Muhammed Kayra Bulut; YTÜ Yıldız Teknopark'ta BT Yöneticisiyim, öncesinde TÜBİTAK BİLGEM'de yazılım mühendisiydim. Bu söyleşide yapay zekânın iş arama sürecinin üç adımında nasıl kullanılabileceğini konuşacağız: CV hazırlamak, CV'leri yönetmek ve ilan bulmak. Anlatacaklarımın önemli bir kısmı kendi iş arama sürecimde kurduğum gerçek bir sisteme dayanıyor.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bölümümüz var. Önce temeller: ATS nedir, iyi madde nasıl yazılır. Sonra kendi sistemim: CV'yi kod gibi yönetmek. Ardından ilan bulma ve son olarak araç haritası.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2026'da işe alımın iki tarafında da yapay zekâ var. İşveren ATS ve LinkedIn Recruiter gibi araçlarla adayları tarıyor; aday da LLM'lerle ilanı analiz edip CV'sini uyarlıyor. Bu yüzden araç tek başına avantaj değil; içerik doğru, ölçülebilir ve ilana uygun olmalı.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ATS, yani Applicant Tracking System, CV'yi önce metne çevirip alanlara böler. Sonra ilandaki anahtar kelimeleri arar ve adayları sıralar. Son kararı insan verir ama önce ATS'nin sizi doğru okuması gerekir. Kendi PDF'inizi OpenResume'un ayrıştırıcısıyla test edebilirsiniz.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 yapılacaklar, sağda yapılmayacaklar. Tek sütun ve metni seçilebilen PDF ATS için en güvenli düzen. İlandaki terimleri birebir kullanın: ilan 'PostgreSQL' diyorsa siz de 'PostgreSQL' yazın. Sağdaki liste kendi CV depomdaki RULES.md dosyasından geliyor; ajan da aynı dosyayı okuyor. Son madde kritik: LLM'ler gerçek olmayan bilgi üretmeye yatkın.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Formül basit: aktif fiil, ne yaptığınız, hangi teknolojiyle yaptığınız ve ölçülebilir sonuç. Buradaki örnek kurgusal; formülü göstermek için. Kendi maddelerinizde yalnızca gerçekten ölçtüğünüz sayıları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iki madde gerçek CV'lerimden. Üstteki genel CV'de, alttaki Java alan CV'sinde. Deneyim aynı; ama Java ilanına giden CV'de ORM, ilişkisel veri modelleme ve tasarım kalıpları öne alınıyor. Yalan yok, vurgu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prompt üç iş yapıyor: ilan ile CV arasındaki boşluğu buluyor, maddeyi formüle göre yeniden yazıyor ve en önemlisi modelin bilgi uydurmasını engelliyor. Üçüncü satırı asla atlamayın.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dört alanda iş arıyorum: Java, LLM, makine öğrenmesi ve MLOps. İki dil var. Üstüne ilana özel sürümler eklenince onlarca dosya oluşuyor. Bunu elle yönetmek mümkün değil; yazılım mühendisliğinin bildiğimiz araçlarını kullandım.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soldan sağa. Tüm bilgiler info klasöründeki YAML dosyalarında. Buradan dört alan CV'si ve ilana özel paketler türetiliyor. LaTeX kaynakları Docker içinde derleniyor ve ATS uyumlu PDF çıkıyor. Her şey Git'te sürümleniyor.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proje tek bir YAML kaydı. Türkçe ve İngilizce aynı kayıtta duruyor, böylece iki dil birbirinden kopamıyor. Tarih aralığını ajan reponun ilk ve son commit'inden hesaplıyor. Kategori ve etiketler hangi alan CV'sine gireceğini belirliyor.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ve RULES.md dosyaları ajanın anayasası. Burada beş kural görüyorsunuz. En önemlisi: ajan hiçbir veriyi onayım olmadan değiştirmiyor ve gerçek olmayan bilgi yazmıyor. Bu dosyalar ajandan bağımsız; Claude Code, Codex ve Gemini aynı dosyayı okuyabiliyor.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Ajana bu cümlelerden birini yazmam yeterli. Örneğin 'hesapları senkronize et' dediğimde betik GitHub, Hugging Face, Medium, ORCID ve LinkedIn verisini çekiyor; ajan yeni projeleri tespit edip her biri için tek tek onay istiyor.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başvuru için bir klasör açılıyor. IS_ILANI.md ilanın tam ham metnini tutuyor; ilan yayından kalksa bile neye başvurduğumu biliyorum. ILAN_NOTLARI.md eşleşme analizini ve tek bir öncelikli CV önerisini içeriyor. Anzera örneğinde mevcut LLM CV'si yeterliydi, yeni CV üretilmedi.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birincil kaynak ama tek kaynak değil. Kurumsal kariyer sayfaları en güncel bilgiyi verir. Kariyer.net, Techcareer ve Youthall yerel platformlar. Bir de hemen yanı başımızda bir kaynak var: Yıldız Teknopark'ın Firmalarımız sayfası. 750'den fazla firma; ilan açmadan önce tanıyabileceğiniz şirketler.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Zaman en değerli kaynak. Kapalı ilana ya da daha önce başvurduğunuz ilana zaman harcamayın. Ajanım önce ilanın aktif olup olmadığına, sonra depoda veya LinkedIn'de 'Applied' etiketi olup olmadığına bakıyor. İlan metnini LinkedIn'in herkese açık endpoint'inden curl ile çekiyor. Bunu düşük hacimde ve kişisel kullanım için yapın.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pozisyon ilana çıkmaz. Hedef şirket listesi çıkarıp işe alım uzmanına ya da teknik yöneticiye kısa ve kişisel bir mesaj yazmak işe yarar. Kendi sistemimde şirket başına tek dosya var; mesaj taslağı ilanın hemen altında duruyor. Toplu ve kopyala-yapıştır mesaj göndermeyin.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Hepsi ücretsiz ve açık kaynak. Üstteki beşi CV aracı: Reactive Resume tarayıcıda çalışan bir editör, RenderCV YAML'dan PDF üretiyor, OpenResume'un ayrıştırıcısı ATS testi için çok kullanışlı. Alttaki üçü iş arama ajanı: career-ops ve ai-job-search Claude Code gibi CLI ajanlarıyla çalışıyor, benim sistemime çok benzer. ApplyPilot otomatik başvuru yapıyor; dikkatli kullanın, platform koşullarını ihlal edebilir.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servislerin çoğunda işe yarar bir ücretsiz katman var. Ücretli plana geçmeden önce ücretsiz katmanı deneyin. Fiyatlar sık değişir; buradaki değerler Ekim 2026 itibarıyla.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şeyi aynı anda kullanmanıza gerek yok. Nerede olduğunuza göre seçin. Yeni başlıyorsanız ücretsiz bir LLM ve Reactive Resume yeterli. Geliştiriciyseniz benim gibi CV'yi kod olarak yönetmeyi deneyin.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Yapay zekâ güçlü ama dört riski var. Birincisi halüsinasyon: model olmayan bir deneyimi ya da sayıyı ekleyebilir. İkincisi kişisel veri: telefon, adres, kimlik bilgisini bulut modellere yüklemeyin. Üçüncüsü toplu otomatik başvuru: hesabınız kısıtlanabilir. Dördüncüsü yapay zekâ kokan metin. Son karar ve son kontrol her zaman sizde.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adımlık bir yol haritası. İlk adım en önemlisi: tüm deneyim ve projelerinizi tek bir dosyada toplayın. Gerisi bu kaynaktan türer. Sonra şablon, alan CV'leri, ilan başına uyarlama ve takip rutini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Teşekkür ederim. Sunum, araç listesi ve bağlantılar GitHub'daki kurslar deposunda.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pic>
        <p:nvPicPr>
          <p:cNvPr id="2" name="Image 0" descr="/tmp/claude-1000/-home-kayra-Desktop-github-repolarim-kurslar/6b167384-22ac-40e1-8a64-b99aeff95692/scratchpad/deck/img/yildiz.png">    </p:cNvPr>
          <p:cNvPicPr>
            <a:picLocks noChangeAspect="1"/>
          </p:cNvPicPr>
          <p:nvPr/>
        </p:nvPicPr>
        <p:blipFill>
          <a:blip r:embed="rId1">
            <a:alphaModFix amt="18000"/>
          </a:blip>
          <a:stretch>
            <a:fillRect/>
          </a:stretch>
        </p:blipFill>
        <p:spPr>
          <a:xfrm>
            <a:off x="7680960" y="1005840"/>
            <a:ext cx="4937760" cy="5094514"/>
          </a:xfrm>
          <a:prstGeom prst="rect">
            <a:avLst/>
          </a:prstGeom>
        </p:spPr>
      </p:pic>
      <p:pic>
        <p:nvPicPr>
          <p:cNvPr id="3" name="Image 1" descr="/tmp/claude-1000/-home-kayra-Desktop-github-repolarim-kurslar/6b167384-22ac-40e1-8a64-b99aeff95692/scratchpad/deck/img/logo_beyaz.png">    </p:cNvPr>
          <p:cNvPicPr>
            <a:picLocks noChangeAspect="1"/>
          </p:cNvPicPr>
          <p:nvPr/>
        </p:nvPicPr>
        <p:blipFill>
          <a:blip r:embed="rId2"/>
          <a:stretch>
            <a:fillRect/>
          </a:stretch>
        </p:blipFill>
        <p:spPr>
          <a:xfrm>
            <a:off x="640080" y="548640"/>
            <a:ext cx="3108960" cy="779238"/>
          </a:xfrm>
          <a:prstGeom prst="rect">
            <a:avLst/>
          </a:prstGeom>
        </p:spPr>
      </p:pic>
      <p:sp>
        <p:nvSpPr>
          <p:cNvPr id="4" name="Text 0"/>
          <p:cNvSpPr/>
          <p:nvPr>
            <p:ph idx="102" type="title" hasCustomPrompt="1"/>
          </p:nvPr>
        </p:nvSpPr>
        <p:spPr>
          <a:xfrm>
            <a:off x="640080" y="2103120"/>
            <a:ext cx="7863840" cy="10058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5" name="Text 0"/>
          <p:cNvSpPr/>
          <p:nvPr>
            <p:ph idx="103" type="body" hasCustomPrompt="1"/>
          </p:nvPr>
        </p:nvSpPr>
        <p:spPr>
          <a:xfrm>
            <a:off x="640080" y="3200400"/>
            <a:ext cx="7863840" cy="640080"/>
          </a:xfrm>
          <a:prstGeom prst="rect">
            <a:avLst/>
          </a:prstGeom>
          <a:noFill/>
          <a:ln/>
        </p:spPr>
        <p:txBody>
          <a:bodyPr wrap="square" rtlCol="0"/>
          <a:lstStyle>
            <a:lvl1pPr indent="0" marL="0">
              <a:buNone/>
              <a:defRPr lang="en-US" sz="2600" dirty="0">
                <a:solidFill>
                  <a:schemeClr val="accent2"/>
                </a:solidFill>
              </a:defRPr>
            </a:lvl1pPr>
          </a:lstStyle>
          <a:p>
            <a:pPr indent="0" marL="0">
              <a:buNone/>
            </a:pPr>
            <a:endParaRPr lang="en-US" sz="2600" dirty="0"/>
          </a:p>
        </p:txBody>
      </p:sp>
      <p:sp>
        <p:nvSpPr>
          <p:cNvPr id="6" name="Text 0"/>
          <p:cNvSpPr/>
          <p:nvPr>
            <p:ph idx="104" type="body" hasCustomPrompt="1"/>
          </p:nvPr>
        </p:nvSpPr>
        <p:spPr>
          <a:xfrm>
            <a:off x="640080" y="4937760"/>
            <a:ext cx="7863840" cy="100584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1"/>
        </a:solidFill>
      </p:bgPr>
    </p:bg>
    <p:spTree>
      <p:nvGrpSpPr>
        <p:cNvPr id="1" name=""/>
        <p:cNvGrpSpPr/>
        <p:nvPr/>
      </p:nvGrpSpPr>
      <p:grpSpPr>
        <a:xfrm>
          <a:off x="0" y="0"/>
          <a:ext cx="0" cy="0"/>
          <a:chOff x="0" y="0"/>
          <a:chExt cx="0" cy="0"/>
        </a:xfrm>
      </p:grpSpPr>
      <p:pic>
        <p:nvPicPr>
          <p:cNvPr id="2" name="Image 0" descr="/tmp/claude-1000/-home-kayra-Desktop-github-repolarim-kurslar/6b167384-22ac-40e1-8a64-b99aeff95692/scratchpad/deck/img/logo_renkli.png">    </p:cNvPr>
          <p:cNvPicPr>
            <a:picLocks noChangeAspect="1"/>
          </p:cNvPicPr>
          <p:nvPr/>
        </p:nvPicPr>
        <p:blipFill>
          <a:blip r:embed="rId1"/>
          <a:stretch>
            <a:fillRect/>
          </a:stretch>
        </p:blipFill>
        <p:spPr>
          <a:xfrm>
            <a:off x="9539935" y="384048"/>
            <a:ext cx="2103120" cy="527132"/>
          </a:xfrm>
          <a:prstGeom prst="rect">
            <a:avLst/>
          </a:prstGeom>
        </p:spPr>
      </p:pic>
      <p:sp>
        <p:nvSpPr>
          <p:cNvPr id="3" name="Text 0"/>
          <p:cNvSpPr/>
          <p:nvPr>
            <p:ph idx="101" type="body" hasCustomPrompt="1"/>
          </p:nvPr>
        </p:nvSpPr>
        <p:spPr>
          <a:xfrm>
            <a:off x="548640" y="320040"/>
            <a:ext cx="8778240" cy="320040"/>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4" name="Text 0"/>
          <p:cNvSpPr/>
          <p:nvPr>
            <p:ph idx="102" type="title" hasCustomPrompt="1"/>
          </p:nvPr>
        </p:nvSpPr>
        <p:spPr>
          <a:xfrm>
            <a:off x="548640" y="658368"/>
            <a:ext cx="905256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1">
                    <a:alpha val="65000"/>
                  </a:schemeClr>
                </a:solidFill>
              </a:rPr>
              <a:t>Yapay Zekâ ile Kariyer · YTÜ Yıldız Teknopark · Ekim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ANIS">
    <p:bg>
      <p:bgPr>
        <a:solidFill>
          <a:schemeClr val="tx2"/>
        </a:solidFill>
      </p:bgPr>
    </p:bg>
    <p:spTree>
      <p:nvGrpSpPr>
        <p:cNvPr id="1" name=""/>
        <p:cNvGrpSpPr/>
        <p:nvPr/>
      </p:nvGrpSpPr>
      <p:grpSpPr>
        <a:xfrm>
          <a:off x="0" y="0"/>
          <a:ext cx="0" cy="0"/>
          <a:chOff x="0" y="0"/>
          <a:chExt cx="0" cy="0"/>
        </a:xfrm>
      </p:grpSpPr>
      <p:pic>
        <p:nvPicPr>
          <p:cNvPr id="2" name="Image 0" descr="/tmp/claude-1000/-home-kayra-Desktop-github-repolarim-kurslar/6b167384-22ac-40e1-8a64-b99aeff95692/scratchpad/deck/img/yildiz.png">    </p:cNvPr>
          <p:cNvPicPr>
            <a:picLocks noChangeAspect="1"/>
          </p:cNvPicPr>
          <p:nvPr/>
        </p:nvPicPr>
        <p:blipFill>
          <a:blip r:embed="rId1">
            <a:alphaModFix amt="18000"/>
          </a:blip>
          <a:stretch>
            <a:fillRect/>
          </a:stretch>
        </p:blipFill>
        <p:spPr>
          <a:xfrm>
            <a:off x="7680960" y="1005840"/>
            <a:ext cx="4937760" cy="5094514"/>
          </a:xfrm>
          <a:prstGeom prst="rect">
            <a:avLst/>
          </a:prstGeom>
        </p:spPr>
      </p:pic>
      <p:pic>
        <p:nvPicPr>
          <p:cNvPr id="3" name="Image 1" descr="/tmp/claude-1000/-home-kayra-Desktop-github-repolarim-kurslar/6b167384-22ac-40e1-8a64-b99aeff95692/scratchpad/deck/img/logo_beyaz.png">    </p:cNvPr>
          <p:cNvPicPr>
            <a:picLocks noChangeAspect="1"/>
          </p:cNvPicPr>
          <p:nvPr/>
        </p:nvPicPr>
        <p:blipFill>
          <a:blip r:embed="rId2"/>
          <a:stretch>
            <a:fillRect/>
          </a:stretch>
        </p:blipFill>
        <p:spPr>
          <a:xfrm>
            <a:off x="640080" y="548640"/>
            <a:ext cx="3108960" cy="779238"/>
          </a:xfrm>
          <a:prstGeom prst="rect">
            <a:avLst/>
          </a:prstGeom>
        </p:spPr>
      </p:pic>
      <p:sp>
        <p:nvSpPr>
          <p:cNvPr id="4" name="Text 0"/>
          <p:cNvSpPr/>
          <p:nvPr>
            <p:ph idx="102" type="title" hasCustomPrompt="1"/>
          </p:nvPr>
        </p:nvSpPr>
        <p:spPr>
          <a:xfrm>
            <a:off x="640080" y="1828800"/>
            <a:ext cx="7863840" cy="10058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5" name="Text 0"/>
          <p:cNvSpPr/>
          <p:nvPr>
            <p:ph idx="103" type="body" hasCustomPrompt="1"/>
          </p:nvPr>
        </p:nvSpPr>
        <p:spPr>
          <a:xfrm>
            <a:off x="640080" y="2880360"/>
            <a:ext cx="7863840" cy="640080"/>
          </a:xfrm>
          <a:prstGeom prst="rect">
            <a:avLst/>
          </a:prstGeom>
          <a:noFill/>
          <a:ln/>
        </p:spPr>
        <p:txBody>
          <a:bodyPr wrap="square" rtlCol="0"/>
          <a:lstStyle>
            <a:lvl1pPr indent="0" marL="0">
              <a:buNone/>
              <a:defRPr lang="en-US" sz="2800" dirty="0">
                <a:solidFill>
                  <a:schemeClr val="accent2"/>
                </a:solidFill>
              </a:defRPr>
            </a:lvl1pPr>
          </a:lstStyle>
          <a:p>
            <a:pPr indent="0" marL="0">
              <a:buNone/>
            </a:pPr>
            <a:endParaRPr lang="en-US" sz="2800" dirty="0"/>
          </a:p>
        </p:txBody>
      </p:sp>
      <p:sp>
        <p:nvSpPr>
          <p:cNvPr id="6" name="Text 0"/>
          <p:cNvSpPr/>
          <p:nvPr>
            <p:ph idx="104" type="body" hasCustomPrompt="1"/>
          </p:nvPr>
        </p:nvSpPr>
        <p:spPr>
          <a:xfrm>
            <a:off x="640080" y="4023360"/>
            <a:ext cx="7863840" cy="20116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kaayra2000/kurslar" TargetMode="Externa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640080" y="2103120"/>
            <a:ext cx="7863840" cy="1005840"/>
          </a:xfrm>
          <a:prstGeom prst="rect">
            <a:avLst/>
          </a:prstGeom>
          <a:noFill/>
          <a:ln/>
        </p:spPr>
        <p:txBody>
          <a:bodyPr wrap="square" lIns="0" tIns="0" rIns="0" bIns="0" rtlCol="0" anchor="b"/>
          <a:lstStyle/>
          <a:p>
            <a:pPr algn="l" indent="0" marL="0">
              <a:buNone/>
            </a:pPr>
            <a:r>
              <a:rPr lang="en-US" sz="5000" b="1" dirty="0">
                <a:solidFill>
                  <a:schemeClr val="bg1"/>
                </a:solidFill>
              </a:rPr>
              <a:t>Yapay Zekâ ile Kariyer</a:t>
            </a:r>
            <a:endParaRPr lang="en-US" sz="5000" dirty="0"/>
          </a:p>
        </p:txBody>
      </p:sp>
      <p:sp>
        <p:nvSpPr>
          <p:cNvPr id="3" name="Text 0"/>
          <p:cNvSpPr/>
          <p:nvPr>
            <p:ph idx="103" type="body" hasCustomPrompt="1"/>
          </p:nvPr>
        </p:nvSpPr>
        <p:spPr>
          <a:xfrm>
            <a:off x="640080" y="3200400"/>
            <a:ext cx="7863840" cy="640080"/>
          </a:xfrm>
          <a:prstGeom prst="rect">
            <a:avLst/>
          </a:prstGeom>
          <a:noFill/>
          <a:ln/>
        </p:spPr>
        <p:txBody>
          <a:bodyPr wrap="square" lIns="0" tIns="0" rIns="0" bIns="0" rtlCol="0" anchor="t"/>
          <a:lstStyle/>
          <a:p>
            <a:pPr indent="0" marL="0">
              <a:buNone/>
            </a:pPr>
            <a:r>
              <a:rPr lang="en-US" sz="2600" dirty="0">
                <a:solidFill>
                  <a:schemeClr val="accent2"/>
                </a:solidFill>
              </a:rPr>
              <a:t>CV Hazırlama, Yönetme ve İlan Bulma</a:t>
            </a:r>
            <a:endParaRPr lang="en-US" sz="2600" dirty="0"/>
          </a:p>
        </p:txBody>
      </p:sp>
      <p:sp>
        <p:nvSpPr>
          <p:cNvPr id="4" name="Text 0"/>
          <p:cNvSpPr/>
          <p:nvPr>
            <p:ph idx="104" type="body" hasCustomPrompt="1"/>
          </p:nvPr>
        </p:nvSpPr>
        <p:spPr>
          <a:xfrm>
            <a:off x="640080" y="4937760"/>
            <a:ext cx="7863840" cy="1005840"/>
          </a:xfrm>
          <a:prstGeom prst="rect">
            <a:avLst/>
          </a:prstGeom>
          <a:noFill/>
          <a:ln/>
        </p:spPr>
        <p:txBody>
          <a:bodyPr wrap="square" lIns="0" tIns="0" rIns="0" bIns="0" rtlCol="0" anchor="t"/>
          <a:lstStyle/>
          <a:p>
            <a:pPr indent="0" marL="0">
              <a:buNone/>
            </a:pPr>
            <a:r>
              <a:rPr lang="en-US" sz="2000" b="1" dirty="0">
                <a:solidFill>
                  <a:schemeClr val="bg1"/>
                </a:solidFill>
              </a:rPr>
              <a:t>Muhammed Kayra Bulut</a:t>
            </a:r>
            <a:endParaRPr lang="en-US" sz="1600" dirty="0"/>
          </a:p>
          <a:p>
            <a:pPr indent="0" marL="0">
              <a:buNone/>
            </a:pPr>
            <a:r>
              <a:rPr lang="en-US" sz="1600" dirty="0">
                <a:solidFill>
                  <a:schemeClr val="bg2"/>
                </a:solidFill>
              </a:rPr>
              <a:t>BT Yöneticisi, YTÜ Yıldız Teknopark</a:t>
            </a:r>
            <a:endParaRPr lang="en-US" sz="1600" dirty="0"/>
          </a:p>
          <a:p>
            <a:pPr indent="0" marL="0">
              <a:buNone/>
            </a:pPr>
            <a:r>
              <a:rPr lang="en-US" sz="1600" dirty="0">
                <a:solidFill>
                  <a:schemeClr val="bg2"/>
                </a:solidFill>
              </a:rPr>
              <a:t>Söyleşi · Ekim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GİRİŞ</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Bugün Ne Konuşacağız?</a:t>
            </a:r>
            <a:endParaRPr lang="en-US" sz="3400" dirty="0"/>
          </a:p>
        </p:txBody>
      </p:sp>
      <p:sp>
        <p:nvSpPr>
          <p:cNvPr id="5" name="kart"/>
          <p:cNvSpPr/>
          <p:nvPr/>
        </p:nvSpPr>
        <p:spPr>
          <a:xfrm>
            <a:off x="548640" y="1920240"/>
            <a:ext cx="2567864" cy="2743200"/>
          </a:xfrm>
          <a:prstGeom prst="roundRect">
            <a:avLst>
              <a:gd name="adj" fmla="val 2849"/>
            </a:avLst>
          </a:prstGeom>
          <a:solidFill>
            <a:schemeClr val="bg2"/>
          </a:solidFill>
          <a:ln/>
        </p:spPr>
      </p:sp>
      <p:sp>
        <p:nvSpPr>
          <p:cNvPr id="6" name="Text 3"/>
          <p:cNvSpPr txBox="1"/>
          <p:nvPr/>
        </p:nvSpPr>
        <p:spPr>
          <a:xfrm>
            <a:off x="822960" y="2148840"/>
            <a:ext cx="2019224" cy="2377440"/>
          </a:xfrm>
          <a:prstGeom prst="rect">
            <a:avLst/>
          </a:prstGeom>
          <a:noFill/>
          <a:ln/>
        </p:spPr>
        <p:txBody>
          <a:bodyPr wrap="square" lIns="0" tIns="0" rIns="0" bIns="0" rtlCol="0" anchor="t"/>
          <a:lstStyle/>
          <a:p>
            <a:pPr indent="0" marL="0">
              <a:spcAft>
                <a:spcPts val="800"/>
              </a:spcAft>
              <a:buNone/>
            </a:pPr>
            <a:r>
              <a:rPr lang="en-US" sz="4400" b="1" dirty="0">
                <a:solidFill>
                  <a:schemeClr val="accent3"/>
                </a:solidFill>
                <a:latin typeface="Cambria" pitchFamily="34" charset="0"/>
                <a:ea typeface="Cambria" pitchFamily="34" charset="-122"/>
                <a:cs typeface="Cambria" pitchFamily="34" charset="-120"/>
              </a:rPr>
              <a:t>01</a:t>
            </a:r>
            <a:endParaRPr lang="en-US" sz="4400" dirty="0"/>
          </a:p>
          <a:p>
            <a:pPr indent="0" marL="0">
              <a:spcAft>
                <a:spcPts val="800"/>
              </a:spcAft>
              <a:buNone/>
            </a:pPr>
            <a:r>
              <a:rPr lang="en-US" sz="2000" b="1" dirty="0">
                <a:solidFill>
                  <a:schemeClr val="tx2"/>
                </a:solidFill>
              </a:rPr>
              <a:t>CV ve ATS</a:t>
            </a:r>
            <a:endParaRPr lang="en-US" sz="4400" dirty="0"/>
          </a:p>
          <a:p>
            <a:pPr indent="0" marL="0">
              <a:spcAft>
                <a:spcPts val="800"/>
              </a:spcAft>
              <a:buNone/>
            </a:pPr>
            <a:r>
              <a:rPr lang="en-US" sz="1500" dirty="0">
                <a:solidFill>
                  <a:schemeClr val="tx1"/>
                </a:solidFill>
              </a:rPr>
              <a:t>ATS nasıl okur, iyi madde nasıl yazılır</a:t>
            </a:r>
            <a:endParaRPr lang="en-US" sz="4400" dirty="0"/>
          </a:p>
        </p:txBody>
      </p:sp>
      <p:sp>
        <p:nvSpPr>
          <p:cNvPr id="7" name="kart"/>
          <p:cNvSpPr/>
          <p:nvPr/>
        </p:nvSpPr>
        <p:spPr>
          <a:xfrm>
            <a:off x="3390824" y="1920240"/>
            <a:ext cx="2567864" cy="2743200"/>
          </a:xfrm>
          <a:prstGeom prst="roundRect">
            <a:avLst>
              <a:gd name="adj" fmla="val 2849"/>
            </a:avLst>
          </a:prstGeom>
          <a:solidFill>
            <a:schemeClr val="bg2"/>
          </a:solidFill>
          <a:ln/>
        </p:spPr>
      </p:sp>
      <p:sp>
        <p:nvSpPr>
          <p:cNvPr id="8" name="Text 5"/>
          <p:cNvSpPr txBox="1"/>
          <p:nvPr/>
        </p:nvSpPr>
        <p:spPr>
          <a:xfrm>
            <a:off x="3665144" y="2148840"/>
            <a:ext cx="2019224" cy="2377440"/>
          </a:xfrm>
          <a:prstGeom prst="rect">
            <a:avLst/>
          </a:prstGeom>
          <a:noFill/>
          <a:ln/>
        </p:spPr>
        <p:txBody>
          <a:bodyPr wrap="square" lIns="0" tIns="0" rIns="0" bIns="0" rtlCol="0" anchor="t"/>
          <a:lstStyle/>
          <a:p>
            <a:pPr indent="0" marL="0">
              <a:spcAft>
                <a:spcPts val="800"/>
              </a:spcAft>
              <a:buNone/>
            </a:pPr>
            <a:r>
              <a:rPr lang="en-US" sz="4400" b="1" dirty="0">
                <a:solidFill>
                  <a:schemeClr val="accent3"/>
                </a:solidFill>
                <a:latin typeface="Cambria" pitchFamily="34" charset="0"/>
                <a:ea typeface="Cambria" pitchFamily="34" charset="-122"/>
                <a:cs typeface="Cambria" pitchFamily="34" charset="-120"/>
              </a:rPr>
              <a:t>02</a:t>
            </a:r>
            <a:endParaRPr lang="en-US" sz="4400" dirty="0"/>
          </a:p>
          <a:p>
            <a:pPr indent="0" marL="0">
              <a:spcAft>
                <a:spcPts val="800"/>
              </a:spcAft>
              <a:buNone/>
            </a:pPr>
            <a:r>
              <a:rPr lang="en-US" sz="2000" b="1" dirty="0">
                <a:solidFill>
                  <a:schemeClr val="tx2"/>
                </a:solidFill>
              </a:rPr>
              <a:t>CV'yi Kod Gibi Yönetmek</a:t>
            </a:r>
            <a:endParaRPr lang="en-US" sz="4400" dirty="0"/>
          </a:p>
          <a:p>
            <a:pPr indent="0" marL="0">
              <a:spcAft>
                <a:spcPts val="800"/>
              </a:spcAft>
              <a:buNone/>
            </a:pPr>
            <a:r>
              <a:rPr lang="en-US" sz="1500" dirty="0">
                <a:solidFill>
                  <a:schemeClr val="tx1"/>
                </a:solidFill>
              </a:rPr>
              <a:t>Tek kaynak, Git, LaTeX ve ajan kuralları</a:t>
            </a:r>
            <a:endParaRPr lang="en-US" sz="4400" dirty="0"/>
          </a:p>
        </p:txBody>
      </p:sp>
      <p:sp>
        <p:nvSpPr>
          <p:cNvPr id="9" name="kart"/>
          <p:cNvSpPr/>
          <p:nvPr/>
        </p:nvSpPr>
        <p:spPr>
          <a:xfrm>
            <a:off x="6233008" y="1920240"/>
            <a:ext cx="2567864" cy="2743200"/>
          </a:xfrm>
          <a:prstGeom prst="roundRect">
            <a:avLst>
              <a:gd name="adj" fmla="val 2849"/>
            </a:avLst>
          </a:prstGeom>
          <a:solidFill>
            <a:schemeClr val="bg2"/>
          </a:solidFill>
          <a:ln/>
        </p:spPr>
      </p:sp>
      <p:sp>
        <p:nvSpPr>
          <p:cNvPr id="10" name="Text 7"/>
          <p:cNvSpPr txBox="1"/>
          <p:nvPr/>
        </p:nvSpPr>
        <p:spPr>
          <a:xfrm>
            <a:off x="6507328" y="2148840"/>
            <a:ext cx="2019224" cy="2377440"/>
          </a:xfrm>
          <a:prstGeom prst="rect">
            <a:avLst/>
          </a:prstGeom>
          <a:noFill/>
          <a:ln/>
        </p:spPr>
        <p:txBody>
          <a:bodyPr wrap="square" lIns="0" tIns="0" rIns="0" bIns="0" rtlCol="0" anchor="t"/>
          <a:lstStyle/>
          <a:p>
            <a:pPr indent="0" marL="0">
              <a:spcAft>
                <a:spcPts val="800"/>
              </a:spcAft>
              <a:buNone/>
            </a:pPr>
            <a:r>
              <a:rPr lang="en-US" sz="4400" b="1" dirty="0">
                <a:solidFill>
                  <a:schemeClr val="accent3"/>
                </a:solidFill>
                <a:latin typeface="Cambria" pitchFamily="34" charset="0"/>
                <a:ea typeface="Cambria" pitchFamily="34" charset="-122"/>
                <a:cs typeface="Cambria" pitchFamily="34" charset="-120"/>
              </a:rPr>
              <a:t>03</a:t>
            </a:r>
            <a:endParaRPr lang="en-US" sz="4400" dirty="0"/>
          </a:p>
          <a:p>
            <a:pPr indent="0" marL="0">
              <a:spcAft>
                <a:spcPts val="800"/>
              </a:spcAft>
              <a:buNone/>
            </a:pPr>
            <a:r>
              <a:rPr lang="en-US" sz="2000" b="1" dirty="0">
                <a:solidFill>
                  <a:schemeClr val="tx2"/>
                </a:solidFill>
              </a:rPr>
              <a:t>İlan Bulma</a:t>
            </a:r>
            <a:endParaRPr lang="en-US" sz="4400" dirty="0"/>
          </a:p>
          <a:p>
            <a:pPr indent="0" marL="0">
              <a:spcAft>
                <a:spcPts val="800"/>
              </a:spcAft>
              <a:buNone/>
            </a:pPr>
            <a:r>
              <a:rPr lang="en-US" sz="1500" dirty="0">
                <a:solidFill>
                  <a:schemeClr val="tx1"/>
                </a:solidFill>
              </a:rPr>
              <a:t>Kaynaklar, akıllı filtre, doğrudan iletişim</a:t>
            </a:r>
            <a:endParaRPr lang="en-US" sz="4400" dirty="0"/>
          </a:p>
        </p:txBody>
      </p:sp>
      <p:sp>
        <p:nvSpPr>
          <p:cNvPr id="11" name="kart"/>
          <p:cNvSpPr/>
          <p:nvPr/>
        </p:nvSpPr>
        <p:spPr>
          <a:xfrm>
            <a:off x="9075191" y="1920240"/>
            <a:ext cx="2567864" cy="2743200"/>
          </a:xfrm>
          <a:prstGeom prst="roundRect">
            <a:avLst>
              <a:gd name="adj" fmla="val 2849"/>
            </a:avLst>
          </a:prstGeom>
          <a:solidFill>
            <a:schemeClr val="bg2"/>
          </a:solidFill>
          <a:ln/>
        </p:spPr>
      </p:sp>
      <p:sp>
        <p:nvSpPr>
          <p:cNvPr id="12" name="Text 9"/>
          <p:cNvSpPr txBox="1"/>
          <p:nvPr/>
        </p:nvSpPr>
        <p:spPr>
          <a:xfrm>
            <a:off x="9349511" y="2148840"/>
            <a:ext cx="2019224" cy="2377440"/>
          </a:xfrm>
          <a:prstGeom prst="rect">
            <a:avLst/>
          </a:prstGeom>
          <a:noFill/>
          <a:ln/>
        </p:spPr>
        <p:txBody>
          <a:bodyPr wrap="square" lIns="0" tIns="0" rIns="0" bIns="0" rtlCol="0" anchor="t"/>
          <a:lstStyle/>
          <a:p>
            <a:pPr indent="0" marL="0">
              <a:spcAft>
                <a:spcPts val="800"/>
              </a:spcAft>
              <a:buNone/>
            </a:pPr>
            <a:r>
              <a:rPr lang="en-US" sz="4400" b="1" dirty="0">
                <a:solidFill>
                  <a:schemeClr val="accent3"/>
                </a:solidFill>
                <a:latin typeface="Cambria" pitchFamily="34" charset="0"/>
                <a:ea typeface="Cambria" pitchFamily="34" charset="-122"/>
                <a:cs typeface="Cambria" pitchFamily="34" charset="-120"/>
              </a:rPr>
              <a:t>04</a:t>
            </a:r>
            <a:endParaRPr lang="en-US" sz="4400" dirty="0"/>
          </a:p>
          <a:p>
            <a:pPr indent="0" marL="0">
              <a:spcAft>
                <a:spcPts val="800"/>
              </a:spcAft>
              <a:buNone/>
            </a:pPr>
            <a:r>
              <a:rPr lang="en-US" sz="2000" b="1" dirty="0">
                <a:solidFill>
                  <a:schemeClr val="tx2"/>
                </a:solidFill>
              </a:rPr>
              <a:t>Araç Haritası</a:t>
            </a:r>
            <a:endParaRPr lang="en-US" sz="4400" dirty="0"/>
          </a:p>
          <a:p>
            <a:pPr indent="0" marL="0">
              <a:spcAft>
                <a:spcPts val="800"/>
              </a:spcAft>
              <a:buNone/>
            </a:pPr>
            <a:r>
              <a:rPr lang="en-US" sz="1500" dirty="0">
                <a:solidFill>
                  <a:schemeClr val="tx1"/>
                </a:solidFill>
              </a:rPr>
              <a:t>Ücretsiz, ücretli ve açık kaynak seçenekler</a:t>
            </a: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GİRİŞ</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İki Tarafta da Yapay Zekâ</a:t>
            </a:r>
            <a:endParaRPr lang="en-US" sz="3400" dirty="0"/>
          </a:p>
        </p:txBody>
      </p:sp>
      <p:sp>
        <p:nvSpPr>
          <p:cNvPr id="5" name="kart"/>
          <p:cNvSpPr/>
          <p:nvPr/>
        </p:nvSpPr>
        <p:spPr>
          <a:xfrm>
            <a:off x="548640" y="1691640"/>
            <a:ext cx="5364328" cy="2971800"/>
          </a:xfrm>
          <a:prstGeom prst="roundRect">
            <a:avLst>
              <a:gd name="adj" fmla="val 2462"/>
            </a:avLst>
          </a:prstGeom>
          <a:solidFill>
            <a:schemeClr val="bg2"/>
          </a:solidFill>
          <a:ln/>
        </p:spPr>
      </p:sp>
      <p:sp>
        <p:nvSpPr>
          <p:cNvPr id="6" name="ikon-daire"/>
          <p:cNvSpPr/>
          <p:nvPr/>
        </p:nvSpPr>
        <p:spPr>
          <a:xfrm>
            <a:off x="868680" y="1920240"/>
            <a:ext cx="640080" cy="640080"/>
          </a:xfrm>
          <a:prstGeom prst="ellipse">
            <a:avLst/>
          </a:prstGeom>
          <a:solidFill>
            <a:schemeClr val="accent1"/>
          </a:solidFill>
          <a:ln/>
        </p:spPr>
      </p:sp>
      <p:pic>
        <p:nvPicPr>
          <p:cNvPr id="7" name="ikon" descr="preencoded.png">    </p:cNvPr>
          <p:cNvPicPr>
            <a:picLocks noChangeAspect="1"/>
          </p:cNvPicPr>
          <p:nvPr/>
        </p:nvPicPr>
        <p:blipFill>
          <a:blip r:embed="rId1"/>
          <a:stretch>
            <a:fillRect/>
          </a:stretch>
        </p:blipFill>
        <p:spPr>
          <a:xfrm>
            <a:off x="1028700" y="2080260"/>
            <a:ext cx="320040" cy="320040"/>
          </a:xfrm>
          <a:prstGeom prst="rect">
            <a:avLst/>
          </a:prstGeom>
        </p:spPr>
      </p:pic>
      <p:sp>
        <p:nvSpPr>
          <p:cNvPr id="8" name="Text 4"/>
          <p:cNvSpPr txBox="1"/>
          <p:nvPr/>
        </p:nvSpPr>
        <p:spPr>
          <a:xfrm>
            <a:off x="1691640" y="1920240"/>
            <a:ext cx="3901288" cy="640080"/>
          </a:xfrm>
          <a:prstGeom prst="rect">
            <a:avLst/>
          </a:prstGeom>
          <a:noFill/>
          <a:ln/>
        </p:spPr>
        <p:txBody>
          <a:bodyPr wrap="square" lIns="0" tIns="0" rIns="0" bIns="0" rtlCol="0" anchor="ctr"/>
          <a:lstStyle/>
          <a:p>
            <a:pPr indent="0" marL="0">
              <a:buNone/>
            </a:pPr>
            <a:r>
              <a:rPr lang="en-US" sz="2200" b="1" dirty="0">
                <a:solidFill>
                  <a:schemeClr val="tx2"/>
                </a:solidFill>
              </a:rPr>
              <a:t>İşveren tarafı</a:t>
            </a:r>
            <a:endParaRPr lang="en-US" sz="2200" dirty="0"/>
          </a:p>
        </p:txBody>
      </p:sp>
      <p:sp>
        <p:nvSpPr>
          <p:cNvPr id="9" name="Text 5"/>
          <p:cNvSpPr txBox="1"/>
          <p:nvPr/>
        </p:nvSpPr>
        <p:spPr>
          <a:xfrm>
            <a:off x="868680" y="2788920"/>
            <a:ext cx="4724248"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ATS, CV'yi ayrıştırır ve sıralar</a:t>
            </a:r>
            <a:endParaRPr lang="en-US" sz="1700" dirty="0"/>
          </a:p>
          <a:p>
            <a:pPr marL="342900" indent="-342900">
              <a:spcAft>
                <a:spcPts val="1000"/>
              </a:spcAft>
              <a:buSzPct val="100000"/>
              <a:buChar char="•"/>
            </a:pPr>
            <a:r>
              <a:rPr lang="en-US" sz="1700" dirty="0">
                <a:solidFill>
                  <a:schemeClr val="tx1"/>
                </a:solidFill>
              </a:rPr>
              <a:t>YZ destekli aday arama (LinkedIn Recruiter)</a:t>
            </a:r>
            <a:endParaRPr lang="en-US" sz="1700" dirty="0"/>
          </a:p>
          <a:p>
            <a:pPr marL="342900" indent="-342900">
              <a:spcAft>
                <a:spcPts val="1000"/>
              </a:spcAft>
              <a:buSzPct val="100000"/>
              <a:buChar char="•"/>
            </a:pPr>
            <a:r>
              <a:rPr lang="en-US" sz="1700" dirty="0">
                <a:solidFill>
                  <a:schemeClr val="tx1"/>
                </a:solidFill>
              </a:rPr>
              <a:t>Otomatik eleme soruları</a:t>
            </a:r>
            <a:endParaRPr lang="en-US" sz="1700" dirty="0"/>
          </a:p>
        </p:txBody>
      </p:sp>
      <p:sp>
        <p:nvSpPr>
          <p:cNvPr id="10" name="kart"/>
          <p:cNvSpPr/>
          <p:nvPr/>
        </p:nvSpPr>
        <p:spPr>
          <a:xfrm>
            <a:off x="6278728" y="1691640"/>
            <a:ext cx="5364328" cy="2971800"/>
          </a:xfrm>
          <a:prstGeom prst="roundRect">
            <a:avLst>
              <a:gd name="adj" fmla="val 2462"/>
            </a:avLst>
          </a:prstGeom>
          <a:solidFill>
            <a:schemeClr val="bg2"/>
          </a:solidFill>
          <a:ln/>
        </p:spPr>
      </p:sp>
      <p:sp>
        <p:nvSpPr>
          <p:cNvPr id="11" name="ikon-daire"/>
          <p:cNvSpPr/>
          <p:nvPr/>
        </p:nvSpPr>
        <p:spPr>
          <a:xfrm>
            <a:off x="6598768" y="1920240"/>
            <a:ext cx="640080" cy="640080"/>
          </a:xfrm>
          <a:prstGeom prst="ellipse">
            <a:avLst/>
          </a:prstGeom>
          <a:solidFill>
            <a:schemeClr val="accent1"/>
          </a:solidFill>
          <a:ln/>
        </p:spPr>
      </p:sp>
      <p:pic>
        <p:nvPicPr>
          <p:cNvPr id="12" name="ikon" descr="preencoded.png">    </p:cNvPr>
          <p:cNvPicPr>
            <a:picLocks noChangeAspect="1"/>
          </p:cNvPicPr>
          <p:nvPr/>
        </p:nvPicPr>
        <p:blipFill>
          <a:blip r:embed="rId2"/>
          <a:stretch>
            <a:fillRect/>
          </a:stretch>
        </p:blipFill>
        <p:spPr>
          <a:xfrm>
            <a:off x="6758788" y="2080260"/>
            <a:ext cx="320040" cy="320040"/>
          </a:xfrm>
          <a:prstGeom prst="rect">
            <a:avLst/>
          </a:prstGeom>
        </p:spPr>
      </p:pic>
      <p:sp>
        <p:nvSpPr>
          <p:cNvPr id="13" name="Text 8"/>
          <p:cNvSpPr txBox="1"/>
          <p:nvPr/>
        </p:nvSpPr>
        <p:spPr>
          <a:xfrm>
            <a:off x="7421728" y="1920240"/>
            <a:ext cx="3901288" cy="640080"/>
          </a:xfrm>
          <a:prstGeom prst="rect">
            <a:avLst/>
          </a:prstGeom>
          <a:noFill/>
          <a:ln/>
        </p:spPr>
        <p:txBody>
          <a:bodyPr wrap="square" lIns="0" tIns="0" rIns="0" bIns="0" rtlCol="0" anchor="ctr"/>
          <a:lstStyle/>
          <a:p>
            <a:pPr indent="0" marL="0">
              <a:buNone/>
            </a:pPr>
            <a:r>
              <a:rPr lang="en-US" sz="2200" b="1" dirty="0">
                <a:solidFill>
                  <a:schemeClr val="tx2"/>
                </a:solidFill>
              </a:rPr>
              <a:t>Aday tarafı</a:t>
            </a:r>
            <a:endParaRPr lang="en-US" sz="2200" dirty="0"/>
          </a:p>
        </p:txBody>
      </p:sp>
      <p:sp>
        <p:nvSpPr>
          <p:cNvPr id="14" name="Text 9"/>
          <p:cNvSpPr txBox="1"/>
          <p:nvPr/>
        </p:nvSpPr>
        <p:spPr>
          <a:xfrm>
            <a:off x="6598768" y="2788920"/>
            <a:ext cx="4724248" cy="21031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LLM ile ilan analizi</a:t>
            </a:r>
            <a:endParaRPr lang="en-US" sz="1700" dirty="0"/>
          </a:p>
          <a:p>
            <a:pPr marL="342900" indent="-342900">
              <a:spcAft>
                <a:spcPts val="1000"/>
              </a:spcAft>
              <a:buSzPct val="100000"/>
              <a:buChar char="•"/>
            </a:pPr>
            <a:r>
              <a:rPr lang="en-US" sz="1700" dirty="0">
                <a:solidFill>
                  <a:schemeClr val="tx1"/>
                </a:solidFill>
              </a:rPr>
              <a:t>CV uyarlama ve ön yazı</a:t>
            </a:r>
            <a:endParaRPr lang="en-US" sz="1700" dirty="0"/>
          </a:p>
          <a:p>
            <a:pPr marL="342900" indent="-342900">
              <a:spcAft>
                <a:spcPts val="1000"/>
              </a:spcAft>
              <a:buSzPct val="100000"/>
              <a:buChar char="•"/>
            </a:pPr>
            <a:r>
              <a:rPr lang="en-US" sz="1700" dirty="0">
                <a:solidFill>
                  <a:schemeClr val="tx1"/>
                </a:solidFill>
              </a:rPr>
              <a:t>Açık kaynak iş arama ajanları</a:t>
            </a:r>
            <a:endParaRPr lang="en-US" sz="1700" dirty="0"/>
          </a:p>
        </p:txBody>
      </p:sp>
      <p:sp>
        <p:nvSpPr>
          <p:cNvPr id="15" name="ana-mesaj"/>
          <p:cNvSpPr/>
          <p:nvPr/>
        </p:nvSpPr>
        <p:spPr>
          <a:xfrm>
            <a:off x="548640" y="4983480"/>
            <a:ext cx="11094415" cy="685800"/>
          </a:xfrm>
          <a:prstGeom prst="roundRect">
            <a:avLst>
              <a:gd name="adj" fmla="val 10667"/>
            </a:avLst>
          </a:prstGeom>
          <a:solidFill>
            <a:schemeClr val="accent1"/>
          </a:solidFill>
          <a:ln/>
        </p:spPr>
      </p:sp>
      <p:sp>
        <p:nvSpPr>
          <p:cNvPr id="16" name="Text 11"/>
          <p:cNvSpPr txBox="1"/>
          <p:nvPr/>
        </p:nvSpPr>
        <p:spPr>
          <a:xfrm>
            <a:off x="868680" y="4983480"/>
            <a:ext cx="10454335" cy="685800"/>
          </a:xfrm>
          <a:prstGeom prst="rect">
            <a:avLst/>
          </a:prstGeom>
          <a:noFill/>
          <a:ln/>
        </p:spPr>
        <p:txBody>
          <a:bodyPr wrap="square" lIns="0" tIns="0" rIns="0" bIns="0" rtlCol="0" anchor="ctr"/>
          <a:lstStyle/>
          <a:p>
            <a:pPr indent="0" marL="0">
              <a:buNone/>
            </a:pPr>
            <a:r>
              <a:rPr lang="en-US" sz="1800" b="1" dirty="0">
                <a:solidFill>
                  <a:schemeClr val="bg1"/>
                </a:solidFill>
              </a:rPr>
              <a:t>Fark yaratan araç değil; doğru, ölçülebilir ve ilana uygun içerik.</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01 · CV VE ATS</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ATS CV'nizi Nasıl Okur?</a:t>
            </a:r>
            <a:endParaRPr lang="en-US" sz="3400" dirty="0"/>
          </a:p>
        </p:txBody>
      </p:sp>
      <p:sp>
        <p:nvSpPr>
          <p:cNvPr id="5" name="kart"/>
          <p:cNvSpPr/>
          <p:nvPr/>
        </p:nvSpPr>
        <p:spPr>
          <a:xfrm>
            <a:off x="548640" y="1783080"/>
            <a:ext cx="3246120" cy="2651760"/>
          </a:xfrm>
          <a:prstGeom prst="roundRect">
            <a:avLst>
              <a:gd name="adj" fmla="val 2759"/>
            </a:avLst>
          </a:prstGeom>
          <a:solidFill>
            <a:schemeClr val="bg2"/>
          </a:solidFill>
          <a:ln/>
        </p:spPr>
      </p:sp>
      <p:sp>
        <p:nvSpPr>
          <p:cNvPr id="6" name="Shape 3"/>
          <p:cNvSpPr/>
          <p:nvPr/>
        </p:nvSpPr>
        <p:spPr>
          <a:xfrm>
            <a:off x="822960" y="2011680"/>
            <a:ext cx="548640" cy="548640"/>
          </a:xfrm>
          <a:prstGeom prst="ellipse">
            <a:avLst/>
          </a:prstGeom>
          <a:solidFill>
            <a:schemeClr val="accent2"/>
          </a:solidFill>
          <a:ln/>
        </p:spPr>
      </p:sp>
      <p:sp>
        <p:nvSpPr>
          <p:cNvPr id="7" name="Text 4"/>
          <p:cNvSpPr txBox="1"/>
          <p:nvPr/>
        </p:nvSpPr>
        <p:spPr>
          <a:xfrm>
            <a:off x="82296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822960" y="2743200"/>
            <a:ext cx="2697480" cy="155448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Ayrıştırma</a:t>
            </a:r>
            <a:endParaRPr lang="en-US" sz="2000" dirty="0"/>
          </a:p>
          <a:p>
            <a:pPr indent="0" marL="0">
              <a:spcAft>
                <a:spcPts val="600"/>
              </a:spcAft>
              <a:buNone/>
            </a:pPr>
            <a:r>
              <a:rPr lang="en-US" sz="1500" dirty="0">
                <a:solidFill>
                  <a:schemeClr val="tx1"/>
                </a:solidFill>
              </a:rPr>
              <a:t>PDF metne çevrilir; iletişim, deneyim, eğitim ve beceri alanlarına bölünür</a:t>
            </a:r>
            <a:endParaRPr lang="en-US" sz="2000" dirty="0"/>
          </a:p>
        </p:txBody>
      </p:sp>
      <p:pic>
        <p:nvPicPr>
          <p:cNvPr id="9" name="Image 0" descr="preencoded.png">    </p:cNvPr>
          <p:cNvPicPr>
            <a:picLocks noChangeAspect="1"/>
          </p:cNvPicPr>
          <p:nvPr/>
        </p:nvPicPr>
        <p:blipFill>
          <a:blip r:embed="rId1"/>
          <a:stretch>
            <a:fillRect/>
          </a:stretch>
        </p:blipFill>
        <p:spPr>
          <a:xfrm>
            <a:off x="3996614" y="2971800"/>
            <a:ext cx="274320" cy="274320"/>
          </a:xfrm>
          <a:prstGeom prst="rect">
            <a:avLst/>
          </a:prstGeom>
        </p:spPr>
      </p:pic>
      <p:sp>
        <p:nvSpPr>
          <p:cNvPr id="10" name="kart"/>
          <p:cNvSpPr/>
          <p:nvPr/>
        </p:nvSpPr>
        <p:spPr>
          <a:xfrm>
            <a:off x="4472788" y="1783080"/>
            <a:ext cx="3246120" cy="2651760"/>
          </a:xfrm>
          <a:prstGeom prst="roundRect">
            <a:avLst>
              <a:gd name="adj" fmla="val 2759"/>
            </a:avLst>
          </a:prstGeom>
          <a:solidFill>
            <a:schemeClr val="bg2"/>
          </a:solidFill>
          <a:ln/>
        </p:spPr>
      </p:sp>
      <p:sp>
        <p:nvSpPr>
          <p:cNvPr id="11" name="Shape 7"/>
          <p:cNvSpPr/>
          <p:nvPr/>
        </p:nvSpPr>
        <p:spPr>
          <a:xfrm>
            <a:off x="4747108" y="2011680"/>
            <a:ext cx="548640" cy="548640"/>
          </a:xfrm>
          <a:prstGeom prst="ellipse">
            <a:avLst/>
          </a:prstGeom>
          <a:solidFill>
            <a:schemeClr val="accent2"/>
          </a:solidFill>
          <a:ln/>
        </p:spPr>
      </p:sp>
      <p:sp>
        <p:nvSpPr>
          <p:cNvPr id="12" name="Text 8"/>
          <p:cNvSpPr txBox="1"/>
          <p:nvPr/>
        </p:nvSpPr>
        <p:spPr>
          <a:xfrm>
            <a:off x="4747108"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9"/>
          <p:cNvSpPr txBox="1"/>
          <p:nvPr/>
        </p:nvSpPr>
        <p:spPr>
          <a:xfrm>
            <a:off x="4747108" y="2743200"/>
            <a:ext cx="2697480" cy="155448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Eşleştirme</a:t>
            </a:r>
            <a:endParaRPr lang="en-US" sz="2000" dirty="0"/>
          </a:p>
          <a:p>
            <a:pPr indent="0" marL="0">
              <a:spcAft>
                <a:spcPts val="600"/>
              </a:spcAft>
              <a:buNone/>
            </a:pPr>
            <a:r>
              <a:rPr lang="en-US" sz="1500" dirty="0">
                <a:solidFill>
                  <a:schemeClr val="tx1"/>
                </a:solidFill>
              </a:rPr>
              <a:t>İlandaki anahtar kelime, beceri ve unvanlar CV'de aranır</a:t>
            </a:r>
            <a:endParaRPr lang="en-US" sz="2000" dirty="0"/>
          </a:p>
        </p:txBody>
      </p:sp>
      <p:pic>
        <p:nvPicPr>
          <p:cNvPr id="14" name="Image 1" descr="preencoded.png">    </p:cNvPr>
          <p:cNvPicPr>
            <a:picLocks noChangeAspect="1"/>
          </p:cNvPicPr>
          <p:nvPr/>
        </p:nvPicPr>
        <p:blipFill>
          <a:blip r:embed="rId2"/>
          <a:stretch>
            <a:fillRect/>
          </a:stretch>
        </p:blipFill>
        <p:spPr>
          <a:xfrm>
            <a:off x="7920761" y="2971800"/>
            <a:ext cx="274320" cy="274320"/>
          </a:xfrm>
          <a:prstGeom prst="rect">
            <a:avLst/>
          </a:prstGeom>
        </p:spPr>
      </p:pic>
      <p:sp>
        <p:nvSpPr>
          <p:cNvPr id="15" name="kart"/>
          <p:cNvSpPr/>
          <p:nvPr/>
        </p:nvSpPr>
        <p:spPr>
          <a:xfrm>
            <a:off x="8396935" y="1783080"/>
            <a:ext cx="3246120" cy="2651760"/>
          </a:xfrm>
          <a:prstGeom prst="roundRect">
            <a:avLst>
              <a:gd name="adj" fmla="val 2759"/>
            </a:avLst>
          </a:prstGeom>
          <a:solidFill>
            <a:schemeClr val="bg2"/>
          </a:solidFill>
          <a:ln/>
        </p:spPr>
      </p:sp>
      <p:sp>
        <p:nvSpPr>
          <p:cNvPr id="16" name="Shape 11"/>
          <p:cNvSpPr/>
          <p:nvPr/>
        </p:nvSpPr>
        <p:spPr>
          <a:xfrm>
            <a:off x="8671255" y="2011680"/>
            <a:ext cx="548640" cy="548640"/>
          </a:xfrm>
          <a:prstGeom prst="ellipse">
            <a:avLst/>
          </a:prstGeom>
          <a:solidFill>
            <a:schemeClr val="accent2"/>
          </a:solidFill>
          <a:ln/>
        </p:spPr>
      </p:sp>
      <p:sp>
        <p:nvSpPr>
          <p:cNvPr id="17" name="Text 12"/>
          <p:cNvSpPr txBox="1"/>
          <p:nvPr/>
        </p:nvSpPr>
        <p:spPr>
          <a:xfrm>
            <a:off x="8671255"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3"/>
          <p:cNvSpPr txBox="1"/>
          <p:nvPr/>
        </p:nvSpPr>
        <p:spPr>
          <a:xfrm>
            <a:off x="8671255" y="2743200"/>
            <a:ext cx="2697480" cy="155448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Sıralama</a:t>
            </a:r>
            <a:endParaRPr lang="en-US" sz="2000" dirty="0"/>
          </a:p>
          <a:p>
            <a:pPr indent="0" marL="0">
              <a:spcAft>
                <a:spcPts val="600"/>
              </a:spcAft>
              <a:buNone/>
            </a:pPr>
            <a:r>
              <a:rPr lang="en-US" sz="1500" dirty="0">
                <a:solidFill>
                  <a:schemeClr val="tx1"/>
                </a:solidFill>
              </a:rPr>
              <a:t>Adaylar puanlanır, eleme soruları uygulanır</a:t>
            </a:r>
            <a:endParaRPr lang="en-US" sz="2000" dirty="0"/>
          </a:p>
        </p:txBody>
      </p:sp>
      <p:sp>
        <p:nvSpPr>
          <p:cNvPr id="19" name="kart"/>
          <p:cNvSpPr/>
          <p:nvPr/>
        </p:nvSpPr>
        <p:spPr>
          <a:xfrm>
            <a:off x="548640" y="4800600"/>
            <a:ext cx="11094415" cy="1051560"/>
          </a:xfrm>
          <a:prstGeom prst="roundRect">
            <a:avLst>
              <a:gd name="adj" fmla="val 6957"/>
            </a:avLst>
          </a:prstGeom>
          <a:solidFill>
            <a:schemeClr val="bg2"/>
          </a:solidFill>
          <a:ln/>
        </p:spPr>
      </p:sp>
      <p:sp>
        <p:nvSpPr>
          <p:cNvPr id="20" name="ikon-daire"/>
          <p:cNvSpPr/>
          <p:nvPr/>
        </p:nvSpPr>
        <p:spPr>
          <a:xfrm>
            <a:off x="822960" y="4983480"/>
            <a:ext cx="685800" cy="685800"/>
          </a:xfrm>
          <a:prstGeom prst="ellipse">
            <a:avLst/>
          </a:prstGeom>
          <a:solidFill>
            <a:schemeClr val="accent2"/>
          </a:solidFill>
          <a:ln/>
        </p:spPr>
      </p:sp>
      <p:pic>
        <p:nvPicPr>
          <p:cNvPr id="21" name="ikon" descr="preencoded.png">    </p:cNvPr>
          <p:cNvPicPr>
            <a:picLocks noChangeAspect="1"/>
          </p:cNvPicPr>
          <p:nvPr/>
        </p:nvPicPr>
        <p:blipFill>
          <a:blip r:embed="rId3"/>
          <a:stretch>
            <a:fillRect/>
          </a:stretch>
        </p:blipFill>
        <p:spPr>
          <a:xfrm>
            <a:off x="994410" y="5154930"/>
            <a:ext cx="342900" cy="342900"/>
          </a:xfrm>
          <a:prstGeom prst="rect">
            <a:avLst/>
          </a:prstGeom>
        </p:spPr>
      </p:pic>
      <p:sp>
        <p:nvSpPr>
          <p:cNvPr id="22" name="Text 16"/>
          <p:cNvSpPr txBox="1"/>
          <p:nvPr/>
        </p:nvSpPr>
        <p:spPr>
          <a:xfrm>
            <a:off x="1737360" y="4800600"/>
            <a:ext cx="9631375" cy="1051560"/>
          </a:xfrm>
          <a:prstGeom prst="rect">
            <a:avLst/>
          </a:prstGeom>
          <a:noFill/>
          <a:ln/>
        </p:spPr>
        <p:txBody>
          <a:bodyPr wrap="square" lIns="0" tIns="0" rIns="0" bIns="0" rtlCol="0" anchor="ctr"/>
          <a:lstStyle/>
          <a:p>
            <a:pPr indent="0" marL="0">
              <a:buNone/>
            </a:pPr>
            <a:r>
              <a:rPr lang="en-US" sz="1600" dirty="0">
                <a:solidFill>
                  <a:schemeClr val="tx1"/>
                </a:solidFill>
              </a:rPr>
              <a:t>Son kararı insan verir. Kendi PDF'inizi OpenResume ayrıştırıcısıyla test edin: ATS'nin gördüğü metni görürsünüz.</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01 · CV VE ATS</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ATS Uyumlu CV: Yap ve Yapma</a:t>
            </a:r>
            <a:endParaRPr lang="en-US" sz="3400" dirty="0"/>
          </a:p>
        </p:txBody>
      </p:sp>
      <p:sp>
        <p:nvSpPr>
          <p:cNvPr id="5" name="kart"/>
          <p:cNvSpPr/>
          <p:nvPr/>
        </p:nvSpPr>
        <p:spPr>
          <a:xfrm>
            <a:off x="548640" y="1691640"/>
            <a:ext cx="5364328" cy="4160520"/>
          </a:xfrm>
          <a:prstGeom prst="roundRect">
            <a:avLst>
              <a:gd name="adj" fmla="val 1758"/>
            </a:avLst>
          </a:prstGeom>
          <a:solidFill>
            <a:schemeClr val="accent5">
              <a:alpha val="8000"/>
            </a:schemeClr>
          </a:solidFill>
          <a:ln/>
        </p:spPr>
      </p:sp>
      <p:sp>
        <p:nvSpPr>
          <p:cNvPr id="6" name="Text 3"/>
          <p:cNvSpPr txBox="1"/>
          <p:nvPr/>
        </p:nvSpPr>
        <p:spPr>
          <a:xfrm>
            <a:off x="868680" y="1874520"/>
            <a:ext cx="4724248"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YAP</a:t>
            </a:r>
            <a:endParaRPr lang="en-US" sz="1400" dirty="0"/>
          </a:p>
        </p:txBody>
      </p:sp>
      <p:sp>
        <p:nvSpPr>
          <p:cNvPr id="7" name="ikon-daire"/>
          <p:cNvSpPr/>
          <p:nvPr/>
        </p:nvSpPr>
        <p:spPr>
          <a:xfrm>
            <a:off x="868680" y="2423160"/>
            <a:ext cx="438912" cy="438912"/>
          </a:xfrm>
          <a:prstGeom prst="ellipse">
            <a:avLst/>
          </a:prstGeom>
          <a:solidFill>
            <a:schemeClr val="accent5"/>
          </a:solidFill>
          <a:ln/>
        </p:spPr>
      </p:sp>
      <p:pic>
        <p:nvPicPr>
          <p:cNvPr id="8" name="ikon" descr="preencoded.png">    </p:cNvPr>
          <p:cNvPicPr>
            <a:picLocks noChangeAspect="1"/>
          </p:cNvPicPr>
          <p:nvPr/>
        </p:nvPicPr>
        <p:blipFill>
          <a:blip r:embed="rId1"/>
          <a:stretch>
            <a:fillRect/>
          </a:stretch>
        </p:blipFill>
        <p:spPr>
          <a:xfrm>
            <a:off x="978408" y="2532888"/>
            <a:ext cx="219456" cy="219456"/>
          </a:xfrm>
          <a:prstGeom prst="rect">
            <a:avLst/>
          </a:prstGeom>
        </p:spPr>
      </p:pic>
      <p:sp>
        <p:nvSpPr>
          <p:cNvPr id="9" name="Text 5"/>
          <p:cNvSpPr txBox="1"/>
          <p:nvPr/>
        </p:nvSpPr>
        <p:spPr>
          <a:xfrm>
            <a:off x="1536192" y="2377440"/>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Tek sütun, standart başlıklar</a:t>
            </a:r>
            <a:endParaRPr lang="en-US" sz="1700" dirty="0"/>
          </a:p>
        </p:txBody>
      </p:sp>
      <p:sp>
        <p:nvSpPr>
          <p:cNvPr id="10" name="ikon-daire"/>
          <p:cNvSpPr/>
          <p:nvPr/>
        </p:nvSpPr>
        <p:spPr>
          <a:xfrm>
            <a:off x="868680" y="3081528"/>
            <a:ext cx="438912" cy="438912"/>
          </a:xfrm>
          <a:prstGeom prst="ellipse">
            <a:avLst/>
          </a:prstGeom>
          <a:solidFill>
            <a:schemeClr val="accent5"/>
          </a:solidFill>
          <a:ln/>
        </p:spPr>
      </p:sp>
      <p:pic>
        <p:nvPicPr>
          <p:cNvPr id="11" name="ikon" descr="preencoded.png">    </p:cNvPr>
          <p:cNvPicPr>
            <a:picLocks noChangeAspect="1"/>
          </p:cNvPicPr>
          <p:nvPr/>
        </p:nvPicPr>
        <p:blipFill>
          <a:blip r:embed="rId2"/>
          <a:stretch>
            <a:fillRect/>
          </a:stretch>
        </p:blipFill>
        <p:spPr>
          <a:xfrm>
            <a:off x="978408" y="3191256"/>
            <a:ext cx="219456" cy="219456"/>
          </a:xfrm>
          <a:prstGeom prst="rect">
            <a:avLst/>
          </a:prstGeom>
        </p:spPr>
      </p:pic>
      <p:sp>
        <p:nvSpPr>
          <p:cNvPr id="12" name="Text 7"/>
          <p:cNvSpPr txBox="1"/>
          <p:nvPr/>
        </p:nvSpPr>
        <p:spPr>
          <a:xfrm>
            <a:off x="1536192" y="3035808"/>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Metni seçilebilen PDF</a:t>
            </a:r>
            <a:endParaRPr lang="en-US" sz="1700" dirty="0"/>
          </a:p>
        </p:txBody>
      </p:sp>
      <p:sp>
        <p:nvSpPr>
          <p:cNvPr id="13" name="ikon-daire"/>
          <p:cNvSpPr/>
          <p:nvPr/>
        </p:nvSpPr>
        <p:spPr>
          <a:xfrm>
            <a:off x="868680" y="3739896"/>
            <a:ext cx="438912" cy="438912"/>
          </a:xfrm>
          <a:prstGeom prst="ellipse">
            <a:avLst/>
          </a:prstGeom>
          <a:solidFill>
            <a:schemeClr val="accent5"/>
          </a:solidFill>
          <a:ln/>
        </p:spPr>
      </p:sp>
      <p:pic>
        <p:nvPicPr>
          <p:cNvPr id="14" name="ikon" descr="preencoded.png">    </p:cNvPr>
          <p:cNvPicPr>
            <a:picLocks noChangeAspect="1"/>
          </p:cNvPicPr>
          <p:nvPr/>
        </p:nvPicPr>
        <p:blipFill>
          <a:blip r:embed="rId3"/>
          <a:stretch>
            <a:fillRect/>
          </a:stretch>
        </p:blipFill>
        <p:spPr>
          <a:xfrm>
            <a:off x="978408" y="3849624"/>
            <a:ext cx="219456" cy="219456"/>
          </a:xfrm>
          <a:prstGeom prst="rect">
            <a:avLst/>
          </a:prstGeom>
        </p:spPr>
      </p:pic>
      <p:sp>
        <p:nvSpPr>
          <p:cNvPr id="15" name="Text 9"/>
          <p:cNvSpPr txBox="1"/>
          <p:nvPr/>
        </p:nvSpPr>
        <p:spPr>
          <a:xfrm>
            <a:off x="1536192" y="3694176"/>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İlandaki terimleri birebir kullan</a:t>
            </a:r>
            <a:endParaRPr lang="en-US" sz="1700" dirty="0"/>
          </a:p>
        </p:txBody>
      </p:sp>
      <p:sp>
        <p:nvSpPr>
          <p:cNvPr id="16" name="ikon-daire"/>
          <p:cNvSpPr/>
          <p:nvPr/>
        </p:nvSpPr>
        <p:spPr>
          <a:xfrm>
            <a:off x="868680" y="4398264"/>
            <a:ext cx="438912" cy="438912"/>
          </a:xfrm>
          <a:prstGeom prst="ellipse">
            <a:avLst/>
          </a:prstGeom>
          <a:solidFill>
            <a:schemeClr val="accent5"/>
          </a:solidFill>
          <a:ln/>
        </p:spPr>
      </p:sp>
      <p:pic>
        <p:nvPicPr>
          <p:cNvPr id="17" name="ikon" descr="preencoded.png">    </p:cNvPr>
          <p:cNvPicPr>
            <a:picLocks noChangeAspect="1"/>
          </p:cNvPicPr>
          <p:nvPr/>
        </p:nvPicPr>
        <p:blipFill>
          <a:blip r:embed="rId4"/>
          <a:stretch>
            <a:fillRect/>
          </a:stretch>
        </p:blipFill>
        <p:spPr>
          <a:xfrm>
            <a:off x="978408" y="4507992"/>
            <a:ext cx="219456" cy="219456"/>
          </a:xfrm>
          <a:prstGeom prst="rect">
            <a:avLst/>
          </a:prstGeom>
        </p:spPr>
      </p:pic>
      <p:sp>
        <p:nvSpPr>
          <p:cNvPr id="18" name="Text 11"/>
          <p:cNvSpPr txBox="1"/>
          <p:nvPr/>
        </p:nvSpPr>
        <p:spPr>
          <a:xfrm>
            <a:off x="1536192" y="4352544"/>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Ters kronolojik sıra</a:t>
            </a:r>
            <a:endParaRPr lang="en-US" sz="1700" dirty="0"/>
          </a:p>
        </p:txBody>
      </p:sp>
      <p:sp>
        <p:nvSpPr>
          <p:cNvPr id="19" name="kart"/>
          <p:cNvSpPr/>
          <p:nvPr/>
        </p:nvSpPr>
        <p:spPr>
          <a:xfrm>
            <a:off x="6278728" y="1691640"/>
            <a:ext cx="5364328" cy="4160520"/>
          </a:xfrm>
          <a:prstGeom prst="roundRect">
            <a:avLst>
              <a:gd name="adj" fmla="val 1758"/>
            </a:avLst>
          </a:prstGeom>
          <a:solidFill>
            <a:schemeClr val="accent4">
              <a:alpha val="8000"/>
            </a:schemeClr>
          </a:solidFill>
          <a:ln/>
        </p:spPr>
      </p:sp>
      <p:sp>
        <p:nvSpPr>
          <p:cNvPr id="20" name="Text 13"/>
          <p:cNvSpPr txBox="1"/>
          <p:nvPr/>
        </p:nvSpPr>
        <p:spPr>
          <a:xfrm>
            <a:off x="6598768" y="1874520"/>
            <a:ext cx="4724248"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YAPMA</a:t>
            </a:r>
            <a:endParaRPr lang="en-US" sz="1400" dirty="0"/>
          </a:p>
        </p:txBody>
      </p:sp>
      <p:sp>
        <p:nvSpPr>
          <p:cNvPr id="21" name="ikon-daire"/>
          <p:cNvSpPr/>
          <p:nvPr/>
        </p:nvSpPr>
        <p:spPr>
          <a:xfrm>
            <a:off x="6598768" y="2423160"/>
            <a:ext cx="438912" cy="438912"/>
          </a:xfrm>
          <a:prstGeom prst="ellipse">
            <a:avLst/>
          </a:prstGeom>
          <a:solidFill>
            <a:schemeClr val="accent4"/>
          </a:solidFill>
          <a:ln/>
        </p:spPr>
      </p:sp>
      <p:pic>
        <p:nvPicPr>
          <p:cNvPr id="22" name="ikon" descr="preencoded.png">    </p:cNvPr>
          <p:cNvPicPr>
            <a:picLocks noChangeAspect="1"/>
          </p:cNvPicPr>
          <p:nvPr/>
        </p:nvPicPr>
        <p:blipFill>
          <a:blip r:embed="rId5"/>
          <a:stretch>
            <a:fillRect/>
          </a:stretch>
        </p:blipFill>
        <p:spPr>
          <a:xfrm>
            <a:off x="6708496" y="2532888"/>
            <a:ext cx="219456" cy="219456"/>
          </a:xfrm>
          <a:prstGeom prst="rect">
            <a:avLst/>
          </a:prstGeom>
        </p:spPr>
      </p:pic>
      <p:sp>
        <p:nvSpPr>
          <p:cNvPr id="23" name="Text 15"/>
          <p:cNvSpPr txBox="1"/>
          <p:nvPr/>
        </p:nvSpPr>
        <p:spPr>
          <a:xfrm>
            <a:off x="7266280" y="2377440"/>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Medeni durum, din gibi kişisel bilgi</a:t>
            </a:r>
            <a:endParaRPr lang="en-US" sz="1700" dirty="0"/>
          </a:p>
        </p:txBody>
      </p:sp>
      <p:sp>
        <p:nvSpPr>
          <p:cNvPr id="24" name="ikon-daire"/>
          <p:cNvSpPr/>
          <p:nvPr/>
        </p:nvSpPr>
        <p:spPr>
          <a:xfrm>
            <a:off x="6598768" y="3081528"/>
            <a:ext cx="438912" cy="438912"/>
          </a:xfrm>
          <a:prstGeom prst="ellipse">
            <a:avLst/>
          </a:prstGeom>
          <a:solidFill>
            <a:schemeClr val="accent4"/>
          </a:solidFill>
          <a:ln/>
        </p:spPr>
      </p:sp>
      <p:pic>
        <p:nvPicPr>
          <p:cNvPr id="25" name="ikon" descr="preencoded.png">    </p:cNvPr>
          <p:cNvPicPr>
            <a:picLocks noChangeAspect="1"/>
          </p:cNvPicPr>
          <p:nvPr/>
        </p:nvPicPr>
        <p:blipFill>
          <a:blip r:embed="rId6"/>
          <a:stretch>
            <a:fillRect/>
          </a:stretch>
        </p:blipFill>
        <p:spPr>
          <a:xfrm>
            <a:off x="6708496" y="3191256"/>
            <a:ext cx="219456" cy="219456"/>
          </a:xfrm>
          <a:prstGeom prst="rect">
            <a:avLst/>
          </a:prstGeom>
        </p:spPr>
      </p:pic>
      <p:sp>
        <p:nvSpPr>
          <p:cNvPr id="26" name="Text 17"/>
          <p:cNvSpPr txBox="1"/>
          <p:nvPr/>
        </p:nvSpPr>
        <p:spPr>
          <a:xfrm>
            <a:off x="7266280" y="3035808"/>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"CV" veya "Özgeçmiş" başlığı</a:t>
            </a:r>
            <a:endParaRPr lang="en-US" sz="1700" dirty="0"/>
          </a:p>
        </p:txBody>
      </p:sp>
      <p:sp>
        <p:nvSpPr>
          <p:cNvPr id="27" name="ikon-daire"/>
          <p:cNvSpPr/>
          <p:nvPr/>
        </p:nvSpPr>
        <p:spPr>
          <a:xfrm>
            <a:off x="6598768" y="3739896"/>
            <a:ext cx="438912" cy="438912"/>
          </a:xfrm>
          <a:prstGeom prst="ellipse">
            <a:avLst/>
          </a:prstGeom>
          <a:solidFill>
            <a:schemeClr val="accent4"/>
          </a:solidFill>
          <a:ln/>
        </p:spPr>
      </p:sp>
      <p:pic>
        <p:nvPicPr>
          <p:cNvPr id="28" name="ikon" descr="preencoded.png">    </p:cNvPr>
          <p:cNvPicPr>
            <a:picLocks noChangeAspect="1"/>
          </p:cNvPicPr>
          <p:nvPr/>
        </p:nvPicPr>
        <p:blipFill>
          <a:blip r:embed="rId7"/>
          <a:stretch>
            <a:fillRect/>
          </a:stretch>
        </p:blipFill>
        <p:spPr>
          <a:xfrm>
            <a:off x="6708496" y="3849624"/>
            <a:ext cx="219456" cy="219456"/>
          </a:xfrm>
          <a:prstGeom prst="rect">
            <a:avLst/>
          </a:prstGeom>
        </p:spPr>
      </p:pic>
      <p:sp>
        <p:nvSpPr>
          <p:cNvPr id="29" name="Text 19"/>
          <p:cNvSpPr txBox="1"/>
          <p:nvPr/>
        </p:nvSpPr>
        <p:spPr>
          <a:xfrm>
            <a:off x="7266280" y="3694176"/>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Açıklanmamış kısaltma</a:t>
            </a:r>
            <a:endParaRPr lang="en-US" sz="1700" dirty="0"/>
          </a:p>
        </p:txBody>
      </p:sp>
      <p:sp>
        <p:nvSpPr>
          <p:cNvPr id="30" name="ikon-daire"/>
          <p:cNvSpPr/>
          <p:nvPr/>
        </p:nvSpPr>
        <p:spPr>
          <a:xfrm>
            <a:off x="6598768" y="4398264"/>
            <a:ext cx="438912" cy="438912"/>
          </a:xfrm>
          <a:prstGeom prst="ellipse">
            <a:avLst/>
          </a:prstGeom>
          <a:solidFill>
            <a:schemeClr val="accent4"/>
          </a:solidFill>
          <a:ln/>
        </p:spPr>
      </p:sp>
      <p:pic>
        <p:nvPicPr>
          <p:cNvPr id="31" name="ikon" descr="preencoded.png">    </p:cNvPr>
          <p:cNvPicPr>
            <a:picLocks noChangeAspect="1"/>
          </p:cNvPicPr>
          <p:nvPr/>
        </p:nvPicPr>
        <p:blipFill>
          <a:blip r:embed="rId8"/>
          <a:stretch>
            <a:fillRect/>
          </a:stretch>
        </p:blipFill>
        <p:spPr>
          <a:xfrm>
            <a:off x="6708496" y="4507992"/>
            <a:ext cx="219456" cy="219456"/>
          </a:xfrm>
          <a:prstGeom prst="rect">
            <a:avLst/>
          </a:prstGeom>
        </p:spPr>
      </p:pic>
      <p:sp>
        <p:nvSpPr>
          <p:cNvPr id="32" name="Text 21"/>
          <p:cNvSpPr txBox="1"/>
          <p:nvPr/>
        </p:nvSpPr>
        <p:spPr>
          <a:xfrm>
            <a:off x="7266280" y="4352544"/>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Aynı bilginin tekrarı</a:t>
            </a:r>
            <a:endParaRPr lang="en-US" sz="1700" dirty="0"/>
          </a:p>
        </p:txBody>
      </p:sp>
      <p:sp>
        <p:nvSpPr>
          <p:cNvPr id="33" name="ikon-daire"/>
          <p:cNvSpPr/>
          <p:nvPr/>
        </p:nvSpPr>
        <p:spPr>
          <a:xfrm>
            <a:off x="6598768" y="5056632"/>
            <a:ext cx="438912" cy="438912"/>
          </a:xfrm>
          <a:prstGeom prst="ellipse">
            <a:avLst/>
          </a:prstGeom>
          <a:solidFill>
            <a:schemeClr val="accent4"/>
          </a:solidFill>
          <a:ln/>
        </p:spPr>
      </p:sp>
      <p:pic>
        <p:nvPicPr>
          <p:cNvPr id="34" name="ikon" descr="preencoded.png">    </p:cNvPr>
          <p:cNvPicPr>
            <a:picLocks noChangeAspect="1"/>
          </p:cNvPicPr>
          <p:nvPr/>
        </p:nvPicPr>
        <p:blipFill>
          <a:blip r:embed="rId9"/>
          <a:stretch>
            <a:fillRect/>
          </a:stretch>
        </p:blipFill>
        <p:spPr>
          <a:xfrm>
            <a:off x="6708496" y="5166360"/>
            <a:ext cx="219456" cy="219456"/>
          </a:xfrm>
          <a:prstGeom prst="rect">
            <a:avLst/>
          </a:prstGeom>
        </p:spPr>
      </p:pic>
      <p:sp>
        <p:nvSpPr>
          <p:cNvPr id="35" name="Text 23"/>
          <p:cNvSpPr txBox="1"/>
          <p:nvPr/>
        </p:nvSpPr>
        <p:spPr>
          <a:xfrm>
            <a:off x="7266280" y="5010912"/>
            <a:ext cx="4056736" cy="548640"/>
          </a:xfrm>
          <a:prstGeom prst="rect">
            <a:avLst/>
          </a:prstGeom>
          <a:noFill/>
          <a:ln/>
        </p:spPr>
        <p:txBody>
          <a:bodyPr wrap="square" lIns="0" tIns="0" rIns="0" bIns="0" rtlCol="0" anchor="t"/>
          <a:lstStyle/>
          <a:p>
            <a:pPr indent="0" marL="0">
              <a:spcAft>
                <a:spcPts val="200"/>
              </a:spcAft>
              <a:buNone/>
            </a:pPr>
            <a:r>
              <a:rPr lang="en-US" sz="1700" b="1" dirty="0">
                <a:solidFill>
                  <a:schemeClr val="tx2"/>
                </a:solidFill>
              </a:rPr>
              <a:t>Gerçek olmayan bilgi</a:t>
            </a:r>
            <a:endParaRPr lang="en-US" sz="1700" dirty="0"/>
          </a:p>
        </p:txBody>
      </p:sp>
      <p:sp>
        <p:nvSpPr>
          <p:cNvPr id="36" name="Text 24"/>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chemeClr val="tx1"/>
                </a:solidFill>
              </a:rPr>
              <a:t>Kaynak: cv/RULES.md · kurallar dosyada yaşar; insan da ajan da aynı dosyayı okur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01 · CV VE ATS</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İyi Bir Madde Nasıl Yazılır?</a:t>
            </a:r>
            <a:endParaRPr lang="en-US" sz="3400" dirty="0"/>
          </a:p>
        </p:txBody>
      </p:sp>
      <p:sp>
        <p:nvSpPr>
          <p:cNvPr id="5" name="formul"/>
          <p:cNvSpPr/>
          <p:nvPr/>
        </p:nvSpPr>
        <p:spPr>
          <a:xfrm>
            <a:off x="548640" y="1783080"/>
            <a:ext cx="2423160" cy="822960"/>
          </a:xfrm>
          <a:prstGeom prst="roundRect">
            <a:avLst>
              <a:gd name="adj" fmla="val 8889"/>
            </a:avLst>
          </a:prstGeom>
          <a:solidFill>
            <a:schemeClr val="accent1"/>
          </a:solidFill>
          <a:ln/>
        </p:spPr>
      </p:sp>
      <p:sp>
        <p:nvSpPr>
          <p:cNvPr id="6" name="Text 3"/>
          <p:cNvSpPr txBox="1"/>
          <p:nvPr/>
        </p:nvSpPr>
        <p:spPr>
          <a:xfrm>
            <a:off x="548640" y="1783080"/>
            <a:ext cx="2423160" cy="822960"/>
          </a:xfrm>
          <a:prstGeom prst="rect">
            <a:avLst/>
          </a:prstGeom>
          <a:noFill/>
          <a:ln/>
        </p:spPr>
        <p:txBody>
          <a:bodyPr wrap="square" lIns="0" tIns="0" rIns="0" bIns="0" rtlCol="0" anchor="ctr"/>
          <a:lstStyle/>
          <a:p>
            <a:pPr algn="ctr" indent="0" marL="0">
              <a:buNone/>
            </a:pPr>
            <a:r>
              <a:rPr lang="en-US" sz="1800" b="1" dirty="0">
                <a:solidFill>
                  <a:schemeClr val="bg1"/>
                </a:solidFill>
              </a:rPr>
              <a:t>Aktif fiil</a:t>
            </a:r>
            <a:endParaRPr lang="en-US" sz="1800" dirty="0"/>
          </a:p>
        </p:txBody>
      </p:sp>
      <p:sp>
        <p:nvSpPr>
          <p:cNvPr id="7" name="Text 4"/>
          <p:cNvSpPr txBox="1"/>
          <p:nvPr/>
        </p:nvSpPr>
        <p:spPr>
          <a:xfrm>
            <a:off x="2971800" y="1783080"/>
            <a:ext cx="467258" cy="8229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8" name="formul"/>
          <p:cNvSpPr/>
          <p:nvPr/>
        </p:nvSpPr>
        <p:spPr>
          <a:xfrm>
            <a:off x="3439058" y="1783080"/>
            <a:ext cx="2423160" cy="822960"/>
          </a:xfrm>
          <a:prstGeom prst="roundRect">
            <a:avLst>
              <a:gd name="adj" fmla="val 8889"/>
            </a:avLst>
          </a:prstGeom>
          <a:solidFill>
            <a:schemeClr val="accent1"/>
          </a:solidFill>
          <a:ln/>
        </p:spPr>
      </p:sp>
      <p:sp>
        <p:nvSpPr>
          <p:cNvPr id="9" name="Text 6"/>
          <p:cNvSpPr txBox="1"/>
          <p:nvPr/>
        </p:nvSpPr>
        <p:spPr>
          <a:xfrm>
            <a:off x="3439058" y="1783080"/>
            <a:ext cx="2423160" cy="822960"/>
          </a:xfrm>
          <a:prstGeom prst="rect">
            <a:avLst/>
          </a:prstGeom>
          <a:noFill/>
          <a:ln/>
        </p:spPr>
        <p:txBody>
          <a:bodyPr wrap="square" lIns="0" tIns="0" rIns="0" bIns="0" rtlCol="0" anchor="ctr"/>
          <a:lstStyle/>
          <a:p>
            <a:pPr algn="ctr" indent="0" marL="0">
              <a:buNone/>
            </a:pPr>
            <a:r>
              <a:rPr lang="en-US" sz="1800" b="1" dirty="0">
                <a:solidFill>
                  <a:schemeClr val="bg1"/>
                </a:solidFill>
              </a:rPr>
              <a:t>Ne yaptın</a:t>
            </a:r>
            <a:endParaRPr lang="en-US" sz="1800" dirty="0"/>
          </a:p>
        </p:txBody>
      </p:sp>
      <p:sp>
        <p:nvSpPr>
          <p:cNvPr id="10" name="Text 7"/>
          <p:cNvSpPr txBox="1"/>
          <p:nvPr/>
        </p:nvSpPr>
        <p:spPr>
          <a:xfrm>
            <a:off x="5862218" y="1783080"/>
            <a:ext cx="467258" cy="8229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1" name="formul"/>
          <p:cNvSpPr/>
          <p:nvPr/>
        </p:nvSpPr>
        <p:spPr>
          <a:xfrm>
            <a:off x="6329477" y="1783080"/>
            <a:ext cx="2423160" cy="822960"/>
          </a:xfrm>
          <a:prstGeom prst="roundRect">
            <a:avLst>
              <a:gd name="adj" fmla="val 8889"/>
            </a:avLst>
          </a:prstGeom>
          <a:solidFill>
            <a:schemeClr val="accent1"/>
          </a:solidFill>
          <a:ln/>
        </p:spPr>
      </p:sp>
      <p:sp>
        <p:nvSpPr>
          <p:cNvPr id="12" name="Text 9"/>
          <p:cNvSpPr txBox="1"/>
          <p:nvPr/>
        </p:nvSpPr>
        <p:spPr>
          <a:xfrm>
            <a:off x="6329477" y="1783080"/>
            <a:ext cx="2423160" cy="822960"/>
          </a:xfrm>
          <a:prstGeom prst="rect">
            <a:avLst/>
          </a:prstGeom>
          <a:noFill/>
          <a:ln/>
        </p:spPr>
        <p:txBody>
          <a:bodyPr wrap="square" lIns="0" tIns="0" rIns="0" bIns="0" rtlCol="0" anchor="ctr"/>
          <a:lstStyle/>
          <a:p>
            <a:pPr algn="ctr" indent="0" marL="0">
              <a:buNone/>
            </a:pPr>
            <a:r>
              <a:rPr lang="en-US" sz="1800" b="1" dirty="0">
                <a:solidFill>
                  <a:schemeClr val="bg1"/>
                </a:solidFill>
              </a:rPr>
              <a:t>Nasıl (teknoloji)</a:t>
            </a:r>
            <a:endParaRPr lang="en-US" sz="1800" dirty="0"/>
          </a:p>
        </p:txBody>
      </p:sp>
      <p:sp>
        <p:nvSpPr>
          <p:cNvPr id="13" name="Text 10"/>
          <p:cNvSpPr txBox="1"/>
          <p:nvPr/>
        </p:nvSpPr>
        <p:spPr>
          <a:xfrm>
            <a:off x="8752637" y="1783080"/>
            <a:ext cx="467258" cy="822960"/>
          </a:xfrm>
          <a:prstGeom prst="rect">
            <a:avLst/>
          </a:prstGeom>
          <a:noFill/>
          <a:ln/>
        </p:spPr>
        <p:txBody>
          <a:bodyPr wrap="square" lIns="0" tIns="0" rIns="0" bIns="0" rtlCol="0" anchor="ctr"/>
          <a:lstStyle/>
          <a:p>
            <a:pPr algn="ctr" indent="0" marL="0">
              <a:buNone/>
            </a:pPr>
            <a:r>
              <a:rPr lang="en-US" sz="3000" b="1" dirty="0">
                <a:solidFill>
                  <a:schemeClr val="accent2"/>
                </a:solidFill>
              </a:rPr>
              <a:t>+</a:t>
            </a:r>
            <a:endParaRPr lang="en-US" sz="3000" dirty="0"/>
          </a:p>
        </p:txBody>
      </p:sp>
      <p:sp>
        <p:nvSpPr>
          <p:cNvPr id="14" name="formul"/>
          <p:cNvSpPr/>
          <p:nvPr/>
        </p:nvSpPr>
        <p:spPr>
          <a:xfrm>
            <a:off x="9219895" y="1783080"/>
            <a:ext cx="2423160" cy="822960"/>
          </a:xfrm>
          <a:prstGeom prst="roundRect">
            <a:avLst>
              <a:gd name="adj" fmla="val 8889"/>
            </a:avLst>
          </a:prstGeom>
          <a:solidFill>
            <a:schemeClr val="accent1"/>
          </a:solidFill>
          <a:ln/>
        </p:spPr>
      </p:sp>
      <p:sp>
        <p:nvSpPr>
          <p:cNvPr id="15" name="Text 12"/>
          <p:cNvSpPr txBox="1"/>
          <p:nvPr/>
        </p:nvSpPr>
        <p:spPr>
          <a:xfrm>
            <a:off x="9219895" y="1783080"/>
            <a:ext cx="2423160" cy="822960"/>
          </a:xfrm>
          <a:prstGeom prst="rect">
            <a:avLst/>
          </a:prstGeom>
          <a:noFill/>
          <a:ln/>
        </p:spPr>
        <p:txBody>
          <a:bodyPr wrap="square" lIns="0" tIns="0" rIns="0" bIns="0" rtlCol="0" anchor="ctr"/>
          <a:lstStyle/>
          <a:p>
            <a:pPr algn="ctr" indent="0" marL="0">
              <a:buNone/>
            </a:pPr>
            <a:r>
              <a:rPr lang="en-US" sz="1800" b="1" dirty="0">
                <a:solidFill>
                  <a:schemeClr val="bg1"/>
                </a:solidFill>
              </a:rPr>
              <a:t>Ölçülebilir sonuç</a:t>
            </a:r>
            <a:endParaRPr lang="en-US" sz="1800" dirty="0"/>
          </a:p>
        </p:txBody>
      </p:sp>
      <p:sp>
        <p:nvSpPr>
          <p:cNvPr id="16" name="kart"/>
          <p:cNvSpPr/>
          <p:nvPr/>
        </p:nvSpPr>
        <p:spPr>
          <a:xfrm>
            <a:off x="548640" y="3017520"/>
            <a:ext cx="5364328" cy="1828800"/>
          </a:xfrm>
          <a:prstGeom prst="roundRect">
            <a:avLst>
              <a:gd name="adj" fmla="val 4000"/>
            </a:avLst>
          </a:prstGeom>
          <a:solidFill>
            <a:schemeClr val="accent4">
              <a:alpha val="10000"/>
            </a:schemeClr>
          </a:solidFill>
          <a:ln/>
        </p:spPr>
      </p:sp>
      <p:sp>
        <p:nvSpPr>
          <p:cNvPr id="17" name="Text 14"/>
          <p:cNvSpPr txBox="1"/>
          <p:nvPr/>
        </p:nvSpPr>
        <p:spPr>
          <a:xfrm>
            <a:off x="868680" y="3246120"/>
            <a:ext cx="4724248" cy="1463040"/>
          </a:xfrm>
          <a:prstGeom prst="rect">
            <a:avLst/>
          </a:prstGeom>
          <a:noFill/>
          <a:ln/>
        </p:spPr>
        <p:txBody>
          <a:bodyPr wrap="square" lIns="0" tIns="0" rIns="0" bIns="0" rtlCol="0" anchor="t"/>
          <a:lstStyle/>
          <a:p>
            <a:pPr indent="0" marL="0">
              <a:spcAft>
                <a:spcPts val="800"/>
              </a:spcAft>
              <a:buNone/>
            </a:pPr>
            <a:r>
              <a:rPr lang="en-US" sz="1400" b="1" spc="200" kern="0" dirty="0">
                <a:solidFill>
                  <a:schemeClr val="accent4"/>
                </a:solidFill>
              </a:rPr>
              <a:t>ZAYIF</a:t>
            </a:r>
            <a:endParaRPr lang="en-US" sz="1400" dirty="0"/>
          </a:p>
          <a:p>
            <a:pPr indent="0" marL="0">
              <a:spcAft>
                <a:spcPts val="800"/>
              </a:spcAft>
              <a:buNone/>
            </a:pPr>
            <a:r>
              <a:rPr lang="en-US" sz="1800" dirty="0">
                <a:solidFill>
                  <a:schemeClr val="tx1"/>
                </a:solidFill>
              </a:rPr>
              <a:t>"Backend geliştirmelerinde görev aldım."</a:t>
            </a:r>
            <a:endParaRPr lang="en-US" sz="1400" dirty="0"/>
          </a:p>
        </p:txBody>
      </p:sp>
      <p:sp>
        <p:nvSpPr>
          <p:cNvPr id="18" name="kart"/>
          <p:cNvSpPr/>
          <p:nvPr/>
        </p:nvSpPr>
        <p:spPr>
          <a:xfrm>
            <a:off x="6278728" y="3017520"/>
            <a:ext cx="5364328" cy="1828800"/>
          </a:xfrm>
          <a:prstGeom prst="roundRect">
            <a:avLst>
              <a:gd name="adj" fmla="val 4000"/>
            </a:avLst>
          </a:prstGeom>
          <a:solidFill>
            <a:schemeClr val="accent5">
              <a:alpha val="10000"/>
            </a:schemeClr>
          </a:solidFill>
          <a:ln/>
        </p:spPr>
      </p:sp>
      <p:sp>
        <p:nvSpPr>
          <p:cNvPr id="19" name="Text 16"/>
          <p:cNvSpPr txBox="1"/>
          <p:nvPr/>
        </p:nvSpPr>
        <p:spPr>
          <a:xfrm>
            <a:off x="6598768" y="3246120"/>
            <a:ext cx="4724248" cy="1463040"/>
          </a:xfrm>
          <a:prstGeom prst="rect">
            <a:avLst/>
          </a:prstGeom>
          <a:noFill/>
          <a:ln/>
        </p:spPr>
        <p:txBody>
          <a:bodyPr wrap="square" lIns="0" tIns="0" rIns="0" bIns="0" rtlCol="0" anchor="t"/>
          <a:lstStyle/>
          <a:p>
            <a:pPr indent="0" marL="0">
              <a:spcAft>
                <a:spcPts val="800"/>
              </a:spcAft>
              <a:buNone/>
            </a:pPr>
            <a:r>
              <a:rPr lang="en-US" sz="1400" b="1" spc="200" kern="0" dirty="0">
                <a:solidFill>
                  <a:schemeClr val="accent5"/>
                </a:solidFill>
              </a:rPr>
              <a:t>GÜÇLÜ</a:t>
            </a:r>
            <a:endParaRPr lang="en-US" sz="1400" dirty="0"/>
          </a:p>
          <a:p>
            <a:pPr indent="0" marL="0">
              <a:spcAft>
                <a:spcPts val="800"/>
              </a:spcAft>
              <a:buNone/>
            </a:pPr>
            <a:r>
              <a:rPr lang="en-US" sz="1800" dirty="0">
                <a:solidFill>
                  <a:schemeClr val="tx1"/>
                </a:solidFill>
              </a:rPr>
              <a:t>"Java 21 ve virtual thread'lerle REST servisini yeniden tasarladım; p95 gecikmeyi %40 düşürdüm."</a:t>
            </a:r>
            <a:endParaRPr lang="en-US" sz="1400" dirty="0"/>
          </a:p>
        </p:txBody>
      </p:sp>
      <p:sp>
        <p:nvSpPr>
          <p:cNvPr id="20" name="Text 17"/>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200" i="1" dirty="0">
                <a:solidFill>
                  <a:schemeClr val="tx1"/>
                </a:solidFill>
              </a:rPr>
              <a:t>Örnek kurgusaldır; formülü göstermek içindir.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01 · CV VE ATS</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Aynı Deneyim, Farklı Vurgu</a:t>
            </a:r>
            <a:endParaRPr lang="en-US" sz="3400" dirty="0"/>
          </a:p>
        </p:txBody>
      </p:sp>
      <p:sp>
        <p:nvSpPr>
          <p:cNvPr id="5" name="kart"/>
          <p:cNvSpPr/>
          <p:nvPr/>
        </p:nvSpPr>
        <p:spPr>
          <a:xfrm>
            <a:off x="548640" y="1691640"/>
            <a:ext cx="11094415" cy="1325880"/>
          </a:xfrm>
          <a:prstGeom prst="roundRect">
            <a:avLst>
              <a:gd name="adj" fmla="val 5517"/>
            </a:avLst>
          </a:prstGeom>
          <a:solidFill>
            <a:schemeClr val="bg2"/>
          </a:solidFill>
          <a:ln/>
        </p:spPr>
      </p:sp>
      <p:sp>
        <p:nvSpPr>
          <p:cNvPr id="6" name="Text 3"/>
          <p:cNvSpPr txBox="1"/>
          <p:nvPr/>
        </p:nvSpPr>
        <p:spPr>
          <a:xfrm>
            <a:off x="868680" y="1783080"/>
            <a:ext cx="10454335" cy="1143000"/>
          </a:xfrm>
          <a:prstGeom prst="rect">
            <a:avLst/>
          </a:prstGeom>
          <a:noFill/>
          <a:ln/>
        </p:spPr>
        <p:txBody>
          <a:bodyPr wrap="square" lIns="0" tIns="0" rIns="0" bIns="0" rtlCol="0" anchor="ctr"/>
          <a:lstStyle/>
          <a:p>
            <a:pPr indent="0" marL="0">
              <a:spcAft>
                <a:spcPts val="400"/>
              </a:spcAft>
              <a:buNone/>
            </a:pPr>
            <a:r>
              <a:rPr lang="en-US" sz="1300" b="1" spc="200" kern="0" dirty="0">
                <a:solidFill>
                  <a:schemeClr val="accent3"/>
                </a:solidFill>
              </a:rPr>
              <a:t>GENEL CV</a:t>
            </a:r>
            <a:endParaRPr lang="en-US" sz="1300" dirty="0"/>
          </a:p>
          <a:p>
            <a:pPr indent="0" marL="0">
              <a:spcAft>
                <a:spcPts val="400"/>
              </a:spcAft>
              <a:buNone/>
            </a:pPr>
            <a:r>
              <a:rPr lang="en-US" sz="1600" dirty="0">
                <a:solidFill>
                  <a:schemeClr val="tx1"/>
                </a:solidFill>
              </a:rPr>
              <a:t>"C++ uygulamalarında güvenli veri kalıcılığı için Wt::Dbo ORM kütüphanesini ve veri serileştirme amacıyla Protobuf araçlarını entegre ettim."</a:t>
            </a:r>
            <a:endParaRPr lang="en-US" sz="1300" dirty="0"/>
          </a:p>
        </p:txBody>
      </p:sp>
      <p:pic>
        <p:nvPicPr>
          <p:cNvPr id="7" name="Image 0" descr="preencoded.png">    </p:cNvPr>
          <p:cNvPicPr>
            <a:picLocks noChangeAspect="1"/>
          </p:cNvPicPr>
          <p:nvPr/>
        </p:nvPicPr>
        <p:blipFill>
          <a:blip r:embed="rId1"/>
          <a:stretch>
            <a:fillRect/>
          </a:stretch>
        </p:blipFill>
        <p:spPr>
          <a:xfrm>
            <a:off x="5940400" y="3090672"/>
            <a:ext cx="310896" cy="310896"/>
          </a:xfrm>
          <a:prstGeom prst="rect">
            <a:avLst/>
          </a:prstGeom>
        </p:spPr>
      </p:pic>
      <p:sp>
        <p:nvSpPr>
          <p:cNvPr id="8" name="kart"/>
          <p:cNvSpPr/>
          <p:nvPr/>
        </p:nvSpPr>
        <p:spPr>
          <a:xfrm>
            <a:off x="548640" y="3474720"/>
            <a:ext cx="11094415" cy="1600200"/>
          </a:xfrm>
          <a:prstGeom prst="roundRect">
            <a:avLst>
              <a:gd name="adj" fmla="val 4571"/>
            </a:avLst>
          </a:prstGeom>
          <a:solidFill>
            <a:schemeClr val="accent2">
              <a:alpha val="18000"/>
            </a:schemeClr>
          </a:solidFill>
          <a:ln/>
        </p:spPr>
      </p:sp>
      <p:sp>
        <p:nvSpPr>
          <p:cNvPr id="9" name="Text 5"/>
          <p:cNvSpPr txBox="1"/>
          <p:nvPr/>
        </p:nvSpPr>
        <p:spPr>
          <a:xfrm>
            <a:off x="868680" y="3566160"/>
            <a:ext cx="10454335" cy="1417320"/>
          </a:xfrm>
          <a:prstGeom prst="rect">
            <a:avLst/>
          </a:prstGeom>
          <a:noFill/>
          <a:ln/>
        </p:spPr>
        <p:txBody>
          <a:bodyPr wrap="square" lIns="0" tIns="0" rIns="0" bIns="0" rtlCol="0" anchor="ctr"/>
          <a:lstStyle/>
          <a:p>
            <a:pPr indent="0" marL="0">
              <a:spcAft>
                <a:spcPts val="400"/>
              </a:spcAft>
              <a:buNone/>
            </a:pPr>
            <a:r>
              <a:rPr lang="en-US" sz="1300" b="1" spc="200" kern="0" dirty="0">
                <a:solidFill>
                  <a:schemeClr val="accent3"/>
                </a:solidFill>
              </a:rPr>
              <a:t>JAVA CV</a:t>
            </a:r>
            <a:endParaRPr lang="en-US" sz="1300" dirty="0"/>
          </a:p>
          <a:p>
            <a:pPr indent="0" marL="0">
              <a:spcAft>
                <a:spcPts val="400"/>
              </a:spcAft>
              <a:buNone/>
            </a:pPr>
            <a:r>
              <a:rPr lang="en-US" sz="1600" dirty="0">
                <a:solidFill>
                  <a:schemeClr val="tx1"/>
                </a:solidFill>
              </a:rPr>
              <a:t>"</a:t>
            </a:r>
            <a:pPr indent="0" marL="0">
              <a:spcAft>
                <a:spcPts val="400"/>
              </a:spcAft>
              <a:buNone/>
            </a:pPr>
            <a:r>
              <a:rPr lang="en-US" sz="1600" b="1" dirty="0">
                <a:solidFill>
                  <a:schemeClr val="tx2"/>
                </a:solidFill>
              </a:rPr>
              <a:t>PostgreSQL</a:t>
            </a:r>
            <a:pPr indent="0" marL="0">
              <a:spcAft>
                <a:spcPts val="400"/>
              </a:spcAft>
              <a:buNone/>
            </a:pPr>
            <a:r>
              <a:rPr lang="en-US" sz="1600" dirty="0">
                <a:solidFill>
                  <a:schemeClr val="tx1"/>
                </a:solidFill>
              </a:rPr>
              <a:t> üzerinde Wt::Dbo </a:t>
            </a:r>
            <a:pPr indent="0" marL="0">
              <a:spcAft>
                <a:spcPts val="400"/>
              </a:spcAft>
              <a:buNone/>
            </a:pPr>
            <a:r>
              <a:rPr lang="en-US" sz="1600" b="1" dirty="0">
                <a:solidFill>
                  <a:schemeClr val="tx2"/>
                </a:solidFill>
              </a:rPr>
              <a:t>ORM</a:t>
            </a:r>
            <a:pPr indent="0" marL="0">
              <a:spcAft>
                <a:spcPts val="400"/>
              </a:spcAft>
              <a:buNone/>
            </a:pPr>
            <a:r>
              <a:rPr lang="en-US" sz="1600" dirty="0">
                <a:solidFill>
                  <a:schemeClr val="tx1"/>
                </a:solidFill>
              </a:rPr>
              <a:t> kütüphanesi, </a:t>
            </a:r>
            <a:pPr indent="0" marL="0">
              <a:spcAft>
                <a:spcPts val="400"/>
              </a:spcAft>
              <a:buNone/>
            </a:pPr>
            <a:r>
              <a:rPr lang="en-US" sz="1600" b="1" dirty="0">
                <a:solidFill>
                  <a:schemeClr val="tx2"/>
                </a:solidFill>
              </a:rPr>
              <a:t>ilişkisel veri modelleme</a:t>
            </a:r>
            <a:pPr indent="0" marL="0">
              <a:spcAft>
                <a:spcPts val="400"/>
              </a:spcAft>
              <a:buNone/>
            </a:pPr>
            <a:r>
              <a:rPr lang="en-US" sz="1600" dirty="0">
                <a:solidFill>
                  <a:schemeClr val="tx1"/>
                </a:solidFill>
              </a:rPr>
              <a:t> ve Protobuf veri serileştirme entegrasyonu ile </a:t>
            </a:r>
            <a:pPr indent="0" marL="0">
              <a:spcAft>
                <a:spcPts val="400"/>
              </a:spcAft>
              <a:buNone/>
            </a:pPr>
            <a:r>
              <a:rPr lang="en-US" sz="1600" b="1" dirty="0">
                <a:solidFill>
                  <a:schemeClr val="tx2"/>
                </a:solidFill>
              </a:rPr>
              <a:t>nesne yönelimli</a:t>
            </a:r>
            <a:pPr indent="0" marL="0">
              <a:spcAft>
                <a:spcPts val="400"/>
              </a:spcAft>
              <a:buNone/>
            </a:pPr>
            <a:r>
              <a:rPr lang="en-US" sz="1600" dirty="0">
                <a:solidFill>
                  <a:schemeClr val="tx1"/>
                </a:solidFill>
              </a:rPr>
              <a:t> veri kalıcılık katmanı tasarladım. Temel </a:t>
            </a:r>
            <a:pPr indent="0" marL="0">
              <a:spcAft>
                <a:spcPts val="400"/>
              </a:spcAft>
              <a:buNone/>
            </a:pPr>
            <a:r>
              <a:rPr lang="en-US" sz="1600" b="1" dirty="0">
                <a:solidFill>
                  <a:schemeClr val="tx2"/>
                </a:solidFill>
              </a:rPr>
              <a:t>tasarım kalıplarını</a:t>
            </a:r>
            <a:pPr indent="0" marL="0">
              <a:spcAft>
                <a:spcPts val="400"/>
              </a:spcAft>
              <a:buNone/>
            </a:pPr>
            <a:r>
              <a:rPr lang="en-US" sz="1600" dirty="0">
                <a:solidFill>
                  <a:schemeClr val="tx1"/>
                </a:solidFill>
              </a:rPr>
              <a:t> uyguladım."</a:t>
            </a:r>
            <a:endParaRPr lang="en-US" sz="1300" dirty="0"/>
          </a:p>
        </p:txBody>
      </p:sp>
      <p:sp>
        <p:nvSpPr>
          <p:cNvPr id="10" name="ana-mesaj"/>
          <p:cNvSpPr/>
          <p:nvPr/>
        </p:nvSpPr>
        <p:spPr>
          <a:xfrm>
            <a:off x="548640" y="5349240"/>
            <a:ext cx="11094415" cy="685800"/>
          </a:xfrm>
          <a:prstGeom prst="roundRect">
            <a:avLst>
              <a:gd name="adj" fmla="val 10667"/>
            </a:avLst>
          </a:prstGeom>
          <a:solidFill>
            <a:schemeClr val="accent1"/>
          </a:solidFill>
          <a:ln/>
        </p:spPr>
      </p:sp>
      <p:sp>
        <p:nvSpPr>
          <p:cNvPr id="11" name="Text 7"/>
          <p:cNvSpPr txBox="1"/>
          <p:nvPr/>
        </p:nvSpPr>
        <p:spPr>
          <a:xfrm>
            <a:off x="868680" y="5349240"/>
            <a:ext cx="10454335" cy="685800"/>
          </a:xfrm>
          <a:prstGeom prst="rect">
            <a:avLst/>
          </a:prstGeom>
          <a:noFill/>
          <a:ln/>
        </p:spPr>
        <p:txBody>
          <a:bodyPr wrap="square" lIns="0" tIns="0" rIns="0" bIns="0" rtlCol="0" anchor="ctr"/>
          <a:lstStyle/>
          <a:p>
            <a:pPr indent="0" marL="0">
              <a:buNone/>
            </a:pPr>
            <a:r>
              <a:rPr lang="en-US" sz="1800" b="1" dirty="0">
                <a:solidFill>
                  <a:schemeClr val="bg1"/>
                </a:solidFill>
              </a:rPr>
              <a:t>Yalan yok, vurgu var: hedef alanla ilişkili kavram maddenin başına alınır.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01 · CV VE ATS</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LLM ile Madde İyileştirme</a:t>
            </a:r>
            <a:endParaRPr lang="en-US" sz="3400" dirty="0"/>
          </a:p>
        </p:txBody>
      </p:sp>
      <p:sp>
        <p:nvSpPr>
          <p:cNvPr id="5" name="ikon-daire"/>
          <p:cNvSpPr/>
          <p:nvPr/>
        </p:nvSpPr>
        <p:spPr>
          <a:xfrm>
            <a:off x="548640" y="1920240"/>
            <a:ext cx="566928" cy="566928"/>
          </a:xfrm>
          <a:prstGeom prst="ellipse">
            <a:avLst/>
          </a:prstGeom>
          <a:solidFill>
            <a:schemeClr val="accent1"/>
          </a:solidFill>
          <a:ln/>
        </p:spPr>
      </p:sp>
      <p:pic>
        <p:nvPicPr>
          <p:cNvPr id="6" name="ikon" descr="preencoded.png">    </p:cNvPr>
          <p:cNvPicPr>
            <a:picLocks noChangeAspect="1"/>
          </p:cNvPicPr>
          <p:nvPr/>
        </p:nvPicPr>
        <p:blipFill>
          <a:blip r:embed="rId1"/>
          <a:stretch>
            <a:fillRect/>
          </a:stretch>
        </p:blipFill>
        <p:spPr>
          <a:xfrm>
            <a:off x="690372" y="2061972"/>
            <a:ext cx="283464" cy="283464"/>
          </a:xfrm>
          <a:prstGeom prst="rect">
            <a:avLst/>
          </a:prstGeom>
        </p:spPr>
      </p:pic>
      <p:sp>
        <p:nvSpPr>
          <p:cNvPr id="7" name="Text 3"/>
          <p:cNvSpPr txBox="1"/>
          <p:nvPr/>
        </p:nvSpPr>
        <p:spPr>
          <a:xfrm>
            <a:off x="1344168" y="1874520"/>
            <a:ext cx="322783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Boşluk analizi</a:t>
            </a:r>
            <a:endParaRPr lang="en-US" sz="1800" dirty="0"/>
          </a:p>
          <a:p>
            <a:pPr indent="0" marL="0">
              <a:spcAft>
                <a:spcPts val="200"/>
              </a:spcAft>
              <a:buNone/>
            </a:pPr>
            <a:r>
              <a:rPr lang="en-US" sz="1500" dirty="0">
                <a:solidFill>
                  <a:schemeClr val="tx1"/>
                </a:solidFill>
              </a:rPr>
              <a:t>İlanda olup CV'de olmayanı bul</a:t>
            </a:r>
            <a:endParaRPr lang="en-US" sz="1800" dirty="0"/>
          </a:p>
        </p:txBody>
      </p:sp>
      <p:sp>
        <p:nvSpPr>
          <p:cNvPr id="8" name="ikon-daire"/>
          <p:cNvSpPr/>
          <p:nvPr/>
        </p:nvSpPr>
        <p:spPr>
          <a:xfrm>
            <a:off x="548640" y="3154680"/>
            <a:ext cx="566928" cy="566928"/>
          </a:xfrm>
          <a:prstGeom prst="ellipse">
            <a:avLst/>
          </a:prstGeom>
          <a:solidFill>
            <a:schemeClr val="accent1"/>
          </a:solidFill>
          <a:ln/>
        </p:spPr>
      </p:sp>
      <p:pic>
        <p:nvPicPr>
          <p:cNvPr id="9" name="ikon" descr="preencoded.png">    </p:cNvPr>
          <p:cNvPicPr>
            <a:picLocks noChangeAspect="1"/>
          </p:cNvPicPr>
          <p:nvPr/>
        </p:nvPicPr>
        <p:blipFill>
          <a:blip r:embed="rId2"/>
          <a:stretch>
            <a:fillRect/>
          </a:stretch>
        </p:blipFill>
        <p:spPr>
          <a:xfrm>
            <a:off x="690372" y="3296412"/>
            <a:ext cx="283464" cy="283464"/>
          </a:xfrm>
          <a:prstGeom prst="rect">
            <a:avLst/>
          </a:prstGeom>
        </p:spPr>
      </p:pic>
      <p:sp>
        <p:nvSpPr>
          <p:cNvPr id="10" name="Text 5"/>
          <p:cNvSpPr txBox="1"/>
          <p:nvPr/>
        </p:nvSpPr>
        <p:spPr>
          <a:xfrm>
            <a:off x="1344168" y="3108960"/>
            <a:ext cx="322783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Biçim</a:t>
            </a:r>
            <a:endParaRPr lang="en-US" sz="1800" dirty="0"/>
          </a:p>
          <a:p>
            <a:pPr indent="0" marL="0">
              <a:spcAft>
                <a:spcPts val="200"/>
              </a:spcAft>
              <a:buNone/>
            </a:pPr>
            <a:r>
              <a:rPr lang="en-US" sz="1500" dirty="0">
                <a:solidFill>
                  <a:schemeClr val="tx1"/>
                </a:solidFill>
              </a:rPr>
              <a:t>Aktif fiil + iş + sonuç</a:t>
            </a:r>
            <a:endParaRPr lang="en-US" sz="1800" dirty="0"/>
          </a:p>
        </p:txBody>
      </p:sp>
      <p:sp>
        <p:nvSpPr>
          <p:cNvPr id="11" name="ikon-daire"/>
          <p:cNvSpPr/>
          <p:nvPr/>
        </p:nvSpPr>
        <p:spPr>
          <a:xfrm>
            <a:off x="548640" y="4389120"/>
            <a:ext cx="566928" cy="566928"/>
          </a:xfrm>
          <a:prstGeom prst="ellipse">
            <a:avLst/>
          </a:prstGeom>
          <a:solidFill>
            <a:schemeClr val="accent4"/>
          </a:solidFill>
          <a:ln/>
        </p:spPr>
      </p:sp>
      <p:pic>
        <p:nvPicPr>
          <p:cNvPr id="12" name="ikon" descr="preencoded.png">    </p:cNvPr>
          <p:cNvPicPr>
            <a:picLocks noChangeAspect="1"/>
          </p:cNvPicPr>
          <p:nvPr/>
        </p:nvPicPr>
        <p:blipFill>
          <a:blip r:embed="rId3"/>
          <a:stretch>
            <a:fillRect/>
          </a:stretch>
        </p:blipFill>
        <p:spPr>
          <a:xfrm>
            <a:off x="690372" y="4530852"/>
            <a:ext cx="283464" cy="283464"/>
          </a:xfrm>
          <a:prstGeom prst="rect">
            <a:avLst/>
          </a:prstGeom>
        </p:spPr>
      </p:pic>
      <p:sp>
        <p:nvSpPr>
          <p:cNvPr id="13" name="Text 7"/>
          <p:cNvSpPr txBox="1"/>
          <p:nvPr/>
        </p:nvSpPr>
        <p:spPr>
          <a:xfrm>
            <a:off x="1344168" y="4343400"/>
            <a:ext cx="322783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Halüsinasyon freni</a:t>
            </a:r>
            <a:endParaRPr lang="en-US" sz="1800" dirty="0"/>
          </a:p>
          <a:p>
            <a:pPr indent="0" marL="0">
              <a:spcAft>
                <a:spcPts val="200"/>
              </a:spcAft>
              <a:buNone/>
            </a:pPr>
            <a:r>
              <a:rPr lang="en-US" sz="1500" dirty="0">
                <a:solidFill>
                  <a:schemeClr val="tx1"/>
                </a:solidFill>
              </a:rPr>
              <a:t>Olmayan bilgiyi ekletme</a:t>
            </a:r>
            <a:endParaRPr lang="en-US" sz="1800" dirty="0"/>
          </a:p>
        </p:txBody>
      </p:sp>
      <p:sp>
        <p:nvSpPr>
          <p:cNvPr id="14" name="kod-kutusu"/>
          <p:cNvSpPr/>
          <p:nvPr/>
        </p:nvSpPr>
        <p:spPr>
          <a:xfrm>
            <a:off x="4846320" y="1737360"/>
            <a:ext cx="6796735" cy="3429000"/>
          </a:xfrm>
          <a:prstGeom prst="roundRect">
            <a:avLst>
              <a:gd name="adj" fmla="val 2133"/>
            </a:avLst>
          </a:prstGeom>
          <a:solidFill>
            <a:schemeClr val="tx2"/>
          </a:solidFill>
          <a:ln/>
        </p:spPr>
      </p:sp>
      <p:sp>
        <p:nvSpPr>
          <p:cNvPr id="15" name="Text 9"/>
          <p:cNvSpPr txBox="1"/>
          <p:nvPr/>
        </p:nvSpPr>
        <p:spPr>
          <a:xfrm>
            <a:off x="5120640" y="1965960"/>
            <a:ext cx="6248095" cy="2971800"/>
          </a:xfrm>
          <a:prstGeom prst="rect">
            <a:avLst/>
          </a:prstGeom>
          <a:noFill/>
          <a:ln/>
        </p:spPr>
        <p:txBody>
          <a:bodyPr wrap="square" lIns="0" tIns="0" rIns="0" bIns="0" rtlCol="0" anchor="t"/>
          <a:lstStyle/>
          <a:p>
            <a:pPr indent="0" marL="0">
              <a:buNone/>
            </a:pPr>
            <a:r>
              <a:rPr lang="en-US" sz="1600" dirty="0">
                <a:solidFill>
                  <a:schemeClr val="bg1"/>
                </a:solidFill>
                <a:latin typeface="Courier New" pitchFamily="34" charset="0"/>
                <a:ea typeface="Courier New" pitchFamily="34" charset="-122"/>
                <a:cs typeface="Courier New" pitchFamily="34" charset="-120"/>
              </a:rPr>
              <a:t>Aşağıdaki ilan metnini ve CV</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maddemi karşılaştır.</a:t>
            </a:r>
            <a:endParaRPr lang="en-US" sz="1600" dirty="0"/>
          </a:p>
          <a:p>
            <a:pPr indent="0" marL="0">
              <a:buNone/>
            </a:pP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1) İlanda geçen ama CV'mde olmayan</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kavramları listele.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2) Maddeyi "aktif fiil + iş + sonuç"</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biçiminde yeniden yaz.</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3) CV'mde olmayan hiçbir deneyim,</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sayı veya teknoloji ekleme.</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Emin değilsen bana soru sor.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Problem: Tek CV Her İlana Uymaz</a:t>
            </a:r>
            <a:endParaRPr lang="en-US" sz="3400" dirty="0"/>
          </a:p>
        </p:txBody>
      </p:sp>
      <p:sp>
        <p:nvSpPr>
          <p:cNvPr id="5" name="Text 2"/>
          <p:cNvSpPr txBox="1"/>
          <p:nvPr/>
        </p:nvSpPr>
        <p:spPr>
          <a:xfrm>
            <a:off x="548640" y="1645920"/>
            <a:ext cx="1005840" cy="1371600"/>
          </a:xfrm>
          <a:prstGeom prst="rect">
            <a:avLst/>
          </a:prstGeom>
          <a:noFill/>
          <a:ln/>
        </p:spPr>
        <p:txBody>
          <a:bodyPr wrap="square" lIns="0" tIns="0" rIns="0" bIns="0" rtlCol="0" anchor="t"/>
          <a:lstStyle/>
          <a:p>
            <a:pPr algn="ctr" indent="0" marL="0">
              <a:buNone/>
            </a:pPr>
            <a:r>
              <a:rPr lang="en-US" sz="5400" b="1" dirty="0">
                <a:solidFill>
                  <a:schemeClr val="accent3"/>
                </a:solidFill>
                <a:latin typeface="Cambria" pitchFamily="34" charset="0"/>
                <a:ea typeface="Cambria" pitchFamily="34" charset="-122"/>
                <a:cs typeface="Cambria" pitchFamily="34" charset="-120"/>
              </a:rPr>
              <a:t>4</a:t>
            </a:r>
            <a:endParaRPr lang="en-US" sz="5400" dirty="0"/>
          </a:p>
          <a:p>
            <a:pPr algn="ctr" indent="0" marL="0">
              <a:buNone/>
            </a:pPr>
            <a:r>
              <a:rPr lang="en-US" sz="1600" dirty="0">
                <a:solidFill>
                  <a:schemeClr val="tx1"/>
                </a:solidFill>
              </a:rPr>
              <a:t>alan</a:t>
            </a:r>
            <a:endParaRPr lang="en-US" sz="5400" dirty="0"/>
          </a:p>
        </p:txBody>
      </p:sp>
      <p:sp>
        <p:nvSpPr>
          <p:cNvPr id="6" name="Text 3"/>
          <p:cNvSpPr txBox="1"/>
          <p:nvPr/>
        </p:nvSpPr>
        <p:spPr>
          <a:xfrm>
            <a:off x="1554480" y="1691640"/>
            <a:ext cx="640080" cy="82296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7" name="Text 4"/>
          <p:cNvSpPr txBox="1"/>
          <p:nvPr/>
        </p:nvSpPr>
        <p:spPr>
          <a:xfrm>
            <a:off x="2194560" y="1645920"/>
            <a:ext cx="1005840" cy="1371600"/>
          </a:xfrm>
          <a:prstGeom prst="rect">
            <a:avLst/>
          </a:prstGeom>
          <a:noFill/>
          <a:ln/>
        </p:spPr>
        <p:txBody>
          <a:bodyPr wrap="square" lIns="0" tIns="0" rIns="0" bIns="0" rtlCol="0" anchor="t"/>
          <a:lstStyle/>
          <a:p>
            <a:pPr algn="ctr" indent="0" marL="0">
              <a:buNone/>
            </a:pPr>
            <a:r>
              <a:rPr lang="en-US" sz="5400" b="1" dirty="0">
                <a:solidFill>
                  <a:schemeClr val="accent3"/>
                </a:solidFill>
                <a:latin typeface="Cambria" pitchFamily="34" charset="0"/>
                <a:ea typeface="Cambria" pitchFamily="34" charset="-122"/>
                <a:cs typeface="Cambria" pitchFamily="34" charset="-120"/>
              </a:rPr>
              <a:t>2</a:t>
            </a:r>
            <a:endParaRPr lang="en-US" sz="5400" dirty="0"/>
          </a:p>
          <a:p>
            <a:pPr algn="ctr" indent="0" marL="0">
              <a:buNone/>
            </a:pPr>
            <a:r>
              <a:rPr lang="en-US" sz="1600" dirty="0">
                <a:solidFill>
                  <a:schemeClr val="tx1"/>
                </a:solidFill>
              </a:rPr>
              <a:t>dil</a:t>
            </a:r>
            <a:endParaRPr lang="en-US" sz="5400" dirty="0"/>
          </a:p>
        </p:txBody>
      </p:sp>
      <p:sp>
        <p:nvSpPr>
          <p:cNvPr id="8" name="Text 5"/>
          <p:cNvSpPr txBox="1"/>
          <p:nvPr/>
        </p:nvSpPr>
        <p:spPr>
          <a:xfrm>
            <a:off x="3200400" y="1691640"/>
            <a:ext cx="640080" cy="82296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9" name="Text 6"/>
          <p:cNvSpPr txBox="1"/>
          <p:nvPr/>
        </p:nvSpPr>
        <p:spPr>
          <a:xfrm>
            <a:off x="3840480" y="1645920"/>
            <a:ext cx="1737360" cy="1371600"/>
          </a:xfrm>
          <a:prstGeom prst="rect">
            <a:avLst/>
          </a:prstGeom>
          <a:noFill/>
          <a:ln/>
        </p:spPr>
        <p:txBody>
          <a:bodyPr wrap="square" lIns="0" tIns="0" rIns="0" bIns="0" rtlCol="0" anchor="t"/>
          <a:lstStyle/>
          <a:p>
            <a:pPr algn="ctr" indent="0" marL="0">
              <a:buNone/>
            </a:pPr>
            <a:r>
              <a:rPr lang="en-US" sz="5400" b="1" dirty="0">
                <a:solidFill>
                  <a:schemeClr val="accent3"/>
                </a:solidFill>
                <a:latin typeface="Cambria" pitchFamily="34" charset="0"/>
                <a:ea typeface="Cambria" pitchFamily="34" charset="-122"/>
                <a:cs typeface="Cambria" pitchFamily="34" charset="-120"/>
              </a:rPr>
              <a:t>64</a:t>
            </a:r>
            <a:endParaRPr lang="en-US" sz="5400" dirty="0"/>
          </a:p>
          <a:p>
            <a:pPr algn="ctr" indent="0" marL="0">
              <a:buNone/>
            </a:pPr>
            <a:r>
              <a:rPr lang="en-US" sz="1600" dirty="0">
                <a:solidFill>
                  <a:schemeClr val="tx1"/>
                </a:solidFill>
              </a:rPr>
              <a:t>ilan paketi</a:t>
            </a:r>
            <a:endParaRPr lang="en-US" sz="5400" dirty="0"/>
          </a:p>
        </p:txBody>
      </p:sp>
      <p:sp>
        <p:nvSpPr>
          <p:cNvPr id="10" name="Text 7"/>
          <p:cNvSpPr txBox="1"/>
          <p:nvPr/>
        </p:nvSpPr>
        <p:spPr>
          <a:xfrm>
            <a:off x="5577840" y="1691640"/>
            <a:ext cx="640080" cy="822960"/>
          </a:xfrm>
          <a:prstGeom prst="rect">
            <a:avLst/>
          </a:prstGeom>
          <a:noFill/>
          <a:ln/>
        </p:spPr>
        <p:txBody>
          <a:bodyPr wrap="square" lIns="0" tIns="0" rIns="0" bIns="0" rtlCol="0" anchor="ctr"/>
          <a:lstStyle/>
          <a:p>
            <a:pPr algn="ctr" indent="0" marL="0">
              <a:buNone/>
            </a:pPr>
            <a:r>
              <a:rPr lang="en-US" sz="3600" b="1" dirty="0">
                <a:solidFill>
                  <a:schemeClr val="accent2"/>
                </a:solidFill>
              </a:rPr>
              <a:t>=</a:t>
            </a:r>
            <a:endParaRPr lang="en-US" sz="3600" dirty="0"/>
          </a:p>
        </p:txBody>
      </p:sp>
      <p:sp>
        <p:nvSpPr>
          <p:cNvPr id="11" name="Text 8"/>
          <p:cNvSpPr txBox="1"/>
          <p:nvPr/>
        </p:nvSpPr>
        <p:spPr>
          <a:xfrm>
            <a:off x="6217920" y="1691640"/>
            <a:ext cx="3657600" cy="822960"/>
          </a:xfrm>
          <a:prstGeom prst="rect">
            <a:avLst/>
          </a:prstGeom>
          <a:noFill/>
          <a:ln/>
        </p:spPr>
        <p:txBody>
          <a:bodyPr wrap="square" lIns="0" tIns="0" rIns="0" bIns="0" rtlCol="0" anchor="ctr"/>
          <a:lstStyle/>
          <a:p>
            <a:pPr indent="0" marL="0">
              <a:buNone/>
            </a:pPr>
            <a:r>
              <a:rPr lang="en-US" sz="3000" b="1" dirty="0">
                <a:solidFill>
                  <a:schemeClr val="tx2"/>
                </a:solidFill>
              </a:rPr>
              <a:t>onlarca dosya</a:t>
            </a:r>
            <a:endParaRPr lang="en-US" sz="3000" dirty="0"/>
          </a:p>
        </p:txBody>
      </p:sp>
      <p:sp>
        <p:nvSpPr>
          <p:cNvPr id="12" name="ikon-daire"/>
          <p:cNvSpPr/>
          <p:nvPr/>
        </p:nvSpPr>
        <p:spPr>
          <a:xfrm>
            <a:off x="548640" y="3200400"/>
            <a:ext cx="457200" cy="457200"/>
          </a:xfrm>
          <a:prstGeom prst="ellipse">
            <a:avLst/>
          </a:prstGeom>
          <a:solidFill>
            <a:schemeClr val="accent2"/>
          </a:solidFill>
          <a:ln/>
        </p:spPr>
      </p:sp>
      <p:pic>
        <p:nvPicPr>
          <p:cNvPr id="13" name="ikon" descr="preencoded.png">    </p:cNvPr>
          <p:cNvPicPr>
            <a:picLocks noChangeAspect="1"/>
          </p:cNvPicPr>
          <p:nvPr/>
        </p:nvPicPr>
        <p:blipFill>
          <a:blip r:embed="rId1"/>
          <a:stretch>
            <a:fillRect/>
          </a:stretch>
        </p:blipFill>
        <p:spPr>
          <a:xfrm>
            <a:off x="662940" y="3314700"/>
            <a:ext cx="228600" cy="228600"/>
          </a:xfrm>
          <a:prstGeom prst="rect">
            <a:avLst/>
          </a:prstGeom>
        </p:spPr>
      </p:pic>
      <p:sp>
        <p:nvSpPr>
          <p:cNvPr id="14" name="Text 10"/>
          <p:cNvSpPr txBox="1"/>
          <p:nvPr/>
        </p:nvSpPr>
        <p:spPr>
          <a:xfrm>
            <a:off x="1234440" y="3154680"/>
            <a:ext cx="10408615" cy="54864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Hangi sürüm güncel?</a:t>
            </a:r>
            <a:endParaRPr lang="en-US" sz="1800" dirty="0"/>
          </a:p>
        </p:txBody>
      </p:sp>
      <p:sp>
        <p:nvSpPr>
          <p:cNvPr id="15" name="ikon-daire"/>
          <p:cNvSpPr/>
          <p:nvPr/>
        </p:nvSpPr>
        <p:spPr>
          <a:xfrm>
            <a:off x="548640" y="3886200"/>
            <a:ext cx="457200" cy="457200"/>
          </a:xfrm>
          <a:prstGeom prst="ellipse">
            <a:avLst/>
          </a:prstGeom>
          <a:solidFill>
            <a:schemeClr val="accent2"/>
          </a:solidFill>
          <a:ln/>
        </p:spPr>
      </p:sp>
      <p:pic>
        <p:nvPicPr>
          <p:cNvPr id="16" name="ikon" descr="preencoded.png">    </p:cNvPr>
          <p:cNvPicPr>
            <a:picLocks noChangeAspect="1"/>
          </p:cNvPicPr>
          <p:nvPr/>
        </p:nvPicPr>
        <p:blipFill>
          <a:blip r:embed="rId2"/>
          <a:stretch>
            <a:fillRect/>
          </a:stretch>
        </p:blipFill>
        <p:spPr>
          <a:xfrm>
            <a:off x="662940" y="4000500"/>
            <a:ext cx="228600" cy="228600"/>
          </a:xfrm>
          <a:prstGeom prst="rect">
            <a:avLst/>
          </a:prstGeom>
        </p:spPr>
      </p:pic>
      <p:sp>
        <p:nvSpPr>
          <p:cNvPr id="17" name="Text 12"/>
          <p:cNvSpPr txBox="1"/>
          <p:nvPr/>
        </p:nvSpPr>
        <p:spPr>
          <a:xfrm>
            <a:off x="1234440" y="3840480"/>
            <a:ext cx="10408615" cy="54864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Yeni proje hangi CV'lere girdi?</a:t>
            </a:r>
            <a:endParaRPr lang="en-US" sz="1800" dirty="0"/>
          </a:p>
        </p:txBody>
      </p:sp>
      <p:sp>
        <p:nvSpPr>
          <p:cNvPr id="18" name="ikon-daire"/>
          <p:cNvSpPr/>
          <p:nvPr/>
        </p:nvSpPr>
        <p:spPr>
          <a:xfrm>
            <a:off x="548640" y="4572000"/>
            <a:ext cx="457200" cy="457200"/>
          </a:xfrm>
          <a:prstGeom prst="ellipse">
            <a:avLst/>
          </a:prstGeom>
          <a:solidFill>
            <a:schemeClr val="accent2"/>
          </a:solidFill>
          <a:ln/>
        </p:spPr>
      </p:sp>
      <p:pic>
        <p:nvPicPr>
          <p:cNvPr id="19" name="ikon" descr="preencoded.png">    </p:cNvPr>
          <p:cNvPicPr>
            <a:picLocks noChangeAspect="1"/>
          </p:cNvPicPr>
          <p:nvPr/>
        </p:nvPicPr>
        <p:blipFill>
          <a:blip r:embed="rId3"/>
          <a:stretch>
            <a:fillRect/>
          </a:stretch>
        </p:blipFill>
        <p:spPr>
          <a:xfrm>
            <a:off x="662940" y="4686300"/>
            <a:ext cx="228600" cy="228600"/>
          </a:xfrm>
          <a:prstGeom prst="rect">
            <a:avLst/>
          </a:prstGeom>
        </p:spPr>
      </p:pic>
      <p:sp>
        <p:nvSpPr>
          <p:cNvPr id="20" name="Text 14"/>
          <p:cNvSpPr txBox="1"/>
          <p:nvPr/>
        </p:nvSpPr>
        <p:spPr>
          <a:xfrm>
            <a:off x="1234440" y="4526280"/>
            <a:ext cx="10408615" cy="54864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Türkçe ve İngilizce sürümler tutarlı mı?</a:t>
            </a:r>
            <a:endParaRPr lang="en-US" sz="1800" dirty="0"/>
          </a:p>
        </p:txBody>
      </p:sp>
      <p:sp>
        <p:nvSpPr>
          <p:cNvPr id="21" name="ana-mesaj"/>
          <p:cNvSpPr/>
          <p:nvPr/>
        </p:nvSpPr>
        <p:spPr>
          <a:xfrm>
            <a:off x="548640" y="5349240"/>
            <a:ext cx="11094415" cy="731520"/>
          </a:xfrm>
          <a:prstGeom prst="roundRect">
            <a:avLst>
              <a:gd name="adj" fmla="val 10000"/>
            </a:avLst>
          </a:prstGeom>
          <a:solidFill>
            <a:schemeClr val="accent1"/>
          </a:solidFill>
          <a:ln/>
        </p:spPr>
      </p:sp>
      <p:sp>
        <p:nvSpPr>
          <p:cNvPr id="22" name="Text 16"/>
          <p:cNvSpPr txBox="1"/>
          <p:nvPr/>
        </p:nvSpPr>
        <p:spPr>
          <a:xfrm>
            <a:off x="868680" y="5349240"/>
            <a:ext cx="10454335" cy="731520"/>
          </a:xfrm>
          <a:prstGeom prst="rect">
            <a:avLst/>
          </a:prstGeom>
          <a:noFill/>
          <a:ln/>
        </p:spPr>
        <p:txBody>
          <a:bodyPr wrap="square" lIns="0" tIns="0" rIns="0" bIns="0" rtlCol="0" anchor="ctr"/>
          <a:lstStyle/>
          <a:p>
            <a:pPr indent="0" marL="0">
              <a:buNone/>
            </a:pPr>
            <a:r>
              <a:rPr lang="en-US" sz="1800" b="1" dirty="0">
                <a:solidFill>
                  <a:schemeClr val="bg1"/>
                </a:solidFill>
              </a:rPr>
              <a:t>Çözüm: tek doğruluk kaynağı + derleme + sürüm kontrolü + ajan otomasyonu</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Mimari: Tek Kaynaktan Onlarca CV</a:t>
            </a:r>
            <a:endParaRPr lang="en-US" sz="3400" dirty="0"/>
          </a:p>
        </p:txBody>
      </p:sp>
      <p:sp>
        <p:nvSpPr>
          <p:cNvPr id="5" name="kart"/>
          <p:cNvSpPr/>
          <p:nvPr/>
        </p:nvSpPr>
        <p:spPr>
          <a:xfrm>
            <a:off x="548640" y="1783080"/>
            <a:ext cx="1883664" cy="1417320"/>
          </a:xfrm>
          <a:prstGeom prst="roundRect">
            <a:avLst>
              <a:gd name="adj" fmla="val 5161"/>
            </a:avLst>
          </a:prstGeom>
          <a:solidFill>
            <a:schemeClr val="bg2"/>
          </a:solidFill>
          <a:ln/>
        </p:spPr>
      </p:sp>
      <p:sp>
        <p:nvSpPr>
          <p:cNvPr id="6" name="Text 3"/>
          <p:cNvSpPr txBox="1"/>
          <p:nvPr/>
        </p:nvSpPr>
        <p:spPr>
          <a:xfrm>
            <a:off x="658368" y="1783080"/>
            <a:ext cx="1664208" cy="1417320"/>
          </a:xfrm>
          <a:prstGeom prst="rect">
            <a:avLst/>
          </a:prstGeom>
          <a:noFill/>
          <a:ln/>
        </p:spPr>
        <p:txBody>
          <a:bodyPr wrap="square" lIns="0" tIns="0" rIns="0" bIns="0" rtlCol="0" anchor="ctr"/>
          <a:lstStyle/>
          <a:p>
            <a:pPr algn="ctr" indent="0" marL="0">
              <a:spcAft>
                <a:spcPts val="400"/>
              </a:spcAft>
              <a:buNone/>
            </a:pPr>
            <a:r>
              <a:rPr lang="en-US" sz="1200" b="1" dirty="0">
                <a:solidFill>
                  <a:schemeClr val="tx2"/>
                </a:solidFill>
                <a:latin typeface="Courier New" pitchFamily="34" charset="0"/>
                <a:ea typeface="Courier New" pitchFamily="34" charset="-122"/>
                <a:cs typeface="Courier New" pitchFamily="34" charset="-120"/>
              </a:rPr>
              <a:t>info/*.yml</a:t>
            </a:r>
            <a:endParaRPr lang="en-US" sz="1200" dirty="0"/>
          </a:p>
          <a:p>
            <a:pPr algn="ctr" indent="0" marL="0">
              <a:spcAft>
                <a:spcPts val="400"/>
              </a:spcAft>
              <a:buNone/>
            </a:pPr>
            <a:r>
              <a:rPr lang="en-US" sz="1300" dirty="0">
                <a:solidFill>
                  <a:schemeClr val="tx1"/>
                </a:solidFill>
              </a:rPr>
              <a:t>Tek doğruluk kaynağı</a:t>
            </a:r>
            <a:endParaRPr lang="en-US" sz="1200" dirty="0"/>
          </a:p>
        </p:txBody>
      </p:sp>
      <p:pic>
        <p:nvPicPr>
          <p:cNvPr id="7" name="Image 0" descr="preencoded.png">    </p:cNvPr>
          <p:cNvPicPr>
            <a:picLocks noChangeAspect="1"/>
          </p:cNvPicPr>
          <p:nvPr/>
        </p:nvPicPr>
        <p:blipFill>
          <a:blip r:embed="rId1"/>
          <a:stretch>
            <a:fillRect/>
          </a:stretch>
        </p:blipFill>
        <p:spPr>
          <a:xfrm>
            <a:off x="2522944" y="2377440"/>
            <a:ext cx="237744" cy="237744"/>
          </a:xfrm>
          <a:prstGeom prst="rect">
            <a:avLst/>
          </a:prstGeom>
        </p:spPr>
      </p:pic>
      <p:sp>
        <p:nvSpPr>
          <p:cNvPr id="8" name="kart"/>
          <p:cNvSpPr/>
          <p:nvPr/>
        </p:nvSpPr>
        <p:spPr>
          <a:xfrm>
            <a:off x="2851328" y="1783080"/>
            <a:ext cx="1883664" cy="1417320"/>
          </a:xfrm>
          <a:prstGeom prst="roundRect">
            <a:avLst>
              <a:gd name="adj" fmla="val 5161"/>
            </a:avLst>
          </a:prstGeom>
          <a:solidFill>
            <a:schemeClr val="bg2"/>
          </a:solidFill>
          <a:ln/>
        </p:spPr>
      </p:sp>
      <p:sp>
        <p:nvSpPr>
          <p:cNvPr id="9" name="Text 5"/>
          <p:cNvSpPr txBox="1"/>
          <p:nvPr/>
        </p:nvSpPr>
        <p:spPr>
          <a:xfrm>
            <a:off x="2961056" y="1783080"/>
            <a:ext cx="1664208" cy="1417320"/>
          </a:xfrm>
          <a:prstGeom prst="rect">
            <a:avLst/>
          </a:prstGeom>
          <a:noFill/>
          <a:ln/>
        </p:spPr>
        <p:txBody>
          <a:bodyPr wrap="square" lIns="0" tIns="0" rIns="0" bIns="0" rtlCol="0" anchor="ctr"/>
          <a:lstStyle/>
          <a:p>
            <a:pPr algn="ctr" indent="0" marL="0">
              <a:spcAft>
                <a:spcPts val="400"/>
              </a:spcAft>
              <a:buNone/>
            </a:pPr>
            <a:r>
              <a:rPr lang="en-US" sz="1200" b="1" dirty="0">
                <a:solidFill>
                  <a:schemeClr val="tx2"/>
                </a:solidFill>
                <a:latin typeface="Courier New" pitchFamily="34" charset="0"/>
                <a:ea typeface="Courier New" pitchFamily="34" charset="-122"/>
                <a:cs typeface="Courier New" pitchFamily="34" charset="-120"/>
              </a:rPr>
              <a:t>genel_cvler/</a:t>
            </a:r>
            <a:endParaRPr lang="en-US" sz="1200" dirty="0"/>
          </a:p>
          <a:p>
            <a:pPr algn="ctr" indent="0" marL="0">
              <a:spcAft>
                <a:spcPts val="400"/>
              </a:spcAft>
              <a:buNone/>
            </a:pPr>
            <a:r>
              <a:rPr lang="en-US" sz="1300" dirty="0">
                <a:solidFill>
                  <a:schemeClr val="tx1"/>
                </a:solidFill>
              </a:rPr>
              <a:t>java · llm · ml · mlops</a:t>
            </a:r>
            <a:endParaRPr lang="en-US" sz="1200" dirty="0"/>
          </a:p>
        </p:txBody>
      </p:sp>
      <p:pic>
        <p:nvPicPr>
          <p:cNvPr id="10" name="Image 1" descr="preencoded.png">    </p:cNvPr>
          <p:cNvPicPr>
            <a:picLocks noChangeAspect="1"/>
          </p:cNvPicPr>
          <p:nvPr/>
        </p:nvPicPr>
        <p:blipFill>
          <a:blip r:embed="rId2"/>
          <a:stretch>
            <a:fillRect/>
          </a:stretch>
        </p:blipFill>
        <p:spPr>
          <a:xfrm>
            <a:off x="4825632" y="2377440"/>
            <a:ext cx="237744" cy="237744"/>
          </a:xfrm>
          <a:prstGeom prst="rect">
            <a:avLst/>
          </a:prstGeom>
        </p:spPr>
      </p:pic>
      <p:sp>
        <p:nvSpPr>
          <p:cNvPr id="11" name="kart"/>
          <p:cNvSpPr/>
          <p:nvPr/>
        </p:nvSpPr>
        <p:spPr>
          <a:xfrm>
            <a:off x="5154016" y="1783080"/>
            <a:ext cx="1883664" cy="1417320"/>
          </a:xfrm>
          <a:prstGeom prst="roundRect">
            <a:avLst>
              <a:gd name="adj" fmla="val 5161"/>
            </a:avLst>
          </a:prstGeom>
          <a:solidFill>
            <a:schemeClr val="bg2"/>
          </a:solidFill>
          <a:ln/>
        </p:spPr>
      </p:sp>
      <p:sp>
        <p:nvSpPr>
          <p:cNvPr id="12" name="Text 7"/>
          <p:cNvSpPr txBox="1"/>
          <p:nvPr/>
        </p:nvSpPr>
        <p:spPr>
          <a:xfrm>
            <a:off x="5263744" y="1783080"/>
            <a:ext cx="1664208" cy="1417320"/>
          </a:xfrm>
          <a:prstGeom prst="rect">
            <a:avLst/>
          </a:prstGeom>
          <a:noFill/>
          <a:ln/>
        </p:spPr>
        <p:txBody>
          <a:bodyPr wrap="square" lIns="0" tIns="0" rIns="0" bIns="0" rtlCol="0" anchor="ctr"/>
          <a:lstStyle/>
          <a:p>
            <a:pPr algn="ctr" indent="0" marL="0">
              <a:spcAft>
                <a:spcPts val="400"/>
              </a:spcAft>
              <a:buNone/>
            </a:pPr>
            <a:r>
              <a:rPr lang="en-US" sz="1200" b="1" dirty="0">
                <a:solidFill>
                  <a:schemeClr val="tx2"/>
                </a:solidFill>
                <a:latin typeface="Courier New" pitchFamily="34" charset="0"/>
                <a:ea typeface="Courier New" pitchFamily="34" charset="-122"/>
                <a:cs typeface="Courier New" pitchFamily="34" charset="-120"/>
              </a:rPr>
              <a:t>ilana_ozel_cvler/</a:t>
            </a:r>
            <a:endParaRPr lang="en-US" sz="1200" dirty="0"/>
          </a:p>
          <a:p>
            <a:pPr algn="ctr" indent="0" marL="0">
              <a:spcAft>
                <a:spcPts val="400"/>
              </a:spcAft>
              <a:buNone/>
            </a:pPr>
            <a:r>
              <a:rPr lang="en-US" sz="1300" dirty="0">
                <a:solidFill>
                  <a:schemeClr val="tx1"/>
                </a:solidFill>
              </a:rPr>
              <a:t>şirket_pozisyon paketleri</a:t>
            </a:r>
            <a:endParaRPr lang="en-US" sz="1200" dirty="0"/>
          </a:p>
        </p:txBody>
      </p:sp>
      <p:pic>
        <p:nvPicPr>
          <p:cNvPr id="13" name="Image 2" descr="preencoded.png">    </p:cNvPr>
          <p:cNvPicPr>
            <a:picLocks noChangeAspect="1"/>
          </p:cNvPicPr>
          <p:nvPr/>
        </p:nvPicPr>
        <p:blipFill>
          <a:blip r:embed="rId3"/>
          <a:stretch>
            <a:fillRect/>
          </a:stretch>
        </p:blipFill>
        <p:spPr>
          <a:xfrm>
            <a:off x="7128320" y="2377440"/>
            <a:ext cx="237744" cy="237744"/>
          </a:xfrm>
          <a:prstGeom prst="rect">
            <a:avLst/>
          </a:prstGeom>
        </p:spPr>
      </p:pic>
      <p:sp>
        <p:nvSpPr>
          <p:cNvPr id="14" name="kart"/>
          <p:cNvSpPr/>
          <p:nvPr/>
        </p:nvSpPr>
        <p:spPr>
          <a:xfrm>
            <a:off x="7456703" y="1783080"/>
            <a:ext cx="1883664" cy="1417320"/>
          </a:xfrm>
          <a:prstGeom prst="roundRect">
            <a:avLst>
              <a:gd name="adj" fmla="val 5161"/>
            </a:avLst>
          </a:prstGeom>
          <a:solidFill>
            <a:schemeClr val="bg2"/>
          </a:solidFill>
          <a:ln/>
        </p:spPr>
      </p:sp>
      <p:sp>
        <p:nvSpPr>
          <p:cNvPr id="15" name="Text 9"/>
          <p:cNvSpPr txBox="1"/>
          <p:nvPr/>
        </p:nvSpPr>
        <p:spPr>
          <a:xfrm>
            <a:off x="7566431" y="1783080"/>
            <a:ext cx="1664208" cy="1417320"/>
          </a:xfrm>
          <a:prstGeom prst="rect">
            <a:avLst/>
          </a:prstGeom>
          <a:noFill/>
          <a:ln/>
        </p:spPr>
        <p:txBody>
          <a:bodyPr wrap="square" lIns="0" tIns="0" rIns="0" bIns="0" rtlCol="0" anchor="ctr"/>
          <a:lstStyle/>
          <a:p>
            <a:pPr algn="ctr" indent="0" marL="0">
              <a:spcAft>
                <a:spcPts val="400"/>
              </a:spcAft>
              <a:buNone/>
            </a:pPr>
            <a:r>
              <a:rPr lang="en-US" sz="1200" b="1" dirty="0">
                <a:solidFill>
                  <a:schemeClr val="tx2"/>
                </a:solidFill>
                <a:latin typeface="Courier New" pitchFamily="34" charset="0"/>
                <a:ea typeface="Courier New" pitchFamily="34" charset="-122"/>
                <a:cs typeface="Courier New" pitchFamily="34" charset="-120"/>
              </a:rPr>
              <a:t>build.sh</a:t>
            </a:r>
            <a:endParaRPr lang="en-US" sz="1200" dirty="0"/>
          </a:p>
          <a:p>
            <a:pPr algn="ctr" indent="0" marL="0">
              <a:spcAft>
                <a:spcPts val="400"/>
              </a:spcAft>
              <a:buNone/>
            </a:pPr>
            <a:r>
              <a:rPr lang="en-US" sz="1300" dirty="0">
                <a:solidFill>
                  <a:schemeClr val="tx1"/>
                </a:solidFill>
              </a:rPr>
              <a:t>LaTeX + Docker pdflatex</a:t>
            </a:r>
            <a:endParaRPr lang="en-US" sz="1200" dirty="0"/>
          </a:p>
        </p:txBody>
      </p:sp>
      <p:pic>
        <p:nvPicPr>
          <p:cNvPr id="16" name="Image 3" descr="preencoded.png">    </p:cNvPr>
          <p:cNvPicPr>
            <a:picLocks noChangeAspect="1"/>
          </p:cNvPicPr>
          <p:nvPr/>
        </p:nvPicPr>
        <p:blipFill>
          <a:blip r:embed="rId4"/>
          <a:stretch>
            <a:fillRect/>
          </a:stretch>
        </p:blipFill>
        <p:spPr>
          <a:xfrm>
            <a:off x="9431007" y="2377440"/>
            <a:ext cx="237744" cy="237744"/>
          </a:xfrm>
          <a:prstGeom prst="rect">
            <a:avLst/>
          </a:prstGeom>
        </p:spPr>
      </p:pic>
      <p:sp>
        <p:nvSpPr>
          <p:cNvPr id="17" name="kart"/>
          <p:cNvSpPr/>
          <p:nvPr/>
        </p:nvSpPr>
        <p:spPr>
          <a:xfrm>
            <a:off x="9759391" y="1783080"/>
            <a:ext cx="1883664" cy="1417320"/>
          </a:xfrm>
          <a:prstGeom prst="roundRect">
            <a:avLst>
              <a:gd name="adj" fmla="val 5161"/>
            </a:avLst>
          </a:prstGeom>
          <a:solidFill>
            <a:schemeClr val="accent1"/>
          </a:solidFill>
          <a:ln/>
        </p:spPr>
      </p:sp>
      <p:sp>
        <p:nvSpPr>
          <p:cNvPr id="18" name="Text 11"/>
          <p:cNvSpPr txBox="1"/>
          <p:nvPr/>
        </p:nvSpPr>
        <p:spPr>
          <a:xfrm>
            <a:off x="9869119" y="1783080"/>
            <a:ext cx="1664208" cy="1417320"/>
          </a:xfrm>
          <a:prstGeom prst="rect">
            <a:avLst/>
          </a:prstGeom>
          <a:noFill/>
          <a:ln/>
        </p:spPr>
        <p:txBody>
          <a:bodyPr wrap="square" lIns="0" tIns="0" rIns="0" bIns="0" rtlCol="0" anchor="ctr"/>
          <a:lstStyle/>
          <a:p>
            <a:pPr algn="ctr" indent="0" marL="0">
              <a:spcAft>
                <a:spcPts val="400"/>
              </a:spcAft>
              <a:buNone/>
            </a:pPr>
            <a:r>
              <a:rPr lang="en-US" sz="1200" b="1" dirty="0">
                <a:solidFill>
                  <a:schemeClr val="bg1"/>
                </a:solidFill>
                <a:latin typeface="Courier New" pitchFamily="34" charset="0"/>
                <a:ea typeface="Courier New" pitchFamily="34" charset="-122"/>
                <a:cs typeface="Courier New" pitchFamily="34" charset="-120"/>
              </a:rPr>
              <a:t>TR / EN PDF</a:t>
            </a:r>
            <a:endParaRPr lang="en-US" sz="1200" dirty="0"/>
          </a:p>
          <a:p>
            <a:pPr algn="ctr" indent="0" marL="0">
              <a:spcAft>
                <a:spcPts val="400"/>
              </a:spcAft>
              <a:buNone/>
            </a:pPr>
            <a:r>
              <a:rPr lang="en-US" sz="1300" dirty="0">
                <a:solidFill>
                  <a:schemeClr val="bg2"/>
                </a:solidFill>
              </a:rPr>
              <a:t>ATS uyumlu çıktı</a:t>
            </a:r>
            <a:endParaRPr lang="en-US" sz="1200" dirty="0"/>
          </a:p>
        </p:txBody>
      </p:sp>
      <p:sp>
        <p:nvSpPr>
          <p:cNvPr id="19" name="kart"/>
          <p:cNvSpPr/>
          <p:nvPr/>
        </p:nvSpPr>
        <p:spPr>
          <a:xfrm>
            <a:off x="548640" y="3429000"/>
            <a:ext cx="11094415" cy="548640"/>
          </a:xfrm>
          <a:prstGeom prst="roundRect">
            <a:avLst>
              <a:gd name="adj" fmla="val 13333"/>
            </a:avLst>
          </a:prstGeom>
          <a:solidFill>
            <a:schemeClr val="accent2">
              <a:alpha val="18000"/>
            </a:schemeClr>
          </a:solidFill>
          <a:ln/>
        </p:spPr>
      </p:sp>
      <p:sp>
        <p:nvSpPr>
          <p:cNvPr id="20" name="Text 13"/>
          <p:cNvSpPr txBox="1"/>
          <p:nvPr/>
        </p:nvSpPr>
        <p:spPr>
          <a:xfrm>
            <a:off x="548640" y="3429000"/>
            <a:ext cx="11094415" cy="548640"/>
          </a:xfrm>
          <a:prstGeom prst="rect">
            <a:avLst/>
          </a:prstGeom>
          <a:noFill/>
          <a:ln/>
        </p:spPr>
        <p:txBody>
          <a:bodyPr wrap="square" lIns="0" tIns="0" rIns="0" bIns="0" rtlCol="0" anchor="ctr"/>
          <a:lstStyle/>
          <a:p>
            <a:pPr algn="ctr" indent="0" marL="0">
              <a:buNone/>
            </a:pPr>
            <a:r>
              <a:rPr lang="en-US" sz="1600" b="1" dirty="0">
                <a:solidFill>
                  <a:schemeClr val="tx2"/>
                </a:solidFill>
              </a:rPr>
              <a:t>Git ile sürümlenir · AGENTS.md ve RULES.md kurallarıyla ajan yönetir</a:t>
            </a:r>
            <a:endParaRPr lang="en-US" sz="1600" dirty="0"/>
          </a:p>
        </p:txBody>
      </p:sp>
      <p:sp>
        <p:nvSpPr>
          <p:cNvPr id="21" name="Text 14"/>
          <p:cNvSpPr txBox="1"/>
          <p:nvPr/>
        </p:nvSpPr>
        <p:spPr>
          <a:xfrm>
            <a:off x="548640" y="4297680"/>
            <a:ext cx="2773604" cy="146304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71</a:t>
            </a:r>
            <a:endParaRPr lang="en-US" sz="4800" dirty="0"/>
          </a:p>
          <a:p>
            <a:pPr algn="ctr" indent="0" marL="0">
              <a:buNone/>
            </a:pPr>
            <a:r>
              <a:rPr lang="en-US" sz="1600" dirty="0">
                <a:solidFill>
                  <a:schemeClr val="tx1"/>
                </a:solidFill>
              </a:rPr>
              <a:t>proje kaydı</a:t>
            </a:r>
            <a:endParaRPr lang="en-US" sz="4800" dirty="0"/>
          </a:p>
        </p:txBody>
      </p:sp>
      <p:sp>
        <p:nvSpPr>
          <p:cNvPr id="22" name="Text 15"/>
          <p:cNvSpPr txBox="1"/>
          <p:nvPr/>
        </p:nvSpPr>
        <p:spPr>
          <a:xfrm>
            <a:off x="3322244" y="4297680"/>
            <a:ext cx="2773604" cy="146304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4</a:t>
            </a:r>
            <a:endParaRPr lang="en-US" sz="4800" dirty="0"/>
          </a:p>
          <a:p>
            <a:pPr algn="ctr" indent="0" marL="0">
              <a:buNone/>
            </a:pPr>
            <a:r>
              <a:rPr lang="en-US" sz="1600" dirty="0">
                <a:solidFill>
                  <a:schemeClr val="tx1"/>
                </a:solidFill>
              </a:rPr>
              <a:t>alan CV'si</a:t>
            </a:r>
            <a:endParaRPr lang="en-US" sz="4800" dirty="0"/>
          </a:p>
        </p:txBody>
      </p:sp>
      <p:sp>
        <p:nvSpPr>
          <p:cNvPr id="23" name="Text 16"/>
          <p:cNvSpPr txBox="1"/>
          <p:nvPr/>
        </p:nvSpPr>
        <p:spPr>
          <a:xfrm>
            <a:off x="6095848" y="4297680"/>
            <a:ext cx="2773604" cy="146304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64</a:t>
            </a:r>
            <a:endParaRPr lang="en-US" sz="4800" dirty="0"/>
          </a:p>
          <a:p>
            <a:pPr algn="ctr" indent="0" marL="0">
              <a:buNone/>
            </a:pPr>
            <a:r>
              <a:rPr lang="en-US" sz="1600" dirty="0">
                <a:solidFill>
                  <a:schemeClr val="tx1"/>
                </a:solidFill>
              </a:rPr>
              <a:t>ilan paketi</a:t>
            </a:r>
            <a:endParaRPr lang="en-US" sz="4800" dirty="0"/>
          </a:p>
        </p:txBody>
      </p:sp>
      <p:sp>
        <p:nvSpPr>
          <p:cNvPr id="24" name="Text 17"/>
          <p:cNvSpPr txBox="1"/>
          <p:nvPr/>
        </p:nvSpPr>
        <p:spPr>
          <a:xfrm>
            <a:off x="8869451" y="4297680"/>
            <a:ext cx="2773604" cy="1463040"/>
          </a:xfrm>
          <a:prstGeom prst="rect">
            <a:avLst/>
          </a:prstGeom>
          <a:noFill/>
          <a:ln/>
        </p:spPr>
        <p:txBody>
          <a:bodyPr wrap="square" lIns="0" tIns="0" rIns="0" bIns="0" rtlCol="0" anchor="t"/>
          <a:lstStyle/>
          <a:p>
            <a:pPr algn="ctr" indent="0" marL="0">
              <a:buNone/>
            </a:pPr>
            <a:r>
              <a:rPr lang="en-US" sz="4800" b="1" dirty="0">
                <a:solidFill>
                  <a:schemeClr val="accent3"/>
                </a:solidFill>
                <a:latin typeface="Cambria" pitchFamily="34" charset="0"/>
                <a:ea typeface="Cambria" pitchFamily="34" charset="-122"/>
                <a:cs typeface="Cambria" pitchFamily="34" charset="-120"/>
              </a:rPr>
              <a:t>76</a:t>
            </a:r>
            <a:endParaRPr lang="en-US" sz="4800" dirty="0"/>
          </a:p>
          <a:p>
            <a:pPr algn="ctr" indent="0" marL="0">
              <a:buNone/>
            </a:pPr>
            <a:r>
              <a:rPr lang="en-US" sz="1600" dirty="0">
                <a:solidFill>
                  <a:schemeClr val="tx1"/>
                </a:solidFill>
              </a:rPr>
              <a:t>commit</a:t>
            </a:r>
            <a:endParaRPr lang="en-US" sz="4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Tek Doğruluk Kaynağı: projects.yml</a:t>
            </a:r>
            <a:endParaRPr lang="en-US" sz="3400" dirty="0"/>
          </a:p>
        </p:txBody>
      </p:sp>
      <p:sp>
        <p:nvSpPr>
          <p:cNvPr id="5" name="kod-kutusu"/>
          <p:cNvSpPr/>
          <p:nvPr/>
        </p:nvSpPr>
        <p:spPr>
          <a:xfrm>
            <a:off x="548640" y="1691640"/>
            <a:ext cx="6675120" cy="3749040"/>
          </a:xfrm>
          <a:prstGeom prst="roundRect">
            <a:avLst>
              <a:gd name="adj" fmla="val 1951"/>
            </a:avLst>
          </a:prstGeom>
          <a:solidFill>
            <a:schemeClr val="tx2"/>
          </a:solidFill>
          <a:ln/>
        </p:spPr>
      </p:sp>
      <p:sp>
        <p:nvSpPr>
          <p:cNvPr id="6" name="Text 3"/>
          <p:cNvSpPr txBox="1"/>
          <p:nvPr/>
        </p:nvSpPr>
        <p:spPr>
          <a:xfrm>
            <a:off x="822960" y="1920240"/>
            <a:ext cx="6126480" cy="32918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 id: agentic-dynamic-memory-router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name: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en: Agentic Dynamic Memory Router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tr: Ajan Dinamik Bellek</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Yönlendiricisi</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category: llm_ai</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tags: [python, ai-agents,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context-window]</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dates: Jul 2026 -- Aug 2026</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featured: true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cv_section: featured_llm</a:t>
            </a:r>
            <a:endParaRPr lang="en-US" sz="1500" dirty="0"/>
          </a:p>
        </p:txBody>
      </p:sp>
      <p:sp>
        <p:nvSpPr>
          <p:cNvPr id="7" name="ikon-daire"/>
          <p:cNvSpPr/>
          <p:nvPr/>
        </p:nvSpPr>
        <p:spPr>
          <a:xfrm>
            <a:off x="7589520" y="1874520"/>
            <a:ext cx="566928" cy="566928"/>
          </a:xfrm>
          <a:prstGeom prst="ellipse">
            <a:avLst/>
          </a:prstGeom>
          <a:solidFill>
            <a:schemeClr val="accent1"/>
          </a:solidFill>
          <a:ln/>
        </p:spPr>
      </p:sp>
      <p:pic>
        <p:nvPicPr>
          <p:cNvPr id="8" name="ikon" descr="preencoded.png">    </p:cNvPr>
          <p:cNvPicPr>
            <a:picLocks noChangeAspect="1"/>
          </p:cNvPicPr>
          <p:nvPr/>
        </p:nvPicPr>
        <p:blipFill>
          <a:blip r:embed="rId1"/>
          <a:stretch>
            <a:fillRect/>
          </a:stretch>
        </p:blipFill>
        <p:spPr>
          <a:xfrm>
            <a:off x="7731252" y="2016252"/>
            <a:ext cx="283464" cy="283464"/>
          </a:xfrm>
          <a:prstGeom prst="rect">
            <a:avLst/>
          </a:prstGeom>
        </p:spPr>
      </p:pic>
      <p:sp>
        <p:nvSpPr>
          <p:cNvPr id="9" name="Text 5"/>
          <p:cNvSpPr txBox="1"/>
          <p:nvPr/>
        </p:nvSpPr>
        <p:spPr>
          <a:xfrm>
            <a:off x="8385048" y="1828800"/>
            <a:ext cx="3258007" cy="10972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İki dil tek kayıtta</a:t>
            </a:r>
            <a:endParaRPr lang="en-US" sz="1800" dirty="0"/>
          </a:p>
          <a:p>
            <a:pPr indent="0" marL="0">
              <a:spcAft>
                <a:spcPts val="200"/>
              </a:spcAft>
              <a:buNone/>
            </a:pPr>
            <a:r>
              <a:rPr lang="en-US" sz="1500" dirty="0">
                <a:solidFill>
                  <a:schemeClr val="tx1"/>
                </a:solidFill>
              </a:rPr>
              <a:t>TR ve EN birbirinden kopmaz</a:t>
            </a:r>
            <a:endParaRPr lang="en-US" sz="1800" dirty="0"/>
          </a:p>
        </p:txBody>
      </p:sp>
      <p:sp>
        <p:nvSpPr>
          <p:cNvPr id="10" name="ikon-daire"/>
          <p:cNvSpPr/>
          <p:nvPr/>
        </p:nvSpPr>
        <p:spPr>
          <a:xfrm>
            <a:off x="7589520" y="3246120"/>
            <a:ext cx="566928" cy="566928"/>
          </a:xfrm>
          <a:prstGeom prst="ellipse">
            <a:avLst/>
          </a:prstGeom>
          <a:solidFill>
            <a:schemeClr val="accent1"/>
          </a:solidFill>
          <a:ln/>
        </p:spPr>
      </p:sp>
      <p:pic>
        <p:nvPicPr>
          <p:cNvPr id="11" name="ikon" descr="preencoded.png">    </p:cNvPr>
          <p:cNvPicPr>
            <a:picLocks noChangeAspect="1"/>
          </p:cNvPicPr>
          <p:nvPr/>
        </p:nvPicPr>
        <p:blipFill>
          <a:blip r:embed="rId2"/>
          <a:stretch>
            <a:fillRect/>
          </a:stretch>
        </p:blipFill>
        <p:spPr>
          <a:xfrm>
            <a:off x="7731252" y="3387852"/>
            <a:ext cx="283464" cy="283464"/>
          </a:xfrm>
          <a:prstGeom prst="rect">
            <a:avLst/>
          </a:prstGeom>
        </p:spPr>
      </p:pic>
      <p:sp>
        <p:nvSpPr>
          <p:cNvPr id="12" name="Text 7"/>
          <p:cNvSpPr txBox="1"/>
          <p:nvPr/>
        </p:nvSpPr>
        <p:spPr>
          <a:xfrm>
            <a:off x="8385048" y="3200400"/>
            <a:ext cx="3258007" cy="10972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Tarih = commit aralığı</a:t>
            </a:r>
            <a:endParaRPr lang="en-US" sz="1800" dirty="0"/>
          </a:p>
          <a:p>
            <a:pPr indent="0" marL="0">
              <a:spcAft>
                <a:spcPts val="200"/>
              </a:spcAft>
              <a:buNone/>
            </a:pPr>
            <a:r>
              <a:rPr lang="en-US" sz="1500" dirty="0">
                <a:solidFill>
                  <a:schemeClr val="tx1"/>
                </a:solidFill>
              </a:rPr>
              <a:t>Reponun ilk ve son commit'i</a:t>
            </a:r>
            <a:endParaRPr lang="en-US" sz="1800" dirty="0"/>
          </a:p>
        </p:txBody>
      </p:sp>
      <p:sp>
        <p:nvSpPr>
          <p:cNvPr id="13" name="ikon-daire"/>
          <p:cNvSpPr/>
          <p:nvPr/>
        </p:nvSpPr>
        <p:spPr>
          <a:xfrm>
            <a:off x="7589520" y="4617720"/>
            <a:ext cx="566928" cy="566928"/>
          </a:xfrm>
          <a:prstGeom prst="ellipse">
            <a:avLst/>
          </a:prstGeom>
          <a:solidFill>
            <a:schemeClr val="accent1"/>
          </a:solidFill>
          <a:ln/>
        </p:spPr>
      </p:sp>
      <p:pic>
        <p:nvPicPr>
          <p:cNvPr id="14" name="ikon" descr="preencoded.png">    </p:cNvPr>
          <p:cNvPicPr>
            <a:picLocks noChangeAspect="1"/>
          </p:cNvPicPr>
          <p:nvPr/>
        </p:nvPicPr>
        <p:blipFill>
          <a:blip r:embed="rId3"/>
          <a:stretch>
            <a:fillRect/>
          </a:stretch>
        </p:blipFill>
        <p:spPr>
          <a:xfrm>
            <a:off x="7731252" y="4759452"/>
            <a:ext cx="283464" cy="283464"/>
          </a:xfrm>
          <a:prstGeom prst="rect">
            <a:avLst/>
          </a:prstGeom>
        </p:spPr>
      </p:pic>
      <p:sp>
        <p:nvSpPr>
          <p:cNvPr id="15" name="Text 9"/>
          <p:cNvSpPr txBox="1"/>
          <p:nvPr/>
        </p:nvSpPr>
        <p:spPr>
          <a:xfrm>
            <a:off x="8385048" y="4572000"/>
            <a:ext cx="3258007" cy="10972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Etiketler eşler</a:t>
            </a:r>
            <a:endParaRPr lang="en-US" sz="1800" dirty="0"/>
          </a:p>
          <a:p>
            <a:pPr indent="0" marL="0">
              <a:spcAft>
                <a:spcPts val="200"/>
              </a:spcAft>
              <a:buNone/>
            </a:pPr>
            <a:r>
              <a:rPr lang="en-US" sz="1500" dirty="0">
                <a:solidFill>
                  <a:schemeClr val="tx1"/>
                </a:solidFill>
              </a:rPr>
              <a:t>Hangi alan CV'sine gireceğini belirler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Ajan Kuralları Dosyada Yaşar</a:t>
            </a:r>
            <a:endParaRPr lang="en-US" sz="3400" dirty="0"/>
          </a:p>
        </p:txBody>
      </p:sp>
      <p:sp>
        <p:nvSpPr>
          <p:cNvPr id="5" name="kart"/>
          <p:cNvSpPr/>
          <p:nvPr/>
        </p:nvSpPr>
        <p:spPr>
          <a:xfrm>
            <a:off x="548640" y="1691640"/>
            <a:ext cx="3515258" cy="2011680"/>
          </a:xfrm>
          <a:prstGeom prst="roundRect">
            <a:avLst>
              <a:gd name="adj" fmla="val 3636"/>
            </a:avLst>
          </a:prstGeom>
          <a:solidFill>
            <a:schemeClr val="bg2"/>
          </a:solidFill>
          <a:ln/>
        </p:spPr>
      </p:sp>
      <p:sp>
        <p:nvSpPr>
          <p:cNvPr id="6" name="ikon-daire"/>
          <p:cNvSpPr/>
          <p:nvPr/>
        </p:nvSpPr>
        <p:spPr>
          <a:xfrm>
            <a:off x="822960" y="1965960"/>
            <a:ext cx="548640" cy="548640"/>
          </a:xfrm>
          <a:prstGeom prst="ellipse">
            <a:avLst/>
          </a:prstGeom>
          <a:solidFill>
            <a:schemeClr val="accent1"/>
          </a:solidFill>
          <a:ln/>
        </p:spPr>
      </p:sp>
      <p:pic>
        <p:nvPicPr>
          <p:cNvPr id="7" name="ikon" descr="preencoded.png">    </p:cNvPr>
          <p:cNvPicPr>
            <a:picLocks noChangeAspect="1"/>
          </p:cNvPicPr>
          <p:nvPr/>
        </p:nvPicPr>
        <p:blipFill>
          <a:blip r:embed="rId1"/>
          <a:stretch>
            <a:fillRect/>
          </a:stretch>
        </p:blipFill>
        <p:spPr>
          <a:xfrm>
            <a:off x="960120" y="2103120"/>
            <a:ext cx="274320" cy="274320"/>
          </a:xfrm>
          <a:prstGeom prst="rect">
            <a:avLst/>
          </a:prstGeom>
        </p:spPr>
      </p:pic>
      <p:sp>
        <p:nvSpPr>
          <p:cNvPr id="8" name="Text 4"/>
          <p:cNvSpPr txBox="1"/>
          <p:nvPr/>
        </p:nvSpPr>
        <p:spPr>
          <a:xfrm>
            <a:off x="822960" y="2606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TR + EN eşzamanlı</a:t>
            </a:r>
            <a:endParaRPr lang="en-US" sz="1800" dirty="0"/>
          </a:p>
          <a:p>
            <a:pPr indent="0" marL="0">
              <a:spcAft>
                <a:spcPts val="400"/>
              </a:spcAft>
              <a:buNone/>
            </a:pPr>
            <a:r>
              <a:rPr lang="en-US" sz="1400" dirty="0">
                <a:solidFill>
                  <a:schemeClr val="tx1"/>
                </a:solidFill>
              </a:rPr>
              <a:t>Her değişiklik iki dile anlamca eşit yansır</a:t>
            </a:r>
            <a:endParaRPr lang="en-US" sz="1800" dirty="0"/>
          </a:p>
        </p:txBody>
      </p:sp>
      <p:sp>
        <p:nvSpPr>
          <p:cNvPr id="9" name="kart"/>
          <p:cNvSpPr/>
          <p:nvPr/>
        </p:nvSpPr>
        <p:spPr>
          <a:xfrm>
            <a:off x="4338218" y="1691640"/>
            <a:ext cx="3515258" cy="2011680"/>
          </a:xfrm>
          <a:prstGeom prst="roundRect">
            <a:avLst>
              <a:gd name="adj" fmla="val 3636"/>
            </a:avLst>
          </a:prstGeom>
          <a:solidFill>
            <a:schemeClr val="bg2"/>
          </a:solidFill>
          <a:ln/>
        </p:spPr>
      </p:sp>
      <p:sp>
        <p:nvSpPr>
          <p:cNvPr id="10" name="ikon-daire"/>
          <p:cNvSpPr/>
          <p:nvPr/>
        </p:nvSpPr>
        <p:spPr>
          <a:xfrm>
            <a:off x="4612538" y="1965960"/>
            <a:ext cx="548640" cy="548640"/>
          </a:xfrm>
          <a:prstGeom prst="ellipse">
            <a:avLst/>
          </a:prstGeom>
          <a:solidFill>
            <a:schemeClr val="accent1"/>
          </a:solidFill>
          <a:ln/>
        </p:spPr>
      </p:sp>
      <p:pic>
        <p:nvPicPr>
          <p:cNvPr id="11" name="ikon" descr="preencoded.png">    </p:cNvPr>
          <p:cNvPicPr>
            <a:picLocks noChangeAspect="1"/>
          </p:cNvPicPr>
          <p:nvPr/>
        </p:nvPicPr>
        <p:blipFill>
          <a:blip r:embed="rId2"/>
          <a:stretch>
            <a:fillRect/>
          </a:stretch>
        </p:blipFill>
        <p:spPr>
          <a:xfrm>
            <a:off x="4749698" y="2103120"/>
            <a:ext cx="274320" cy="274320"/>
          </a:xfrm>
          <a:prstGeom prst="rect">
            <a:avLst/>
          </a:prstGeom>
        </p:spPr>
      </p:pic>
      <p:sp>
        <p:nvSpPr>
          <p:cNvPr id="12" name="Text 7"/>
          <p:cNvSpPr txBox="1"/>
          <p:nvPr/>
        </p:nvSpPr>
        <p:spPr>
          <a:xfrm>
            <a:off x="4612538" y="2606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Sıfır halüsinasyon</a:t>
            </a:r>
            <a:endParaRPr lang="en-US" sz="1800" dirty="0"/>
          </a:p>
          <a:p>
            <a:pPr indent="0" marL="0">
              <a:spcAft>
                <a:spcPts val="400"/>
              </a:spcAft>
              <a:buNone/>
            </a:pPr>
            <a:r>
              <a:rPr lang="en-US" sz="1400" dirty="0">
                <a:solidFill>
                  <a:schemeClr val="tx1"/>
                </a:solidFill>
              </a:rPr>
              <a:t>Gerçek olmayan bilgi yok; ilan canlı doğrulanır</a:t>
            </a:r>
            <a:endParaRPr lang="en-US" sz="1800" dirty="0"/>
          </a:p>
        </p:txBody>
      </p:sp>
      <p:sp>
        <p:nvSpPr>
          <p:cNvPr id="13" name="kart"/>
          <p:cNvSpPr/>
          <p:nvPr/>
        </p:nvSpPr>
        <p:spPr>
          <a:xfrm>
            <a:off x="8127797" y="1691640"/>
            <a:ext cx="3515258" cy="2011680"/>
          </a:xfrm>
          <a:prstGeom prst="roundRect">
            <a:avLst>
              <a:gd name="adj" fmla="val 3636"/>
            </a:avLst>
          </a:prstGeom>
          <a:solidFill>
            <a:schemeClr val="bg2"/>
          </a:solidFill>
          <a:ln/>
        </p:spPr>
      </p:sp>
      <p:sp>
        <p:nvSpPr>
          <p:cNvPr id="14" name="ikon-daire"/>
          <p:cNvSpPr/>
          <p:nvPr/>
        </p:nvSpPr>
        <p:spPr>
          <a:xfrm>
            <a:off x="8402117" y="1965960"/>
            <a:ext cx="548640" cy="548640"/>
          </a:xfrm>
          <a:prstGeom prst="ellipse">
            <a:avLst/>
          </a:prstGeom>
          <a:solidFill>
            <a:schemeClr val="accent1"/>
          </a:solidFill>
          <a:ln/>
        </p:spPr>
      </p:sp>
      <p:pic>
        <p:nvPicPr>
          <p:cNvPr id="15" name="ikon" descr="preencoded.png">    </p:cNvPr>
          <p:cNvPicPr>
            <a:picLocks noChangeAspect="1"/>
          </p:cNvPicPr>
          <p:nvPr/>
        </p:nvPicPr>
        <p:blipFill>
          <a:blip r:embed="rId3"/>
          <a:stretch>
            <a:fillRect/>
          </a:stretch>
        </p:blipFill>
        <p:spPr>
          <a:xfrm>
            <a:off x="8539277" y="2103120"/>
            <a:ext cx="274320" cy="274320"/>
          </a:xfrm>
          <a:prstGeom prst="rect">
            <a:avLst/>
          </a:prstGeom>
        </p:spPr>
      </p:pic>
      <p:sp>
        <p:nvSpPr>
          <p:cNvPr id="16" name="Text 10"/>
          <p:cNvSpPr txBox="1"/>
          <p:nvPr/>
        </p:nvSpPr>
        <p:spPr>
          <a:xfrm>
            <a:off x="8402117" y="2606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Onaysız değişiklik yok</a:t>
            </a:r>
            <a:endParaRPr lang="en-US" sz="1800" dirty="0"/>
          </a:p>
          <a:p>
            <a:pPr indent="0" marL="0">
              <a:spcAft>
                <a:spcPts val="400"/>
              </a:spcAft>
              <a:buNone/>
            </a:pPr>
            <a:r>
              <a:rPr lang="en-US" sz="1400" dirty="0">
                <a:solidFill>
                  <a:schemeClr val="tx1"/>
                </a:solidFill>
              </a:rPr>
              <a:t>"Şu anki veri" ile "gerçek veri" kıyaslanır</a:t>
            </a:r>
            <a:endParaRPr lang="en-US" sz="1800" dirty="0"/>
          </a:p>
        </p:txBody>
      </p:sp>
      <p:sp>
        <p:nvSpPr>
          <p:cNvPr id="17" name="kart"/>
          <p:cNvSpPr/>
          <p:nvPr/>
        </p:nvSpPr>
        <p:spPr>
          <a:xfrm>
            <a:off x="548640" y="3977640"/>
            <a:ext cx="3515258" cy="2011680"/>
          </a:xfrm>
          <a:prstGeom prst="roundRect">
            <a:avLst>
              <a:gd name="adj" fmla="val 3636"/>
            </a:avLst>
          </a:prstGeom>
          <a:solidFill>
            <a:schemeClr val="bg2"/>
          </a:solidFill>
          <a:ln/>
        </p:spPr>
      </p:sp>
      <p:sp>
        <p:nvSpPr>
          <p:cNvPr id="18" name="ikon-daire"/>
          <p:cNvSpPr/>
          <p:nvPr/>
        </p:nvSpPr>
        <p:spPr>
          <a:xfrm>
            <a:off x="822960" y="4251960"/>
            <a:ext cx="548640" cy="548640"/>
          </a:xfrm>
          <a:prstGeom prst="ellipse">
            <a:avLst/>
          </a:prstGeom>
          <a:solidFill>
            <a:schemeClr val="accent1"/>
          </a:solidFill>
          <a:ln/>
        </p:spPr>
      </p:sp>
      <p:pic>
        <p:nvPicPr>
          <p:cNvPr id="19" name="ikon" descr="preencoded.png">    </p:cNvPr>
          <p:cNvPicPr>
            <a:picLocks noChangeAspect="1"/>
          </p:cNvPicPr>
          <p:nvPr/>
        </p:nvPicPr>
        <p:blipFill>
          <a:blip r:embed="rId4"/>
          <a:stretch>
            <a:fillRect/>
          </a:stretch>
        </p:blipFill>
        <p:spPr>
          <a:xfrm>
            <a:off x="960120" y="4389120"/>
            <a:ext cx="274320" cy="274320"/>
          </a:xfrm>
          <a:prstGeom prst="rect">
            <a:avLst/>
          </a:prstGeom>
        </p:spPr>
      </p:pic>
      <p:sp>
        <p:nvSpPr>
          <p:cNvPr id="20" name="Text 13"/>
          <p:cNvSpPr txBox="1"/>
          <p:nvPr/>
        </p:nvSpPr>
        <p:spPr>
          <a:xfrm>
            <a:off x="822960" y="4892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Snapshot koruması</a:t>
            </a:r>
            <a:endParaRPr lang="en-US" sz="1800" dirty="0"/>
          </a:p>
          <a:p>
            <a:pPr indent="0" marL="0">
              <a:spcAft>
                <a:spcPts val="400"/>
              </a:spcAft>
              <a:buNone/>
            </a:pPr>
            <a:r>
              <a:rPr lang="en-US" sz="1400" dirty="0">
                <a:solidFill>
                  <a:schemeClr val="tx1"/>
                </a:solidFill>
              </a:rPr>
              <a:t>Başvurulan paket geriye dönük değişmez</a:t>
            </a:r>
            <a:endParaRPr lang="en-US" sz="1800" dirty="0"/>
          </a:p>
        </p:txBody>
      </p:sp>
      <p:sp>
        <p:nvSpPr>
          <p:cNvPr id="21" name="kart"/>
          <p:cNvSpPr/>
          <p:nvPr/>
        </p:nvSpPr>
        <p:spPr>
          <a:xfrm>
            <a:off x="4338218" y="3977640"/>
            <a:ext cx="3515258" cy="2011680"/>
          </a:xfrm>
          <a:prstGeom prst="roundRect">
            <a:avLst>
              <a:gd name="adj" fmla="val 3636"/>
            </a:avLst>
          </a:prstGeom>
          <a:solidFill>
            <a:schemeClr val="bg2"/>
          </a:solidFill>
          <a:ln/>
        </p:spPr>
      </p:sp>
      <p:sp>
        <p:nvSpPr>
          <p:cNvPr id="22" name="ikon-daire"/>
          <p:cNvSpPr/>
          <p:nvPr/>
        </p:nvSpPr>
        <p:spPr>
          <a:xfrm>
            <a:off x="4612538" y="4251960"/>
            <a:ext cx="548640" cy="548640"/>
          </a:xfrm>
          <a:prstGeom prst="ellipse">
            <a:avLst/>
          </a:prstGeom>
          <a:solidFill>
            <a:schemeClr val="accent1"/>
          </a:solidFill>
          <a:ln/>
        </p:spPr>
      </p:sp>
      <p:pic>
        <p:nvPicPr>
          <p:cNvPr id="23" name="ikon" descr="preencoded.png">    </p:cNvPr>
          <p:cNvPicPr>
            <a:picLocks noChangeAspect="1"/>
          </p:cNvPicPr>
          <p:nvPr/>
        </p:nvPicPr>
        <p:blipFill>
          <a:blip r:embed="rId5"/>
          <a:stretch>
            <a:fillRect/>
          </a:stretch>
        </p:blipFill>
        <p:spPr>
          <a:xfrm>
            <a:off x="4749698" y="4389120"/>
            <a:ext cx="274320" cy="274320"/>
          </a:xfrm>
          <a:prstGeom prst="rect">
            <a:avLst/>
          </a:prstGeom>
        </p:spPr>
      </p:pic>
      <p:sp>
        <p:nvSpPr>
          <p:cNvPr id="24" name="Text 16"/>
          <p:cNvSpPr txBox="1"/>
          <p:nvPr/>
        </p:nvSpPr>
        <p:spPr>
          <a:xfrm>
            <a:off x="4612538" y="4892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Kalite kapısı</a:t>
            </a:r>
            <a:endParaRPr lang="en-US" sz="1800" dirty="0"/>
          </a:p>
          <a:p>
            <a:pPr indent="0" marL="0">
              <a:spcAft>
                <a:spcPts val="400"/>
              </a:spcAft>
              <a:buNone/>
            </a:pPr>
            <a:r>
              <a:rPr lang="en-US" sz="1400" dirty="0">
                <a:solidFill>
                  <a:schemeClr val="tx1"/>
                </a:solidFill>
              </a:rPr>
              <a:t>Taşma uyarısı yok, sayfa sayfa görsel kontrol, ATS metin çıkarımı</a:t>
            </a:r>
            <a:endParaRPr lang="en-US" sz="1800" dirty="0"/>
          </a:p>
        </p:txBody>
      </p:sp>
      <p:sp>
        <p:nvSpPr>
          <p:cNvPr id="25" name="kart"/>
          <p:cNvSpPr/>
          <p:nvPr/>
        </p:nvSpPr>
        <p:spPr>
          <a:xfrm>
            <a:off x="8127797" y="3977640"/>
            <a:ext cx="3515258" cy="2011680"/>
          </a:xfrm>
          <a:prstGeom prst="roundRect">
            <a:avLst>
              <a:gd name="adj" fmla="val 3636"/>
            </a:avLst>
          </a:prstGeom>
          <a:solidFill>
            <a:schemeClr val="accent1"/>
          </a:solidFill>
          <a:ln/>
        </p:spPr>
      </p:sp>
      <p:sp>
        <p:nvSpPr>
          <p:cNvPr id="26" name="ikon-daire"/>
          <p:cNvSpPr/>
          <p:nvPr/>
        </p:nvSpPr>
        <p:spPr>
          <a:xfrm>
            <a:off x="8402117" y="4251960"/>
            <a:ext cx="548640" cy="548640"/>
          </a:xfrm>
          <a:prstGeom prst="ellipse">
            <a:avLst/>
          </a:prstGeom>
          <a:solidFill>
            <a:schemeClr val="accent2"/>
          </a:solidFill>
          <a:ln/>
        </p:spPr>
      </p:sp>
      <p:pic>
        <p:nvPicPr>
          <p:cNvPr id="27" name="ikon" descr="preencoded.png">    </p:cNvPr>
          <p:cNvPicPr>
            <a:picLocks noChangeAspect="1"/>
          </p:cNvPicPr>
          <p:nvPr/>
        </p:nvPicPr>
        <p:blipFill>
          <a:blip r:embed="rId6"/>
          <a:stretch>
            <a:fillRect/>
          </a:stretch>
        </p:blipFill>
        <p:spPr>
          <a:xfrm>
            <a:off x="8539277" y="4389120"/>
            <a:ext cx="274320" cy="274320"/>
          </a:xfrm>
          <a:prstGeom prst="rect">
            <a:avLst/>
          </a:prstGeom>
        </p:spPr>
      </p:pic>
      <p:sp>
        <p:nvSpPr>
          <p:cNvPr id="28" name="Text 19"/>
          <p:cNvSpPr txBox="1"/>
          <p:nvPr/>
        </p:nvSpPr>
        <p:spPr>
          <a:xfrm>
            <a:off x="8402117" y="4892040"/>
            <a:ext cx="2966618" cy="100584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Ajandan bağımsız</a:t>
            </a:r>
            <a:endParaRPr lang="en-US" sz="1800" dirty="0"/>
          </a:p>
          <a:p>
            <a:pPr indent="0" marL="0">
              <a:spcAft>
                <a:spcPts val="400"/>
              </a:spcAft>
              <a:buNone/>
            </a:pPr>
            <a:r>
              <a:rPr lang="en-US" sz="1400" dirty="0">
                <a:solidFill>
                  <a:schemeClr val="bg2"/>
                </a:solidFill>
              </a:rPr>
              <a:t>AGENTS.md'yi Claude Code, Codex ve Gemini okur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İş Akışları: Tek Cümleyle Tetiklenir</a:t>
            </a:r>
            <a:endParaRPr lang="en-US" sz="3400" dirty="0"/>
          </a:p>
        </p:txBody>
      </p:sp>
      <p:sp>
        <p:nvSpPr>
          <p:cNvPr id="5" name="komut"/>
          <p:cNvSpPr/>
          <p:nvPr/>
        </p:nvSpPr>
        <p:spPr>
          <a:xfrm>
            <a:off x="548640" y="1691640"/>
            <a:ext cx="3977640" cy="713232"/>
          </a:xfrm>
          <a:prstGeom prst="roundRect">
            <a:avLst>
              <a:gd name="adj" fmla="val 10256"/>
            </a:avLst>
          </a:prstGeom>
          <a:solidFill>
            <a:schemeClr val="bg2"/>
          </a:solidFill>
          <a:ln/>
        </p:spPr>
      </p:sp>
      <p:sp>
        <p:nvSpPr>
          <p:cNvPr id="6" name="Text 3"/>
          <p:cNvSpPr txBox="1"/>
          <p:nvPr/>
        </p:nvSpPr>
        <p:spPr>
          <a:xfrm>
            <a:off x="731520" y="1691640"/>
            <a:ext cx="3657600" cy="713232"/>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hesapları senkronize et</a:t>
            </a:r>
            <a:endParaRPr lang="en-US" sz="1400" dirty="0"/>
          </a:p>
        </p:txBody>
      </p:sp>
      <p:sp>
        <p:nvSpPr>
          <p:cNvPr id="7" name="Text 4"/>
          <p:cNvSpPr txBox="1"/>
          <p:nvPr/>
        </p:nvSpPr>
        <p:spPr>
          <a:xfrm>
            <a:off x="4800600" y="1691640"/>
            <a:ext cx="6842455" cy="713232"/>
          </a:xfrm>
          <a:prstGeom prst="rect">
            <a:avLst/>
          </a:prstGeom>
          <a:noFill/>
          <a:ln/>
        </p:spPr>
        <p:txBody>
          <a:bodyPr wrap="square" lIns="0" tIns="0" rIns="0" bIns="0" rtlCol="0" anchor="ctr"/>
          <a:lstStyle/>
          <a:p>
            <a:pPr indent="0" marL="0">
              <a:buNone/>
            </a:pPr>
            <a:r>
              <a:rPr lang="en-US" sz="1500" dirty="0">
                <a:solidFill>
                  <a:schemeClr val="tx1"/>
                </a:solidFill>
              </a:rPr>
              <a:t>fetch_latest_data.py GitHub, Hugging Face, Medium, ORCID ve LinkedIn verisini çeker; ajan kıyaslar, madde madde onay ister</a:t>
            </a:r>
            <a:endParaRPr lang="en-US" sz="1500" dirty="0"/>
          </a:p>
        </p:txBody>
      </p:sp>
      <p:sp>
        <p:nvSpPr>
          <p:cNvPr id="8" name="komut"/>
          <p:cNvSpPr/>
          <p:nvPr/>
        </p:nvSpPr>
        <p:spPr>
          <a:xfrm>
            <a:off x="548640" y="2578608"/>
            <a:ext cx="3977640" cy="713232"/>
          </a:xfrm>
          <a:prstGeom prst="roundRect">
            <a:avLst>
              <a:gd name="adj" fmla="val 10256"/>
            </a:avLst>
          </a:prstGeom>
          <a:solidFill>
            <a:schemeClr val="bg2"/>
          </a:solidFill>
          <a:ln/>
        </p:spPr>
      </p:sp>
      <p:sp>
        <p:nvSpPr>
          <p:cNvPr id="9" name="Text 6"/>
          <p:cNvSpPr txBox="1"/>
          <p:nvPr/>
        </p:nvSpPr>
        <p:spPr>
          <a:xfrm>
            <a:off x="731520" y="2578608"/>
            <a:ext cx="3657600" cy="713232"/>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cvleri senkronize et</a:t>
            </a:r>
            <a:endParaRPr lang="en-US" sz="1400" dirty="0"/>
          </a:p>
        </p:txBody>
      </p:sp>
      <p:sp>
        <p:nvSpPr>
          <p:cNvPr id="10" name="Text 7"/>
          <p:cNvSpPr txBox="1"/>
          <p:nvPr/>
        </p:nvSpPr>
        <p:spPr>
          <a:xfrm>
            <a:off x="4800600" y="2578608"/>
            <a:ext cx="6842455" cy="713232"/>
          </a:xfrm>
          <a:prstGeom prst="rect">
            <a:avLst/>
          </a:prstGeom>
          <a:noFill/>
          <a:ln/>
        </p:spPr>
        <p:txBody>
          <a:bodyPr wrap="square" lIns="0" tIns="0" rIns="0" bIns="0" rtlCol="0" anchor="ctr"/>
          <a:lstStyle/>
          <a:p>
            <a:pPr indent="0" marL="0">
              <a:buNone/>
            </a:pPr>
            <a:r>
              <a:rPr lang="en-US" sz="1500" dirty="0">
                <a:solidFill>
                  <a:schemeClr val="tx1"/>
                </a:solidFill>
              </a:rPr>
              <a:t>info/*.yml ile kök ve alan CV'lerini karşılaştırır; ilgisiz alana dokunmaz</a:t>
            </a:r>
            <a:endParaRPr lang="en-US" sz="1500" dirty="0"/>
          </a:p>
        </p:txBody>
      </p:sp>
      <p:sp>
        <p:nvSpPr>
          <p:cNvPr id="11" name="komut"/>
          <p:cNvSpPr/>
          <p:nvPr/>
        </p:nvSpPr>
        <p:spPr>
          <a:xfrm>
            <a:off x="548640" y="3465576"/>
            <a:ext cx="3977640" cy="713232"/>
          </a:xfrm>
          <a:prstGeom prst="roundRect">
            <a:avLst>
              <a:gd name="adj" fmla="val 10256"/>
            </a:avLst>
          </a:prstGeom>
          <a:solidFill>
            <a:schemeClr val="bg2"/>
          </a:solidFill>
          <a:ln/>
        </p:spPr>
      </p:sp>
      <p:sp>
        <p:nvSpPr>
          <p:cNvPr id="12" name="Text 9"/>
          <p:cNvSpPr txBox="1"/>
          <p:nvPr/>
        </p:nvSpPr>
        <p:spPr>
          <a:xfrm>
            <a:off x="731520" y="3465576"/>
            <a:ext cx="3657600" cy="713232"/>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ilan eşleştir</a:t>
            </a:r>
            <a:endParaRPr lang="en-US" sz="1400" dirty="0"/>
          </a:p>
        </p:txBody>
      </p:sp>
      <p:sp>
        <p:nvSpPr>
          <p:cNvPr id="13" name="Text 10"/>
          <p:cNvSpPr txBox="1"/>
          <p:nvPr/>
        </p:nvSpPr>
        <p:spPr>
          <a:xfrm>
            <a:off x="4800600" y="3465576"/>
            <a:ext cx="6842455" cy="713232"/>
          </a:xfrm>
          <a:prstGeom prst="rect">
            <a:avLst/>
          </a:prstGeom>
          <a:noFill/>
          <a:ln/>
        </p:spPr>
        <p:txBody>
          <a:bodyPr wrap="square" lIns="0" tIns="0" rIns="0" bIns="0" rtlCol="0" anchor="ctr"/>
          <a:lstStyle/>
          <a:p>
            <a:pPr indent="0" marL="0">
              <a:buNone/>
            </a:pPr>
            <a:r>
              <a:rPr lang="en-US" sz="1500" dirty="0">
                <a:solidFill>
                  <a:schemeClr val="tx1"/>
                </a:solidFill>
              </a:rPr>
              <a:t>İlan metnini analiz eder; en uygun CV'yi seçer ya da yeni paket önerir</a:t>
            </a:r>
            <a:endParaRPr lang="en-US" sz="1500" dirty="0"/>
          </a:p>
        </p:txBody>
      </p:sp>
      <p:sp>
        <p:nvSpPr>
          <p:cNvPr id="14" name="komut"/>
          <p:cNvSpPr/>
          <p:nvPr/>
        </p:nvSpPr>
        <p:spPr>
          <a:xfrm>
            <a:off x="548640" y="4352544"/>
            <a:ext cx="3977640" cy="713232"/>
          </a:xfrm>
          <a:prstGeom prst="roundRect">
            <a:avLst>
              <a:gd name="adj" fmla="val 10256"/>
            </a:avLst>
          </a:prstGeom>
          <a:solidFill>
            <a:schemeClr val="bg2"/>
          </a:solidFill>
          <a:ln/>
        </p:spPr>
      </p:sp>
      <p:sp>
        <p:nvSpPr>
          <p:cNvPr id="15" name="Text 12"/>
          <p:cNvSpPr txBox="1"/>
          <p:nvPr/>
        </p:nvSpPr>
        <p:spPr>
          <a:xfrm>
            <a:off x="731520" y="4352544"/>
            <a:ext cx="3657600" cy="713232"/>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iş araştırması yap ve cv üret</a:t>
            </a:r>
            <a:endParaRPr lang="en-US" sz="1400" dirty="0"/>
          </a:p>
        </p:txBody>
      </p:sp>
      <p:sp>
        <p:nvSpPr>
          <p:cNvPr id="16" name="Text 13"/>
          <p:cNvSpPr txBox="1"/>
          <p:nvPr/>
        </p:nvSpPr>
        <p:spPr>
          <a:xfrm>
            <a:off x="4800600" y="4352544"/>
            <a:ext cx="6842455" cy="713232"/>
          </a:xfrm>
          <a:prstGeom prst="rect">
            <a:avLst/>
          </a:prstGeom>
          <a:noFill/>
          <a:ln/>
        </p:spPr>
        <p:txBody>
          <a:bodyPr wrap="square" lIns="0" tIns="0" rIns="0" bIns="0" rtlCol="0" anchor="ctr"/>
          <a:lstStyle/>
          <a:p>
            <a:pPr indent="0" marL="0">
              <a:buNone/>
            </a:pPr>
            <a:r>
              <a:rPr lang="en-US" sz="1500" dirty="0">
                <a:solidFill>
                  <a:schemeClr val="tx1"/>
                </a:solidFill>
              </a:rPr>
              <a:t>LinkedIn öncelikli tarar, kapalı ve başvurulmuş ilanları eler, paket hazırlar</a:t>
            </a:r>
            <a:endParaRPr lang="en-US" sz="1500" dirty="0"/>
          </a:p>
        </p:txBody>
      </p:sp>
      <p:sp>
        <p:nvSpPr>
          <p:cNvPr id="17" name="komut"/>
          <p:cNvSpPr/>
          <p:nvPr/>
        </p:nvSpPr>
        <p:spPr>
          <a:xfrm>
            <a:off x="548640" y="5239512"/>
            <a:ext cx="3977640" cy="713232"/>
          </a:xfrm>
          <a:prstGeom prst="roundRect">
            <a:avLst>
              <a:gd name="adj" fmla="val 10256"/>
            </a:avLst>
          </a:prstGeom>
          <a:solidFill>
            <a:schemeClr val="bg2"/>
          </a:solidFill>
          <a:ln/>
        </p:spPr>
      </p:sp>
      <p:sp>
        <p:nvSpPr>
          <p:cNvPr id="18" name="Text 15"/>
          <p:cNvSpPr txBox="1"/>
          <p:nvPr/>
        </p:nvSpPr>
        <p:spPr>
          <a:xfrm>
            <a:off x="731520" y="5239512"/>
            <a:ext cx="3657600" cy="713232"/>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eski ilanları temizle</a:t>
            </a:r>
            <a:endParaRPr lang="en-US" sz="1400" dirty="0"/>
          </a:p>
        </p:txBody>
      </p:sp>
      <p:sp>
        <p:nvSpPr>
          <p:cNvPr id="19" name="Text 16"/>
          <p:cNvSpPr txBox="1"/>
          <p:nvPr/>
        </p:nvSpPr>
        <p:spPr>
          <a:xfrm>
            <a:off x="4800600" y="5239512"/>
            <a:ext cx="6842455" cy="713232"/>
          </a:xfrm>
          <a:prstGeom prst="rect">
            <a:avLst/>
          </a:prstGeom>
          <a:noFill/>
          <a:ln/>
        </p:spPr>
        <p:txBody>
          <a:bodyPr wrap="square" lIns="0" tIns="0" rIns="0" bIns="0" rtlCol="0" anchor="ctr"/>
          <a:lstStyle/>
          <a:p>
            <a:pPr indent="0" marL="0">
              <a:buNone/>
            </a:pPr>
            <a:r>
              <a:rPr lang="en-US" sz="1500" dirty="0">
                <a:solidFill>
                  <a:schemeClr val="tx1"/>
                </a:solidFill>
              </a:rPr>
              <a:t>clean_old_jobs.py --dry-run ile listeler; tablo ve açık onaydan sonra siler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02 · CV'Yİ KOD GİBİ YÖNETMEK</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Bir İlan Paketinin Anatomisi</a:t>
            </a:r>
            <a:endParaRPr lang="en-US" sz="3400" dirty="0"/>
          </a:p>
        </p:txBody>
      </p:sp>
      <p:sp>
        <p:nvSpPr>
          <p:cNvPr id="5" name="kod-kutusu"/>
          <p:cNvSpPr/>
          <p:nvPr/>
        </p:nvSpPr>
        <p:spPr>
          <a:xfrm>
            <a:off x="548640" y="1691640"/>
            <a:ext cx="5989320" cy="2377440"/>
          </a:xfrm>
          <a:prstGeom prst="roundRect">
            <a:avLst>
              <a:gd name="adj" fmla="val 3077"/>
            </a:avLst>
          </a:prstGeom>
          <a:solidFill>
            <a:schemeClr val="tx2"/>
          </a:solidFill>
          <a:ln/>
        </p:spPr>
      </p:sp>
      <p:sp>
        <p:nvSpPr>
          <p:cNvPr id="6" name="Text 3"/>
          <p:cNvSpPr txBox="1"/>
          <p:nvPr/>
        </p:nvSpPr>
        <p:spPr>
          <a:xfrm>
            <a:off x="822960" y="1920240"/>
            <a:ext cx="5440680" cy="19202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ilana_ozel_cvler/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anzera_ai_engineer/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IS_ILANI.md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ham ilan metni + bağlantı</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 ILAN_NOTLARI.md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eşleşme + tek CV önerisi</a:t>
            </a:r>
            <a:endParaRPr lang="en-US" sz="1500" dirty="0"/>
          </a:p>
        </p:txBody>
      </p:sp>
      <p:sp>
        <p:nvSpPr>
          <p:cNvPr id="7" name="Text 4"/>
          <p:cNvSpPr txBox="1"/>
          <p:nvPr/>
        </p:nvSpPr>
        <p:spPr>
          <a:xfrm>
            <a:off x="548640" y="4343400"/>
            <a:ext cx="5989320" cy="82296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64</a:t>
            </a:r>
            <a:pPr indent="0" marL="0">
              <a:buNone/>
            </a:pPr>
            <a:r>
              <a:rPr lang="en-US" sz="1600" dirty="0">
                <a:solidFill>
                  <a:schemeClr val="tx1"/>
                </a:solidFill>
              </a:rPr>
              <a:t>  ilan paketi  ·  </a:t>
            </a:r>
            <a:pPr indent="0" marL="0">
              <a:buNone/>
            </a:pPr>
            <a:r>
              <a:rPr lang="en-US" sz="4000" b="1" dirty="0">
                <a:solidFill>
                  <a:schemeClr val="accent3"/>
                </a:solidFill>
                <a:latin typeface="Cambria" pitchFamily="34" charset="0"/>
                <a:ea typeface="Cambria" pitchFamily="34" charset="-122"/>
                <a:cs typeface="Cambria" pitchFamily="34" charset="-120"/>
              </a:rPr>
              <a:t>17</a:t>
            </a:r>
            <a:pPr indent="0" marL="0">
              <a:buNone/>
            </a:pPr>
            <a:r>
              <a:rPr lang="en-US" sz="1600" dirty="0">
                <a:solidFill>
                  <a:schemeClr val="tx1"/>
                </a:solidFill>
              </a:rPr>
              <a:t>  pakette ilana özel CV</a:t>
            </a:r>
            <a:endParaRPr lang="en-US" sz="4000" dirty="0"/>
          </a:p>
        </p:txBody>
      </p:sp>
      <p:sp>
        <p:nvSpPr>
          <p:cNvPr id="8" name="kart"/>
          <p:cNvSpPr/>
          <p:nvPr/>
        </p:nvSpPr>
        <p:spPr>
          <a:xfrm>
            <a:off x="6903720" y="1691640"/>
            <a:ext cx="4739335" cy="1783080"/>
          </a:xfrm>
          <a:prstGeom prst="roundRect">
            <a:avLst>
              <a:gd name="adj" fmla="val 4103"/>
            </a:avLst>
          </a:prstGeom>
          <a:solidFill>
            <a:schemeClr val="accent5">
              <a:alpha val="12000"/>
            </a:schemeClr>
          </a:solidFill>
          <a:ln/>
        </p:spPr>
      </p:sp>
      <p:sp>
        <p:nvSpPr>
          <p:cNvPr id="9" name="ikon-daire"/>
          <p:cNvSpPr/>
          <p:nvPr/>
        </p:nvSpPr>
        <p:spPr>
          <a:xfrm>
            <a:off x="7178040" y="1965960"/>
            <a:ext cx="548640" cy="548640"/>
          </a:xfrm>
          <a:prstGeom prst="ellipse">
            <a:avLst/>
          </a:prstGeom>
          <a:solidFill>
            <a:schemeClr val="accent5"/>
          </a:solidFill>
          <a:ln/>
        </p:spPr>
      </p:sp>
      <p:pic>
        <p:nvPicPr>
          <p:cNvPr id="10" name="ikon" descr="preencoded.png">    </p:cNvPr>
          <p:cNvPicPr>
            <a:picLocks noChangeAspect="1"/>
          </p:cNvPicPr>
          <p:nvPr/>
        </p:nvPicPr>
        <p:blipFill>
          <a:blip r:embed="rId1"/>
          <a:stretch>
            <a:fillRect/>
          </a:stretch>
        </p:blipFill>
        <p:spPr>
          <a:xfrm>
            <a:off x="7315200" y="2103120"/>
            <a:ext cx="274320" cy="274320"/>
          </a:xfrm>
          <a:prstGeom prst="rect">
            <a:avLst/>
          </a:prstGeom>
        </p:spPr>
      </p:pic>
      <p:sp>
        <p:nvSpPr>
          <p:cNvPr id="11" name="Text 7"/>
          <p:cNvSpPr txBox="1"/>
          <p:nvPr/>
        </p:nvSpPr>
        <p:spPr>
          <a:xfrm>
            <a:off x="7955280" y="1920240"/>
            <a:ext cx="3459175"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Uygun ve güncel CV var</a:t>
            </a:r>
            <a:endParaRPr lang="en-US" sz="1800" dirty="0"/>
          </a:p>
          <a:p>
            <a:pPr indent="0" marL="0">
              <a:spcAft>
                <a:spcPts val="400"/>
              </a:spcAft>
              <a:buNone/>
            </a:pPr>
            <a:r>
              <a:rPr lang="en-US" sz="1500" dirty="0">
                <a:solidFill>
                  <a:schemeClr val="tx1"/>
                </a:solidFill>
              </a:rPr>
              <a:t>genel_cvler/llm yeterli; yeni .tex ve .pdf üretilmedi (Anzera, AI Engineer)</a:t>
            </a:r>
            <a:endParaRPr lang="en-US" sz="1800" dirty="0"/>
          </a:p>
        </p:txBody>
      </p:sp>
      <p:sp>
        <p:nvSpPr>
          <p:cNvPr id="12" name="kart"/>
          <p:cNvSpPr/>
          <p:nvPr/>
        </p:nvSpPr>
        <p:spPr>
          <a:xfrm>
            <a:off x="6903720" y="3703320"/>
            <a:ext cx="4739335" cy="1783080"/>
          </a:xfrm>
          <a:prstGeom prst="roundRect">
            <a:avLst>
              <a:gd name="adj" fmla="val 4103"/>
            </a:avLst>
          </a:prstGeom>
          <a:solidFill>
            <a:schemeClr val="accent2">
              <a:alpha val="12000"/>
            </a:schemeClr>
          </a:solidFill>
          <a:ln/>
        </p:spPr>
      </p:sp>
      <p:sp>
        <p:nvSpPr>
          <p:cNvPr id="13" name="ikon-daire"/>
          <p:cNvSpPr/>
          <p:nvPr/>
        </p:nvSpPr>
        <p:spPr>
          <a:xfrm>
            <a:off x="7178040" y="3977640"/>
            <a:ext cx="548640" cy="548640"/>
          </a:xfrm>
          <a:prstGeom prst="ellipse">
            <a:avLst/>
          </a:prstGeom>
          <a:solidFill>
            <a:schemeClr val="accent2"/>
          </a:solidFill>
          <a:ln/>
        </p:spPr>
      </p:sp>
      <p:pic>
        <p:nvPicPr>
          <p:cNvPr id="14" name="ikon" descr="preencoded.png">    </p:cNvPr>
          <p:cNvPicPr>
            <a:picLocks noChangeAspect="1"/>
          </p:cNvPicPr>
          <p:nvPr/>
        </p:nvPicPr>
        <p:blipFill>
          <a:blip r:embed="rId2"/>
          <a:stretch>
            <a:fillRect/>
          </a:stretch>
        </p:blipFill>
        <p:spPr>
          <a:xfrm>
            <a:off x="7315200" y="4114800"/>
            <a:ext cx="274320" cy="274320"/>
          </a:xfrm>
          <a:prstGeom prst="rect">
            <a:avLst/>
          </a:prstGeom>
        </p:spPr>
      </p:pic>
      <p:sp>
        <p:nvSpPr>
          <p:cNvPr id="15" name="Text 10"/>
          <p:cNvSpPr txBox="1"/>
          <p:nvPr/>
        </p:nvSpPr>
        <p:spPr>
          <a:xfrm>
            <a:off x="7955280" y="3931920"/>
            <a:ext cx="3459175" cy="13716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Uygun CV yok ya da eski</a:t>
            </a:r>
            <a:endParaRPr lang="en-US" sz="1800" dirty="0"/>
          </a:p>
          <a:p>
            <a:pPr indent="0" marL="0">
              <a:spcAft>
                <a:spcPts val="400"/>
              </a:spcAft>
              <a:buNone/>
            </a:pPr>
            <a:r>
              <a:rPr lang="en-US" sz="1500" dirty="0">
                <a:solidFill>
                  <a:schemeClr val="tx1"/>
                </a:solidFill>
              </a:rPr>
              <a:t>info/ verisinden ilana özel TR/EN .tex ve .pdf üretilir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03 · İLAN BULMA</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İlan Nerede?</a:t>
            </a:r>
            <a:endParaRPr lang="en-US" sz="3400" dirty="0"/>
          </a:p>
        </p:txBody>
      </p:sp>
      <p:sp>
        <p:nvSpPr>
          <p:cNvPr id="5" name="kart"/>
          <p:cNvSpPr/>
          <p:nvPr/>
        </p:nvSpPr>
        <p:spPr>
          <a:xfrm>
            <a:off x="548640" y="1691640"/>
            <a:ext cx="5120640" cy="1325880"/>
          </a:xfrm>
          <a:prstGeom prst="roundRect">
            <a:avLst>
              <a:gd name="adj" fmla="val 5517"/>
            </a:avLst>
          </a:prstGeom>
          <a:solidFill>
            <a:schemeClr val="bg2"/>
          </a:solidFill>
          <a:ln/>
        </p:spPr>
      </p:sp>
      <p:sp>
        <p:nvSpPr>
          <p:cNvPr id="6" name="ikon-daire"/>
          <p:cNvSpPr/>
          <p:nvPr/>
        </p:nvSpPr>
        <p:spPr>
          <a:xfrm>
            <a:off x="822960" y="2039112"/>
            <a:ext cx="640080" cy="640080"/>
          </a:xfrm>
          <a:prstGeom prst="ellipse">
            <a:avLst/>
          </a:prstGeom>
          <a:solidFill>
            <a:schemeClr val="accent1"/>
          </a:solidFill>
          <a:ln/>
        </p:spPr>
      </p:sp>
      <p:pic>
        <p:nvPicPr>
          <p:cNvPr id="7" name="ikon" descr="preencoded.png">    </p:cNvPr>
          <p:cNvPicPr>
            <a:picLocks noChangeAspect="1"/>
          </p:cNvPicPr>
          <p:nvPr/>
        </p:nvPicPr>
        <p:blipFill>
          <a:blip r:embed="rId1"/>
          <a:stretch>
            <a:fillRect/>
          </a:stretch>
        </p:blipFill>
        <p:spPr>
          <a:xfrm>
            <a:off x="982980" y="2199132"/>
            <a:ext cx="320040" cy="320040"/>
          </a:xfrm>
          <a:prstGeom prst="rect">
            <a:avLst/>
          </a:prstGeom>
        </p:spPr>
      </p:pic>
      <p:sp>
        <p:nvSpPr>
          <p:cNvPr id="8" name="Text 4"/>
          <p:cNvSpPr txBox="1"/>
          <p:nvPr/>
        </p:nvSpPr>
        <p:spPr>
          <a:xfrm>
            <a:off x="1691640" y="1691640"/>
            <a:ext cx="3749040" cy="132588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LinkedIn</a:t>
            </a:r>
            <a:endParaRPr lang="en-US" sz="1900" dirty="0"/>
          </a:p>
          <a:p>
            <a:pPr indent="0" marL="0">
              <a:spcAft>
                <a:spcPts val="400"/>
              </a:spcAft>
              <a:buNone/>
            </a:pPr>
            <a:r>
              <a:rPr lang="en-US" sz="1500" dirty="0">
                <a:solidFill>
                  <a:schemeClr val="tx1"/>
                </a:solidFill>
              </a:rPr>
              <a:t>İş uyarıları, YZ destekli iş arama</a:t>
            </a:r>
            <a:endParaRPr lang="en-US" sz="1900" dirty="0"/>
          </a:p>
        </p:txBody>
      </p:sp>
      <p:sp>
        <p:nvSpPr>
          <p:cNvPr id="9" name="kart"/>
          <p:cNvSpPr/>
          <p:nvPr/>
        </p:nvSpPr>
        <p:spPr>
          <a:xfrm>
            <a:off x="548640" y="3246120"/>
            <a:ext cx="5120640" cy="1325880"/>
          </a:xfrm>
          <a:prstGeom prst="roundRect">
            <a:avLst>
              <a:gd name="adj" fmla="val 5517"/>
            </a:avLst>
          </a:prstGeom>
          <a:solidFill>
            <a:schemeClr val="bg2"/>
          </a:solidFill>
          <a:ln/>
        </p:spPr>
      </p:sp>
      <p:sp>
        <p:nvSpPr>
          <p:cNvPr id="10" name="ikon-daire"/>
          <p:cNvSpPr/>
          <p:nvPr/>
        </p:nvSpPr>
        <p:spPr>
          <a:xfrm>
            <a:off x="822960" y="3593592"/>
            <a:ext cx="640080" cy="640080"/>
          </a:xfrm>
          <a:prstGeom prst="ellipse">
            <a:avLst/>
          </a:prstGeom>
          <a:solidFill>
            <a:schemeClr val="accent1"/>
          </a:solidFill>
          <a:ln/>
        </p:spPr>
      </p:sp>
      <p:pic>
        <p:nvPicPr>
          <p:cNvPr id="11" name="ikon" descr="preencoded.png">    </p:cNvPr>
          <p:cNvPicPr>
            <a:picLocks noChangeAspect="1"/>
          </p:cNvPicPr>
          <p:nvPr/>
        </p:nvPicPr>
        <p:blipFill>
          <a:blip r:embed="rId2"/>
          <a:stretch>
            <a:fillRect/>
          </a:stretch>
        </p:blipFill>
        <p:spPr>
          <a:xfrm>
            <a:off x="982980" y="3753612"/>
            <a:ext cx="320040" cy="320040"/>
          </a:xfrm>
          <a:prstGeom prst="rect">
            <a:avLst/>
          </a:prstGeom>
        </p:spPr>
      </p:pic>
      <p:sp>
        <p:nvSpPr>
          <p:cNvPr id="12" name="Text 7"/>
          <p:cNvSpPr txBox="1"/>
          <p:nvPr/>
        </p:nvSpPr>
        <p:spPr>
          <a:xfrm>
            <a:off x="1691640" y="3246120"/>
            <a:ext cx="3749040" cy="132588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Kurumsal kariyer portalları</a:t>
            </a:r>
            <a:endParaRPr lang="en-US" sz="1900" dirty="0"/>
          </a:p>
          <a:p>
            <a:pPr indent="0" marL="0">
              <a:spcAft>
                <a:spcPts val="400"/>
              </a:spcAft>
              <a:buNone/>
            </a:pPr>
            <a:r>
              <a:rPr lang="en-US" sz="1500" dirty="0">
                <a:solidFill>
                  <a:schemeClr val="tx1"/>
                </a:solidFill>
              </a:rPr>
              <a:t>En güncel ve doğrudan kaynak</a:t>
            </a:r>
            <a:endParaRPr lang="en-US" sz="1900" dirty="0"/>
          </a:p>
        </p:txBody>
      </p:sp>
      <p:sp>
        <p:nvSpPr>
          <p:cNvPr id="13" name="kart"/>
          <p:cNvSpPr/>
          <p:nvPr/>
        </p:nvSpPr>
        <p:spPr>
          <a:xfrm>
            <a:off x="548640" y="4800600"/>
            <a:ext cx="5120640" cy="1325880"/>
          </a:xfrm>
          <a:prstGeom prst="roundRect">
            <a:avLst>
              <a:gd name="adj" fmla="val 5517"/>
            </a:avLst>
          </a:prstGeom>
          <a:solidFill>
            <a:schemeClr val="bg2"/>
          </a:solidFill>
          <a:ln/>
        </p:spPr>
      </p:sp>
      <p:sp>
        <p:nvSpPr>
          <p:cNvPr id="14" name="ikon-daire"/>
          <p:cNvSpPr/>
          <p:nvPr/>
        </p:nvSpPr>
        <p:spPr>
          <a:xfrm>
            <a:off x="822960" y="5148072"/>
            <a:ext cx="640080" cy="640080"/>
          </a:xfrm>
          <a:prstGeom prst="ellipse">
            <a:avLst/>
          </a:prstGeom>
          <a:solidFill>
            <a:schemeClr val="accent1"/>
          </a:solidFill>
          <a:ln/>
        </p:spPr>
      </p:sp>
      <p:pic>
        <p:nvPicPr>
          <p:cNvPr id="15" name="ikon" descr="preencoded.png">    </p:cNvPr>
          <p:cNvPicPr>
            <a:picLocks noChangeAspect="1"/>
          </p:cNvPicPr>
          <p:nvPr/>
        </p:nvPicPr>
        <p:blipFill>
          <a:blip r:embed="rId3"/>
          <a:stretch>
            <a:fillRect/>
          </a:stretch>
        </p:blipFill>
        <p:spPr>
          <a:xfrm>
            <a:off x="982980" y="5308092"/>
            <a:ext cx="320040" cy="320040"/>
          </a:xfrm>
          <a:prstGeom prst="rect">
            <a:avLst/>
          </a:prstGeom>
        </p:spPr>
      </p:pic>
      <p:sp>
        <p:nvSpPr>
          <p:cNvPr id="16" name="Text 10"/>
          <p:cNvSpPr txBox="1"/>
          <p:nvPr/>
        </p:nvSpPr>
        <p:spPr>
          <a:xfrm>
            <a:off x="1691640" y="4800600"/>
            <a:ext cx="3749040" cy="132588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Yerel platformlar</a:t>
            </a:r>
            <a:endParaRPr lang="en-US" sz="1900" dirty="0"/>
          </a:p>
          <a:p>
            <a:pPr indent="0" marL="0">
              <a:spcAft>
                <a:spcPts val="400"/>
              </a:spcAft>
              <a:buNone/>
            </a:pPr>
            <a:r>
              <a:rPr lang="en-US" sz="1500" dirty="0">
                <a:solidFill>
                  <a:schemeClr val="tx1"/>
                </a:solidFill>
              </a:rPr>
              <a:t>Kariyer.net, Techcareer.net, Youthall</a:t>
            </a:r>
            <a:endParaRPr lang="en-US" sz="1900" dirty="0"/>
          </a:p>
        </p:txBody>
      </p:sp>
      <p:sp>
        <p:nvSpPr>
          <p:cNvPr id="17" name="teknopark-karti"/>
          <p:cNvSpPr/>
          <p:nvPr/>
        </p:nvSpPr>
        <p:spPr>
          <a:xfrm>
            <a:off x="6035040" y="1691640"/>
            <a:ext cx="5608015" cy="4434840"/>
          </a:xfrm>
          <a:prstGeom prst="roundRect">
            <a:avLst>
              <a:gd name="adj" fmla="val 1649"/>
            </a:avLst>
          </a:prstGeom>
          <a:solidFill>
            <a:schemeClr val="accent1"/>
          </a:solidFill>
          <a:ln/>
        </p:spPr>
      </p:sp>
      <p:pic>
        <p:nvPicPr>
          <p:cNvPr id="18" name="Image 3" descr="/tmp/claude-1000/-home-kayra-Desktop-github-repolarim-kurslar/6b167384-22ac-40e1-8a64-b99aeff95692/scratchpad/deck/img/yildiz.png">    </p:cNvPr>
          <p:cNvPicPr>
            <a:picLocks noChangeAspect="1"/>
          </p:cNvPicPr>
          <p:nvPr/>
        </p:nvPicPr>
        <p:blipFill>
          <a:blip r:embed="rId4">
            <a:alphaModFix amt="70000"/>
          </a:blip>
          <a:stretch>
            <a:fillRect/>
          </a:stretch>
        </p:blipFill>
        <p:spPr>
          <a:xfrm>
            <a:off x="10042855" y="1920240"/>
            <a:ext cx="1325880" cy="1367971"/>
          </a:xfrm>
          <a:prstGeom prst="rect">
            <a:avLst/>
          </a:prstGeom>
        </p:spPr>
      </p:pic>
      <p:sp>
        <p:nvSpPr>
          <p:cNvPr id="19" name="Text 12"/>
          <p:cNvSpPr txBox="1"/>
          <p:nvPr/>
        </p:nvSpPr>
        <p:spPr>
          <a:xfrm>
            <a:off x="6400800" y="1965960"/>
            <a:ext cx="3504895" cy="1097280"/>
          </a:xfrm>
          <a:prstGeom prst="rect">
            <a:avLst/>
          </a:prstGeom>
          <a:noFill/>
          <a:ln/>
        </p:spPr>
        <p:txBody>
          <a:bodyPr wrap="square" lIns="0" tIns="0" rIns="0" bIns="0" rtlCol="0" anchor="t"/>
          <a:lstStyle/>
          <a:p>
            <a:pPr indent="0" marL="0">
              <a:buNone/>
            </a:pPr>
            <a:r>
              <a:rPr lang="en-US" sz="2200" b="1" dirty="0">
                <a:solidFill>
                  <a:schemeClr val="bg1"/>
                </a:solidFill>
              </a:rPr>
              <a:t>YTÜ Yıldız Teknopark</a:t>
            </a:r>
            <a:endParaRPr lang="en-US" sz="2200" dirty="0"/>
          </a:p>
          <a:p>
            <a:pPr indent="0" marL="0">
              <a:buNone/>
            </a:pPr>
            <a:r>
              <a:rPr lang="en-US" sz="1600" dirty="0">
                <a:solidFill>
                  <a:schemeClr val="accent2"/>
                </a:solidFill>
              </a:rPr>
              <a:t>Firmalarımız sayfası</a:t>
            </a:r>
            <a:endParaRPr lang="en-US" sz="2200" dirty="0"/>
          </a:p>
        </p:txBody>
      </p:sp>
      <p:sp>
        <p:nvSpPr>
          <p:cNvPr id="20" name="Text 13"/>
          <p:cNvSpPr txBox="1"/>
          <p:nvPr/>
        </p:nvSpPr>
        <p:spPr>
          <a:xfrm>
            <a:off x="6400800" y="3291840"/>
            <a:ext cx="4876495" cy="2103120"/>
          </a:xfrm>
          <a:prstGeom prst="rect">
            <a:avLst/>
          </a:prstGeom>
          <a:noFill/>
          <a:ln/>
        </p:spPr>
        <p:txBody>
          <a:bodyPr wrap="square" lIns="0" tIns="0" rIns="0" bIns="0" rtlCol="0" anchor="t"/>
          <a:lstStyle/>
          <a:p>
            <a:pPr indent="0" marL="0">
              <a:spcAft>
                <a:spcPts val="600"/>
              </a:spcAft>
              <a:buNone/>
            </a:pPr>
            <a:r>
              <a:rPr lang="en-US" sz="5400" b="1" dirty="0">
                <a:solidFill>
                  <a:schemeClr val="accent2"/>
                </a:solidFill>
                <a:latin typeface="Cambria" pitchFamily="34" charset="0"/>
                <a:ea typeface="Cambria" pitchFamily="34" charset="-122"/>
                <a:cs typeface="Cambria" pitchFamily="34" charset="-120"/>
              </a:rPr>
              <a:t>750+</a:t>
            </a:r>
            <a:endParaRPr lang="en-US" sz="5400" dirty="0"/>
          </a:p>
          <a:p>
            <a:pPr indent="0" marL="0">
              <a:spcAft>
                <a:spcPts val="600"/>
              </a:spcAft>
              <a:buNone/>
            </a:pPr>
            <a:r>
              <a:rPr lang="en-US" sz="1600" dirty="0">
                <a:solidFill>
                  <a:schemeClr val="bg2"/>
                </a:solidFill>
              </a:rPr>
              <a:t>firma, 14.500+ çalışan</a:t>
            </a:r>
            <a:endParaRPr lang="en-US" sz="5400" dirty="0"/>
          </a:p>
          <a:p>
            <a:pPr indent="0" marL="0">
              <a:spcAft>
                <a:spcPts val="600"/>
              </a:spcAft>
              <a:buNone/>
            </a:pPr>
            <a:r>
              <a:rPr lang="en-US" sz="1600" b="1" dirty="0">
                <a:solidFill>
                  <a:schemeClr val="bg1"/>
                </a:solidFill>
              </a:rPr>
              <a:t>İlan açılmadan önce hedef listenizi çıkarın.</a:t>
            </a: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03 · İLAN BULMA</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Akıllı Filtre</a:t>
            </a:r>
            <a:endParaRPr lang="en-US" sz="3400" dirty="0"/>
          </a:p>
        </p:txBody>
      </p:sp>
      <p:sp>
        <p:nvSpPr>
          <p:cNvPr id="5" name="Shape 2"/>
          <p:cNvSpPr/>
          <p:nvPr/>
        </p:nvSpPr>
        <p:spPr>
          <a:xfrm>
            <a:off x="548640" y="1764792"/>
            <a:ext cx="566928" cy="566928"/>
          </a:xfrm>
          <a:prstGeom prst="ellipse">
            <a:avLst/>
          </a:prstGeom>
          <a:solidFill>
            <a:schemeClr val="accent2"/>
          </a:solidFill>
          <a:ln/>
        </p:spPr>
      </p:sp>
      <p:sp>
        <p:nvSpPr>
          <p:cNvPr id="6" name="Text 3"/>
          <p:cNvSpPr txBox="1"/>
          <p:nvPr/>
        </p:nvSpPr>
        <p:spPr>
          <a:xfrm>
            <a:off x="548640" y="176479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371600" y="1691640"/>
            <a:ext cx="6766560" cy="822960"/>
          </a:xfrm>
          <a:prstGeom prst="rect">
            <a:avLst/>
          </a:prstGeom>
          <a:noFill/>
          <a:ln/>
        </p:spPr>
        <p:txBody>
          <a:bodyPr wrap="square" lIns="0" tIns="0" rIns="0" bIns="0" rtlCol="0" anchor="t"/>
          <a:lstStyle/>
          <a:p>
            <a:pPr indent="0" marL="0">
              <a:buNone/>
            </a:pPr>
            <a:r>
              <a:rPr lang="en-US" sz="1900" b="1" dirty="0">
                <a:solidFill>
                  <a:schemeClr val="tx2"/>
                </a:solidFill>
              </a:rPr>
              <a:t>Aktif mi?</a:t>
            </a:r>
            <a:endParaRPr lang="en-US" sz="1900" dirty="0"/>
          </a:p>
          <a:p>
            <a:pPr indent="0" marL="0">
              <a:buNone/>
            </a:pPr>
            <a:r>
              <a:rPr lang="en-US" sz="1500" dirty="0">
                <a:solidFill>
                  <a:schemeClr val="tx1"/>
                </a:solidFill>
              </a:rPr>
              <a:t>"Başvuru kabul etmiyor" uyarısı varsa veya Başvur butonu yoksa ele</a:t>
            </a:r>
            <a:endParaRPr lang="en-US" sz="1900" dirty="0"/>
          </a:p>
        </p:txBody>
      </p:sp>
      <p:sp>
        <p:nvSpPr>
          <p:cNvPr id="8" name="Shape 5"/>
          <p:cNvSpPr/>
          <p:nvPr/>
        </p:nvSpPr>
        <p:spPr>
          <a:xfrm>
            <a:off x="548640" y="2697480"/>
            <a:ext cx="566928" cy="566928"/>
          </a:xfrm>
          <a:prstGeom prst="ellipse">
            <a:avLst/>
          </a:prstGeom>
          <a:solidFill>
            <a:schemeClr val="accent2"/>
          </a:solidFill>
          <a:ln/>
        </p:spPr>
      </p:sp>
      <p:sp>
        <p:nvSpPr>
          <p:cNvPr id="9" name="Text 6"/>
          <p:cNvSpPr txBox="1"/>
          <p:nvPr/>
        </p:nvSpPr>
        <p:spPr>
          <a:xfrm>
            <a:off x="548640" y="2697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371600" y="2624328"/>
            <a:ext cx="6766560" cy="822960"/>
          </a:xfrm>
          <a:prstGeom prst="rect">
            <a:avLst/>
          </a:prstGeom>
          <a:noFill/>
          <a:ln/>
        </p:spPr>
        <p:txBody>
          <a:bodyPr wrap="square" lIns="0" tIns="0" rIns="0" bIns="0" rtlCol="0" anchor="t"/>
          <a:lstStyle/>
          <a:p>
            <a:pPr indent="0" marL="0">
              <a:buNone/>
            </a:pPr>
            <a:r>
              <a:rPr lang="en-US" sz="1900" b="1" dirty="0">
                <a:solidFill>
                  <a:schemeClr val="tx2"/>
                </a:solidFill>
              </a:rPr>
              <a:t>Daha önce başvurdum mu?</a:t>
            </a:r>
            <a:endParaRPr lang="en-US" sz="1900" dirty="0"/>
          </a:p>
          <a:p>
            <a:pPr indent="0" marL="0">
              <a:buNone/>
            </a:pPr>
            <a:r>
              <a:rPr lang="en-US" sz="1500" dirty="0">
                <a:solidFill>
                  <a:schemeClr val="tx1"/>
                </a:solidFill>
              </a:rPr>
              <a:t>Depodaki ilan bağlantıları ve LinkedIn "Applied" etiketi</a:t>
            </a:r>
            <a:endParaRPr lang="en-US" sz="1900" dirty="0"/>
          </a:p>
        </p:txBody>
      </p:sp>
      <p:sp>
        <p:nvSpPr>
          <p:cNvPr id="11" name="Shape 8"/>
          <p:cNvSpPr/>
          <p:nvPr/>
        </p:nvSpPr>
        <p:spPr>
          <a:xfrm>
            <a:off x="548640" y="3630168"/>
            <a:ext cx="566928" cy="566928"/>
          </a:xfrm>
          <a:prstGeom prst="ellipse">
            <a:avLst/>
          </a:prstGeom>
          <a:solidFill>
            <a:schemeClr val="accent2"/>
          </a:solidFill>
          <a:ln/>
        </p:spPr>
      </p:sp>
      <p:sp>
        <p:nvSpPr>
          <p:cNvPr id="12" name="Text 9"/>
          <p:cNvSpPr txBox="1"/>
          <p:nvPr/>
        </p:nvSpPr>
        <p:spPr>
          <a:xfrm>
            <a:off x="548640" y="363016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0"/>
          <p:cNvSpPr txBox="1"/>
          <p:nvPr/>
        </p:nvSpPr>
        <p:spPr>
          <a:xfrm>
            <a:off x="1371600" y="3557016"/>
            <a:ext cx="6766560" cy="822960"/>
          </a:xfrm>
          <a:prstGeom prst="rect">
            <a:avLst/>
          </a:prstGeom>
          <a:noFill/>
          <a:ln/>
        </p:spPr>
        <p:txBody>
          <a:bodyPr wrap="square" lIns="0" tIns="0" rIns="0" bIns="0" rtlCol="0" anchor="t"/>
          <a:lstStyle/>
          <a:p>
            <a:pPr indent="0" marL="0">
              <a:buNone/>
            </a:pPr>
            <a:r>
              <a:rPr lang="en-US" sz="1900" b="1" dirty="0">
                <a:solidFill>
                  <a:schemeClr val="tx2"/>
                </a:solidFill>
              </a:rPr>
              <a:t>Ham metni çek</a:t>
            </a:r>
            <a:endParaRPr lang="en-US" sz="1900" dirty="0"/>
          </a:p>
          <a:p>
            <a:pPr indent="0" marL="0">
              <a:buNone/>
            </a:pPr>
            <a:r>
              <a:rPr lang="en-US" sz="1500" dirty="0">
                <a:solidFill>
                  <a:schemeClr val="tx1"/>
                </a:solidFill>
              </a:rPr>
              <a:t>LinkedIn guest endpoint + curl ile IS_ILANI.md</a:t>
            </a:r>
            <a:endParaRPr lang="en-US" sz="1900" dirty="0"/>
          </a:p>
        </p:txBody>
      </p:sp>
      <p:sp>
        <p:nvSpPr>
          <p:cNvPr id="14" name="Shape 11"/>
          <p:cNvSpPr/>
          <p:nvPr/>
        </p:nvSpPr>
        <p:spPr>
          <a:xfrm>
            <a:off x="548640" y="4562856"/>
            <a:ext cx="566928" cy="566928"/>
          </a:xfrm>
          <a:prstGeom prst="ellipse">
            <a:avLst/>
          </a:prstGeom>
          <a:solidFill>
            <a:schemeClr val="accent2"/>
          </a:solidFill>
          <a:ln/>
        </p:spPr>
      </p:sp>
      <p:sp>
        <p:nvSpPr>
          <p:cNvPr id="15" name="Text 12"/>
          <p:cNvSpPr txBox="1"/>
          <p:nvPr/>
        </p:nvSpPr>
        <p:spPr>
          <a:xfrm>
            <a:off x="548640" y="456285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Text 13"/>
          <p:cNvSpPr txBox="1"/>
          <p:nvPr/>
        </p:nvSpPr>
        <p:spPr>
          <a:xfrm>
            <a:off x="1371600" y="4489704"/>
            <a:ext cx="6766560" cy="822960"/>
          </a:xfrm>
          <a:prstGeom prst="rect">
            <a:avLst/>
          </a:prstGeom>
          <a:noFill/>
          <a:ln/>
        </p:spPr>
        <p:txBody>
          <a:bodyPr wrap="square" lIns="0" tIns="0" rIns="0" bIns="0" rtlCol="0" anchor="t"/>
          <a:lstStyle/>
          <a:p>
            <a:pPr indent="0" marL="0">
              <a:buNone/>
            </a:pPr>
            <a:r>
              <a:rPr lang="en-US" sz="1900" b="1" dirty="0">
                <a:solidFill>
                  <a:schemeClr val="tx2"/>
                </a:solidFill>
              </a:rPr>
              <a:t>Eşleştir</a:t>
            </a:r>
            <a:endParaRPr lang="en-US" sz="1900" dirty="0"/>
          </a:p>
          <a:p>
            <a:pPr indent="0" marL="0">
              <a:buNone/>
            </a:pPr>
            <a:r>
              <a:rPr lang="en-US" sz="1500" dirty="0">
                <a:solidFill>
                  <a:schemeClr val="tx1"/>
                </a:solidFill>
              </a:rPr>
              <a:t>CV seç veya üret; son kontrol insanda</a:t>
            </a:r>
            <a:endParaRPr lang="en-US" sz="1900" dirty="0"/>
          </a:p>
        </p:txBody>
      </p:sp>
      <p:sp>
        <p:nvSpPr>
          <p:cNvPr id="17" name="huni"/>
          <p:cNvSpPr/>
          <p:nvPr/>
        </p:nvSpPr>
        <p:spPr>
          <a:xfrm>
            <a:off x="8412480" y="1783080"/>
            <a:ext cx="3230575" cy="640080"/>
          </a:xfrm>
          <a:prstGeom prst="roundRect">
            <a:avLst>
              <a:gd name="adj" fmla="val 11429"/>
            </a:avLst>
          </a:prstGeom>
          <a:solidFill>
            <a:schemeClr val="accent1"/>
          </a:solidFill>
          <a:ln/>
        </p:spPr>
      </p:sp>
      <p:sp>
        <p:nvSpPr>
          <p:cNvPr id="18" name="huni"/>
          <p:cNvSpPr/>
          <p:nvPr/>
        </p:nvSpPr>
        <p:spPr>
          <a:xfrm>
            <a:off x="8735538" y="2715768"/>
            <a:ext cx="2584460" cy="640080"/>
          </a:xfrm>
          <a:prstGeom prst="roundRect">
            <a:avLst>
              <a:gd name="adj" fmla="val 11429"/>
            </a:avLst>
          </a:prstGeom>
          <a:solidFill>
            <a:schemeClr val="accent1">
              <a:alpha val="82000"/>
            </a:schemeClr>
          </a:solidFill>
          <a:ln/>
        </p:spPr>
      </p:sp>
      <p:sp>
        <p:nvSpPr>
          <p:cNvPr id="19" name="huni"/>
          <p:cNvSpPr/>
          <p:nvPr/>
        </p:nvSpPr>
        <p:spPr>
          <a:xfrm>
            <a:off x="9058595" y="3648456"/>
            <a:ext cx="1938345" cy="640080"/>
          </a:xfrm>
          <a:prstGeom prst="roundRect">
            <a:avLst>
              <a:gd name="adj" fmla="val 11429"/>
            </a:avLst>
          </a:prstGeom>
          <a:solidFill>
            <a:schemeClr val="accent1">
              <a:alpha val="64000"/>
            </a:schemeClr>
          </a:solidFill>
          <a:ln/>
        </p:spPr>
      </p:sp>
      <p:sp>
        <p:nvSpPr>
          <p:cNvPr id="20" name="huni"/>
          <p:cNvSpPr/>
          <p:nvPr/>
        </p:nvSpPr>
        <p:spPr>
          <a:xfrm>
            <a:off x="9381653" y="4581144"/>
            <a:ext cx="1292230" cy="640080"/>
          </a:xfrm>
          <a:prstGeom prst="roundRect">
            <a:avLst>
              <a:gd name="adj" fmla="val 11429"/>
            </a:avLst>
          </a:prstGeom>
          <a:solidFill>
            <a:schemeClr val="accent1">
              <a:alpha val="46000"/>
            </a:schemeClr>
          </a:solidFill>
          <a:ln/>
        </p:spPr>
      </p:sp>
      <p:sp>
        <p:nvSpPr>
          <p:cNvPr id="21" name="Text 18"/>
          <p:cNvSpPr txBox="1"/>
          <p:nvPr/>
        </p:nvSpPr>
        <p:spPr>
          <a:xfrm>
            <a:off x="8412480" y="1783080"/>
            <a:ext cx="3230575" cy="640080"/>
          </a:xfrm>
          <a:prstGeom prst="rect">
            <a:avLst/>
          </a:prstGeom>
          <a:noFill/>
          <a:ln/>
        </p:spPr>
        <p:txBody>
          <a:bodyPr wrap="square" lIns="0" tIns="0" rIns="0" bIns="0" rtlCol="0" anchor="ctr"/>
          <a:lstStyle/>
          <a:p>
            <a:pPr algn="ctr" indent="0" marL="0">
              <a:buNone/>
            </a:pPr>
            <a:r>
              <a:rPr lang="en-US" sz="1500" b="1" dirty="0">
                <a:solidFill>
                  <a:schemeClr val="bg1"/>
                </a:solidFill>
              </a:rPr>
              <a:t>İlan havuzu</a:t>
            </a:r>
            <a:endParaRPr lang="en-US" sz="1500" dirty="0"/>
          </a:p>
        </p:txBody>
      </p:sp>
      <p:sp>
        <p:nvSpPr>
          <p:cNvPr id="22" name="Text 19"/>
          <p:cNvSpPr txBox="1"/>
          <p:nvPr/>
        </p:nvSpPr>
        <p:spPr>
          <a:xfrm>
            <a:off x="8412480" y="4581144"/>
            <a:ext cx="3230575" cy="640080"/>
          </a:xfrm>
          <a:prstGeom prst="rect">
            <a:avLst/>
          </a:prstGeom>
          <a:noFill/>
          <a:ln/>
        </p:spPr>
        <p:txBody>
          <a:bodyPr wrap="square" lIns="0" tIns="0" rIns="0" bIns="0" rtlCol="0" anchor="ctr"/>
          <a:lstStyle/>
          <a:p>
            <a:pPr algn="ctr" indent="0" marL="0">
              <a:buNone/>
            </a:pPr>
            <a:r>
              <a:rPr lang="en-US" sz="1500" b="1" dirty="0">
                <a:solidFill>
                  <a:schemeClr val="bg1"/>
                </a:solidFill>
              </a:rPr>
              <a:t>Başvuru</a:t>
            </a:r>
            <a:endParaRPr lang="en-US" sz="1500" dirty="0"/>
          </a:p>
        </p:txBody>
      </p:sp>
      <p:sp>
        <p:nvSpPr>
          <p:cNvPr id="23" name="kart"/>
          <p:cNvSpPr/>
          <p:nvPr/>
        </p:nvSpPr>
        <p:spPr>
          <a:xfrm>
            <a:off x="548640" y="5486400"/>
            <a:ext cx="11094415" cy="640080"/>
          </a:xfrm>
          <a:prstGeom prst="roundRect">
            <a:avLst>
              <a:gd name="adj" fmla="val 11429"/>
            </a:avLst>
          </a:prstGeom>
          <a:solidFill>
            <a:schemeClr val="accent4">
              <a:alpha val="10000"/>
            </a:schemeClr>
          </a:solidFill>
          <a:ln/>
        </p:spPr>
      </p:sp>
      <p:sp>
        <p:nvSpPr>
          <p:cNvPr id="24" name="ikon-daire"/>
          <p:cNvSpPr/>
          <p:nvPr/>
        </p:nvSpPr>
        <p:spPr>
          <a:xfrm>
            <a:off x="731520" y="5559552"/>
            <a:ext cx="493776" cy="493776"/>
          </a:xfrm>
          <a:prstGeom prst="ellipse">
            <a:avLst/>
          </a:prstGeom>
          <a:solidFill>
            <a:schemeClr val="accent4"/>
          </a:solidFill>
          <a:ln/>
        </p:spPr>
      </p:sp>
      <p:pic>
        <p:nvPicPr>
          <p:cNvPr id="25" name="ikon" descr="preencoded.png">    </p:cNvPr>
          <p:cNvPicPr>
            <a:picLocks noChangeAspect="1"/>
          </p:cNvPicPr>
          <p:nvPr/>
        </p:nvPicPr>
        <p:blipFill>
          <a:blip r:embed="rId1"/>
          <a:stretch>
            <a:fillRect/>
          </a:stretch>
        </p:blipFill>
        <p:spPr>
          <a:xfrm>
            <a:off x="854964" y="5682996"/>
            <a:ext cx="246888" cy="246888"/>
          </a:xfrm>
          <a:prstGeom prst="rect">
            <a:avLst/>
          </a:prstGeom>
        </p:spPr>
      </p:pic>
      <p:sp>
        <p:nvSpPr>
          <p:cNvPr id="26" name="Text 22"/>
          <p:cNvSpPr txBox="1"/>
          <p:nvPr/>
        </p:nvSpPr>
        <p:spPr>
          <a:xfrm>
            <a:off x="1417320" y="5486400"/>
            <a:ext cx="9997135" cy="640080"/>
          </a:xfrm>
          <a:prstGeom prst="rect">
            <a:avLst/>
          </a:prstGeom>
          <a:noFill/>
          <a:ln/>
        </p:spPr>
        <p:txBody>
          <a:bodyPr wrap="square" lIns="0" tIns="0" rIns="0" bIns="0" rtlCol="0" anchor="ctr"/>
          <a:lstStyle/>
          <a:p>
            <a:pPr indent="0" marL="0">
              <a:buNone/>
            </a:pPr>
            <a:r>
              <a:rPr lang="en-US" sz="1500" dirty="0">
                <a:solidFill>
                  <a:schemeClr val="tx1"/>
                </a:solidFill>
              </a:rPr>
              <a:t>Kişisel kullanım, düşük hacim. Platform kullanım koşullarına uyun.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03 · İLAN BULMA</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Gizli Pazar: Doğrudan İletişim</a:t>
            </a:r>
            <a:endParaRPr lang="en-US" sz="3400" dirty="0"/>
          </a:p>
        </p:txBody>
      </p:sp>
      <p:sp>
        <p:nvSpPr>
          <p:cNvPr id="5" name="ikon-daire"/>
          <p:cNvSpPr/>
          <p:nvPr/>
        </p:nvSpPr>
        <p:spPr>
          <a:xfrm>
            <a:off x="548640" y="1783080"/>
            <a:ext cx="566928" cy="566928"/>
          </a:xfrm>
          <a:prstGeom prst="ellipse">
            <a:avLst/>
          </a:prstGeom>
          <a:solidFill>
            <a:schemeClr val="accent1"/>
          </a:solidFill>
          <a:ln/>
        </p:spPr>
      </p:sp>
      <p:pic>
        <p:nvPicPr>
          <p:cNvPr id="6" name="ikon" descr="preencoded.png">    </p:cNvPr>
          <p:cNvPicPr>
            <a:picLocks noChangeAspect="1"/>
          </p:cNvPicPr>
          <p:nvPr/>
        </p:nvPicPr>
        <p:blipFill>
          <a:blip r:embed="rId1"/>
          <a:stretch>
            <a:fillRect/>
          </a:stretch>
        </p:blipFill>
        <p:spPr>
          <a:xfrm>
            <a:off x="690372" y="1924812"/>
            <a:ext cx="283464" cy="283464"/>
          </a:xfrm>
          <a:prstGeom prst="rect">
            <a:avLst/>
          </a:prstGeom>
        </p:spPr>
      </p:pic>
      <p:sp>
        <p:nvSpPr>
          <p:cNvPr id="7" name="Text 3"/>
          <p:cNvSpPr txBox="1"/>
          <p:nvPr/>
        </p:nvSpPr>
        <p:spPr>
          <a:xfrm>
            <a:off x="1344168" y="1737360"/>
            <a:ext cx="432511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Hedef şirket listesi</a:t>
            </a:r>
            <a:endParaRPr lang="en-US" sz="1800" dirty="0"/>
          </a:p>
          <a:p>
            <a:pPr indent="0" marL="0">
              <a:spcAft>
                <a:spcPts val="200"/>
              </a:spcAft>
              <a:buNone/>
            </a:pPr>
            <a:r>
              <a:rPr lang="en-US" sz="1500" dirty="0">
                <a:solidFill>
                  <a:schemeClr val="tx1"/>
                </a:solidFill>
              </a:rPr>
              <a:t>Şehir ve alan filtresiyle</a:t>
            </a:r>
            <a:endParaRPr lang="en-US" sz="1800" dirty="0"/>
          </a:p>
        </p:txBody>
      </p:sp>
      <p:sp>
        <p:nvSpPr>
          <p:cNvPr id="8" name="ikon-daire"/>
          <p:cNvSpPr/>
          <p:nvPr/>
        </p:nvSpPr>
        <p:spPr>
          <a:xfrm>
            <a:off x="548640" y="2807208"/>
            <a:ext cx="566928" cy="566928"/>
          </a:xfrm>
          <a:prstGeom prst="ellipse">
            <a:avLst/>
          </a:prstGeom>
          <a:solidFill>
            <a:schemeClr val="accent1"/>
          </a:solidFill>
          <a:ln/>
        </p:spPr>
      </p:sp>
      <p:pic>
        <p:nvPicPr>
          <p:cNvPr id="9" name="ikon" descr="preencoded.png">    </p:cNvPr>
          <p:cNvPicPr>
            <a:picLocks noChangeAspect="1"/>
          </p:cNvPicPr>
          <p:nvPr/>
        </p:nvPicPr>
        <p:blipFill>
          <a:blip r:embed="rId2"/>
          <a:stretch>
            <a:fillRect/>
          </a:stretch>
        </p:blipFill>
        <p:spPr>
          <a:xfrm>
            <a:off x="690372" y="2948940"/>
            <a:ext cx="283464" cy="283464"/>
          </a:xfrm>
          <a:prstGeom prst="rect">
            <a:avLst/>
          </a:prstGeom>
        </p:spPr>
      </p:pic>
      <p:sp>
        <p:nvSpPr>
          <p:cNvPr id="10" name="Text 5"/>
          <p:cNvSpPr txBox="1"/>
          <p:nvPr/>
        </p:nvSpPr>
        <p:spPr>
          <a:xfrm>
            <a:off x="1344168" y="2761488"/>
            <a:ext cx="432511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Doğru kişi</a:t>
            </a:r>
            <a:endParaRPr lang="en-US" sz="1800" dirty="0"/>
          </a:p>
          <a:p>
            <a:pPr indent="0" marL="0">
              <a:spcAft>
                <a:spcPts val="200"/>
              </a:spcAft>
              <a:buNone/>
            </a:pPr>
            <a:r>
              <a:rPr lang="en-US" sz="1500" dirty="0">
                <a:solidFill>
                  <a:schemeClr val="tx1"/>
                </a:solidFill>
              </a:rPr>
              <a:t>İşe alım uzmanı veya teknik yönetici</a:t>
            </a:r>
            <a:endParaRPr lang="en-US" sz="1800" dirty="0"/>
          </a:p>
        </p:txBody>
      </p:sp>
      <p:sp>
        <p:nvSpPr>
          <p:cNvPr id="11" name="ikon-daire"/>
          <p:cNvSpPr/>
          <p:nvPr/>
        </p:nvSpPr>
        <p:spPr>
          <a:xfrm>
            <a:off x="548640" y="3831336"/>
            <a:ext cx="566928" cy="566928"/>
          </a:xfrm>
          <a:prstGeom prst="ellipse">
            <a:avLst/>
          </a:prstGeom>
          <a:solidFill>
            <a:schemeClr val="accent1"/>
          </a:solidFill>
          <a:ln/>
        </p:spPr>
      </p:sp>
      <p:pic>
        <p:nvPicPr>
          <p:cNvPr id="12" name="ikon" descr="preencoded.png">    </p:cNvPr>
          <p:cNvPicPr>
            <a:picLocks noChangeAspect="1"/>
          </p:cNvPicPr>
          <p:nvPr/>
        </p:nvPicPr>
        <p:blipFill>
          <a:blip r:embed="rId3"/>
          <a:stretch>
            <a:fillRect/>
          </a:stretch>
        </p:blipFill>
        <p:spPr>
          <a:xfrm>
            <a:off x="690372" y="3973068"/>
            <a:ext cx="283464" cy="283464"/>
          </a:xfrm>
          <a:prstGeom prst="rect">
            <a:avLst/>
          </a:prstGeom>
        </p:spPr>
      </p:pic>
      <p:sp>
        <p:nvSpPr>
          <p:cNvPr id="13" name="Text 7"/>
          <p:cNvSpPr txBox="1"/>
          <p:nvPr/>
        </p:nvSpPr>
        <p:spPr>
          <a:xfrm>
            <a:off x="1344168" y="3785616"/>
            <a:ext cx="432511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Şirket başına tek dosya</a:t>
            </a:r>
            <a:endParaRPr lang="en-US" sz="1800" dirty="0"/>
          </a:p>
          <a:p>
            <a:pPr indent="0" marL="0">
              <a:spcAft>
                <a:spcPts val="200"/>
              </a:spcAft>
              <a:buNone/>
            </a:pPr>
            <a:r>
              <a:rPr lang="en-US" sz="1500" dirty="0">
                <a:solidFill>
                  <a:schemeClr val="tx1"/>
                </a:solidFill>
              </a:rPr>
              <a:t>Mesaj taslağı ilanın hemen altında</a:t>
            </a:r>
            <a:endParaRPr lang="en-US" sz="1800" dirty="0"/>
          </a:p>
        </p:txBody>
      </p:sp>
      <p:sp>
        <p:nvSpPr>
          <p:cNvPr id="14" name="ikon-daire"/>
          <p:cNvSpPr/>
          <p:nvPr/>
        </p:nvSpPr>
        <p:spPr>
          <a:xfrm>
            <a:off x="548640" y="4855464"/>
            <a:ext cx="566928" cy="566928"/>
          </a:xfrm>
          <a:prstGeom prst="ellipse">
            <a:avLst/>
          </a:prstGeom>
          <a:solidFill>
            <a:schemeClr val="accent4"/>
          </a:solidFill>
          <a:ln/>
        </p:spPr>
      </p:sp>
      <p:pic>
        <p:nvPicPr>
          <p:cNvPr id="15" name="ikon" descr="preencoded.png">    </p:cNvPr>
          <p:cNvPicPr>
            <a:picLocks noChangeAspect="1"/>
          </p:cNvPicPr>
          <p:nvPr/>
        </p:nvPicPr>
        <p:blipFill>
          <a:blip r:embed="rId4"/>
          <a:stretch>
            <a:fillRect/>
          </a:stretch>
        </p:blipFill>
        <p:spPr>
          <a:xfrm>
            <a:off x="690372" y="4997196"/>
            <a:ext cx="283464" cy="283464"/>
          </a:xfrm>
          <a:prstGeom prst="rect">
            <a:avLst/>
          </a:prstGeom>
        </p:spPr>
      </p:pic>
      <p:sp>
        <p:nvSpPr>
          <p:cNvPr id="16" name="Text 9"/>
          <p:cNvSpPr txBox="1"/>
          <p:nvPr/>
        </p:nvSpPr>
        <p:spPr>
          <a:xfrm>
            <a:off x="1344168" y="4809744"/>
            <a:ext cx="4325112" cy="86868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Toplu mesaj yok</a:t>
            </a:r>
            <a:endParaRPr lang="en-US" sz="1800" dirty="0"/>
          </a:p>
          <a:p>
            <a:pPr indent="0" marL="0">
              <a:spcAft>
                <a:spcPts val="200"/>
              </a:spcAft>
              <a:buNone/>
            </a:pPr>
            <a:r>
              <a:rPr lang="en-US" sz="1500" dirty="0">
                <a:solidFill>
                  <a:schemeClr val="tx1"/>
                </a:solidFill>
              </a:rPr>
              <a:t>Her mesaj kişiye özel</a:t>
            </a:r>
            <a:endParaRPr lang="en-US" sz="1800" dirty="0"/>
          </a:p>
        </p:txBody>
      </p:sp>
      <p:sp>
        <p:nvSpPr>
          <p:cNvPr id="17" name="kart"/>
          <p:cNvSpPr/>
          <p:nvPr/>
        </p:nvSpPr>
        <p:spPr>
          <a:xfrm>
            <a:off x="6126480" y="1737360"/>
            <a:ext cx="5516575" cy="4114800"/>
          </a:xfrm>
          <a:prstGeom prst="roundRect">
            <a:avLst>
              <a:gd name="adj" fmla="val 1778"/>
            </a:avLst>
          </a:prstGeom>
          <a:solidFill>
            <a:schemeClr val="bg2"/>
          </a:solidFill>
          <a:ln/>
        </p:spPr>
      </p:sp>
      <p:sp>
        <p:nvSpPr>
          <p:cNvPr id="18" name="Text 11"/>
          <p:cNvSpPr txBox="1"/>
          <p:nvPr/>
        </p:nvSpPr>
        <p:spPr>
          <a:xfrm>
            <a:off x="6492240" y="1965960"/>
            <a:ext cx="4785055" cy="365760"/>
          </a:xfrm>
          <a:prstGeom prst="rect">
            <a:avLst/>
          </a:prstGeom>
          <a:noFill/>
          <a:ln/>
        </p:spPr>
        <p:txBody>
          <a:bodyPr wrap="square" lIns="0" tIns="0" rIns="0" bIns="0" rtlCol="0" anchor="ctr"/>
          <a:lstStyle/>
          <a:p>
            <a:pPr indent="0" marL="0">
              <a:buNone/>
            </a:pPr>
            <a:r>
              <a:rPr lang="en-US" sz="1400" b="1" spc="200" kern="0" dirty="0">
                <a:solidFill>
                  <a:schemeClr val="accent3"/>
                </a:solidFill>
              </a:rPr>
              <a:t>MESAJ ŞABLONU</a:t>
            </a:r>
            <a:endParaRPr lang="en-US" sz="1400" dirty="0"/>
          </a:p>
        </p:txBody>
      </p:sp>
      <p:sp>
        <p:nvSpPr>
          <p:cNvPr id="19" name="Text 12"/>
          <p:cNvSpPr txBox="1"/>
          <p:nvPr/>
        </p:nvSpPr>
        <p:spPr>
          <a:xfrm>
            <a:off x="6492240" y="2468880"/>
            <a:ext cx="4785055" cy="3108960"/>
          </a:xfrm>
          <a:prstGeom prst="rect">
            <a:avLst/>
          </a:prstGeom>
          <a:noFill/>
          <a:ln/>
        </p:spPr>
        <p:txBody>
          <a:bodyPr wrap="square" lIns="0" tIns="0" rIns="0" bIns="0" rtlCol="0" anchor="t"/>
          <a:lstStyle/>
          <a:p>
            <a:pPr indent="0" marL="0">
              <a:lnSpc>
                <a:spcPct val="115000"/>
              </a:lnSpc>
              <a:buNone/>
            </a:pPr>
            <a:r>
              <a:rPr lang="en-US" sz="2100" dirty="0">
                <a:solidFill>
                  <a:schemeClr val="tx1"/>
                </a:solidFill>
              </a:rPr>
              <a:t>Merhaba </a:t>
            </a:r>
            <a:pPr indent="0" marL="0">
              <a:lnSpc>
                <a:spcPct val="115000"/>
              </a:lnSpc>
              <a:buNone/>
            </a:pPr>
            <a:r>
              <a:rPr lang="en-US" sz="2100" b="1" dirty="0">
                <a:solidFill>
                  <a:schemeClr val="accent3"/>
                </a:solidFill>
              </a:rPr>
              <a:t>[Ad]</a:t>
            </a:r>
            <a:pPr indent="0" marL="0">
              <a:lnSpc>
                <a:spcPct val="115000"/>
              </a:lnSpc>
              <a:buNone/>
            </a:pPr>
            <a:r>
              <a:rPr lang="en-US" sz="2100" dirty="0">
                <a:solidFill>
                  <a:schemeClr val="tx1"/>
                </a:solidFill>
              </a:rPr>
              <a:t>, </a:t>
            </a:r>
            <a:pPr indent="0" marL="0">
              <a:lnSpc>
                <a:spcPct val="115000"/>
              </a:lnSpc>
              <a:buNone/>
            </a:pPr>
            <a:r>
              <a:rPr lang="en-US" sz="2100" b="1" dirty="0">
                <a:solidFill>
                  <a:schemeClr val="accent3"/>
                </a:solidFill>
              </a:rPr>
              <a:t>[Şirket]</a:t>
            </a:r>
            <a:pPr indent="0" marL="0">
              <a:lnSpc>
                <a:spcPct val="115000"/>
              </a:lnSpc>
              <a:buNone/>
            </a:pPr>
            <a:r>
              <a:rPr lang="en-US" sz="2100" dirty="0">
                <a:solidFill>
                  <a:schemeClr val="tx1"/>
                </a:solidFill>
              </a:rPr>
              <a:t>'in </a:t>
            </a:r>
            <a:pPr indent="0" marL="0">
              <a:lnSpc>
                <a:spcPct val="115000"/>
              </a:lnSpc>
              <a:buNone/>
            </a:pPr>
            <a:r>
              <a:rPr lang="en-US" sz="2100" b="1" dirty="0">
                <a:solidFill>
                  <a:schemeClr val="accent3"/>
                </a:solidFill>
              </a:rPr>
              <a:t>[ekip/ürün]</a:t>
            </a:r>
            <a:pPr indent="0" marL="0">
              <a:lnSpc>
                <a:spcPct val="115000"/>
              </a:lnSpc>
              <a:buNone/>
            </a:pPr>
            <a:r>
              <a:rPr lang="en-US" sz="2100" dirty="0">
                <a:solidFill>
                  <a:schemeClr val="tx1"/>
                </a:solidFill>
              </a:rPr>
              <a:t> çalışmalarını takip ediyorum. </a:t>
            </a:r>
            <a:pPr indent="0" marL="0">
              <a:lnSpc>
                <a:spcPct val="115000"/>
              </a:lnSpc>
              <a:buNone/>
            </a:pPr>
            <a:r>
              <a:rPr lang="en-US" sz="2100" b="1" dirty="0">
                <a:solidFill>
                  <a:schemeClr val="accent3"/>
                </a:solidFill>
              </a:rPr>
              <a:t>[İlgili tek somut deneyim]</a:t>
            </a:r>
            <a:pPr indent="0" marL="0">
              <a:lnSpc>
                <a:spcPct val="115000"/>
              </a:lnSpc>
              <a:buNone/>
            </a:pPr>
            <a:r>
              <a:rPr lang="en-US" sz="2100" dirty="0">
                <a:solidFill>
                  <a:schemeClr val="tx1"/>
                </a:solidFill>
              </a:rPr>
              <a:t>. </a:t>
            </a:r>
            <a:pPr indent="0" marL="0">
              <a:lnSpc>
                <a:spcPct val="115000"/>
              </a:lnSpc>
              <a:buNone/>
            </a:pPr>
            <a:r>
              <a:rPr lang="en-US" sz="2100" b="1" dirty="0">
                <a:solidFill>
                  <a:schemeClr val="accent3"/>
                </a:solidFill>
              </a:rPr>
              <a:t>[Rol]</a:t>
            </a:r>
            <a:pPr indent="0" marL="0">
              <a:lnSpc>
                <a:spcPct val="115000"/>
              </a:lnSpc>
              <a:buNone/>
            </a:pPr>
            <a:r>
              <a:rPr lang="en-US" sz="2100" dirty="0">
                <a:solidFill>
                  <a:schemeClr val="tx1"/>
                </a:solidFill>
              </a:rPr>
              <a:t> pozisyonları için CV'mi paylaşabilir miyim?</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04 · ARAÇ HARİTASI</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Açık Kaynak Araçlar</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468880"/>
                <a:gridCol w="1097280"/>
                <a:gridCol w="5788152"/>
                <a:gridCol w="1737360"/>
              </a:tblGrid>
              <a:tr h="457200">
                <a:tc>
                  <a:txBody>
                    <a:bodyPr/>
                    <a:lstStyle/>
                    <a:p>
                      <a:pPr indent="0" marL="0">
                        <a:buNone/>
                      </a:pPr>
                      <a:r>
                        <a:rPr lang="en-US" sz="1400" b="1" dirty="0">
                          <a:solidFill>
                            <a:schemeClr val="bg1"/>
                          </a:solidFill>
                        </a:rPr>
                        <a:t>Araç</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Tür</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Ne yapar</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Lisans</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r>
              <a:tr h="457200">
                <a:tc>
                  <a:txBody>
                    <a:bodyPr/>
                    <a:lstStyle/>
                    <a:p>
                      <a:pPr indent="0" marL="0">
                        <a:buNone/>
                      </a:pPr>
                      <a:r>
                        <a:rPr lang="en-US" sz="1400" dirty="0">
                          <a:solidFill>
                            <a:schemeClr val="tx1"/>
                          </a:solidFill>
                        </a:rPr>
                        <a:t>Reactive Resume</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Tarayıcıda CV editörü; self-host, JSON, YZ desteği</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RenderCV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YAML'dan PDF; CV'yi kod gibi yönet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MIT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JSON Resume</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Standart CV şeması ve CLI</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OpenResume</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CV oluşturucu ve ATS ayrıştırıcı</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AGPL-3.0</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Resume Matcher</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CV</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Yerel LLM ile ilan–CV uyumu</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Apache-2.0</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career-ops</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Ajan</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CLI ajanı: ilan tarar, 1-5 puanlar, CV uyarlar, takip eder</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MIT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ai-job-search</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Ajan</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 Code ile ilan değerlendirme, CV, ön yazı, mülakat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MIT</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accent4"/>
                          </a:solidFill>
                        </a:rPr>
                        <a:t>ApplyPilot ⚠</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Ajan</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Otomatik başvuru; platform koşullarını kontrol edin</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AGPL-3.0</a:t>
                      </a:r>
                      <a:endParaRPr lang="en-US" sz="14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chemeClr val="tx1"/>
                </a:solidFill>
              </a:rPr>
              <a:t>Ayrıntılar ve bağlantılar: sunum/kaynaklar.md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04 · ARAÇ HARİTASI</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Ücretli ve Freemium Servisler</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4480560"/>
                <a:gridCol w="4233672"/>
              </a:tblGrid>
              <a:tr h="566928">
                <a:tc>
                  <a:txBody>
                    <a:bodyPr/>
                    <a:lstStyle/>
                    <a:p>
                      <a:pPr indent="0" marL="0">
                        <a:buNone/>
                      </a:pPr>
                      <a:r>
                        <a:rPr lang="en-US" sz="1600" b="1" dirty="0">
                          <a:solidFill>
                            <a:schemeClr val="bg1"/>
                          </a:solidFill>
                        </a:rPr>
                        <a:t>Servis</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Ücretsiz</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Ücretli</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accent1"/>
                    </a:solidFill>
                  </a:tcPr>
                </a:tc>
              </a:tr>
              <a:tr h="566928">
                <a:tc>
                  <a:txBody>
                    <a:bodyPr/>
                    <a:lstStyle/>
                    <a:p>
                      <a:pPr indent="0" marL="0">
                        <a:buNone/>
                      </a:pPr>
                      <a:r>
                        <a:rPr lang="en-US" sz="1600" dirty="0">
                          <a:solidFill>
                            <a:schemeClr val="tx1"/>
                          </a:solidFill>
                        </a:rPr>
                        <a:t>Teal</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Sınırsız CV, iş takibi</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Teal+ 29 $/ay</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rPr>
                        <a:t>Jobscan</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Kayıtta 5 tarama</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49,95 $/ay</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rPr>
                        <a:t>Rezi</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 CV, 3 PDF</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29 $/ay veya 149 $ ömür boyu</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rPr>
                        <a:t>Kickresume</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Temel şablonlar</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8 $/ay (yıllık)</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rPr>
                        <a:t>Huntr</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İş takibi</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40 $/ay</a:t>
                      </a:r>
                      <a:endParaRPr lang="en-US" sz="1600" dirty="0"/>
                    </a:p>
                  </a:txBody>
                  <a:tcPr marL="127000" marR="127000" marT="50800" marB="50800" anchor="ctr">
                    <a:lnL w="6350" cap="flat" cmpd="sng" algn="ctr">
                      <a:solidFill>
                        <a:srgbClr val="D5DAE6"/>
                      </a:solidFill>
                      <a:prstDash val="solid"/>
                      <a:round/>
                      <a:headEnd type="none" w="med" len="med"/>
                      <a:tailEnd type="none" w="med" len="med"/>
                    </a:lnL>
                    <a:lnR w="6350" cap="flat" cmpd="sng" algn="ctr">
                      <a:solidFill>
                        <a:srgbClr val="D5DAE6"/>
                      </a:solidFill>
                      <a:prstDash val="solid"/>
                      <a:round/>
                      <a:headEnd type="none" w="med" len="med"/>
                      <a:tailEnd type="none" w="med" len="med"/>
                    </a:lnR>
                    <a:lnT w="6350" cap="flat" cmpd="sng" algn="ctr">
                      <a:solidFill>
                        <a:srgbClr val="D5DAE6"/>
                      </a:solidFill>
                      <a:prstDash val="solid"/>
                      <a:round/>
                      <a:headEnd type="none" w="med" len="med"/>
                      <a:tailEnd type="none" w="med" len="med"/>
                    </a:lnT>
                    <a:lnB w="6350" cap="flat" cmpd="sng" algn="ctr">
                      <a:solidFill>
                        <a:srgbClr val="D5DAE6"/>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623560"/>
            <a:ext cx="11094415" cy="411480"/>
          </a:xfrm>
          <a:prstGeom prst="rect">
            <a:avLst/>
          </a:prstGeom>
          <a:noFill/>
          <a:ln/>
        </p:spPr>
        <p:txBody>
          <a:bodyPr wrap="square" lIns="0" tIns="0" rIns="0" bIns="0" rtlCol="0" anchor="ctr"/>
          <a:lstStyle/>
          <a:p>
            <a:pPr indent="0" marL="0">
              <a:buNone/>
            </a:pPr>
            <a:r>
              <a:rPr lang="en-US" sz="1400" i="1" dirty="0">
                <a:solidFill>
                  <a:schemeClr val="tx1"/>
                </a:solidFill>
              </a:rPr>
              <a:t>Genel LLM'ler (ChatGPT, Claude, Gemini): ücretsiz katman mevcut. Fiyatlar Ekim 2026 itibarıyla; değişebilir.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04 · ARAÇ HARİTASI</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Hangi Araç Kime?</a:t>
            </a:r>
            <a:endParaRPr lang="en-US" sz="3400" dirty="0"/>
          </a:p>
        </p:txBody>
      </p:sp>
      <p:sp>
        <p:nvSpPr>
          <p:cNvPr id="5" name="kart"/>
          <p:cNvSpPr/>
          <p:nvPr/>
        </p:nvSpPr>
        <p:spPr>
          <a:xfrm>
            <a:off x="548640" y="1691640"/>
            <a:ext cx="5410048" cy="1874520"/>
          </a:xfrm>
          <a:prstGeom prst="roundRect">
            <a:avLst>
              <a:gd name="adj" fmla="val 3902"/>
            </a:avLst>
          </a:prstGeom>
          <a:solidFill>
            <a:schemeClr val="bg2"/>
          </a:solidFill>
          <a:ln/>
        </p:spPr>
      </p:sp>
      <p:sp>
        <p:nvSpPr>
          <p:cNvPr id="6" name="ikon-daire"/>
          <p:cNvSpPr/>
          <p:nvPr/>
        </p:nvSpPr>
        <p:spPr>
          <a:xfrm>
            <a:off x="868680" y="2011680"/>
            <a:ext cx="685800" cy="685800"/>
          </a:xfrm>
          <a:prstGeom prst="ellipse">
            <a:avLst/>
          </a:prstGeom>
          <a:solidFill>
            <a:schemeClr val="accent1"/>
          </a:solidFill>
          <a:ln/>
        </p:spPr>
      </p:sp>
      <p:pic>
        <p:nvPicPr>
          <p:cNvPr id="7" name="ikon" descr="preencoded.png">    </p:cNvPr>
          <p:cNvPicPr>
            <a:picLocks noChangeAspect="1"/>
          </p:cNvPicPr>
          <p:nvPr/>
        </p:nvPicPr>
        <p:blipFill>
          <a:blip r:embed="rId1"/>
          <a:stretch>
            <a:fillRect/>
          </a:stretch>
        </p:blipFill>
        <p:spPr>
          <a:xfrm>
            <a:off x="1040130" y="2183130"/>
            <a:ext cx="342900" cy="342900"/>
          </a:xfrm>
          <a:prstGeom prst="rect">
            <a:avLst/>
          </a:prstGeom>
        </p:spPr>
      </p:pic>
      <p:sp>
        <p:nvSpPr>
          <p:cNvPr id="8" name="Text 4"/>
          <p:cNvSpPr txBox="1"/>
          <p:nvPr/>
        </p:nvSpPr>
        <p:spPr>
          <a:xfrm>
            <a:off x="1783080" y="1965960"/>
            <a:ext cx="3947008" cy="141732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rPr>
              <a:t>Yeni başlıyorum</a:t>
            </a:r>
            <a:endParaRPr lang="en-US" sz="1900" dirty="0"/>
          </a:p>
          <a:p>
            <a:pPr indent="0" marL="0">
              <a:spcAft>
                <a:spcPts val="600"/>
              </a:spcAft>
              <a:buNone/>
            </a:pPr>
            <a:r>
              <a:rPr lang="en-US" sz="1500" dirty="0">
                <a:solidFill>
                  <a:schemeClr val="tx1"/>
                </a:solidFill>
              </a:rPr>
              <a:t>Ücretsiz LLM + Reactive Resume</a:t>
            </a:r>
            <a:endParaRPr lang="en-US" sz="1900" dirty="0"/>
          </a:p>
        </p:txBody>
      </p:sp>
      <p:sp>
        <p:nvSpPr>
          <p:cNvPr id="9" name="kart"/>
          <p:cNvSpPr/>
          <p:nvPr/>
        </p:nvSpPr>
        <p:spPr>
          <a:xfrm>
            <a:off x="6233008" y="1691640"/>
            <a:ext cx="5410048" cy="1874520"/>
          </a:xfrm>
          <a:prstGeom prst="roundRect">
            <a:avLst>
              <a:gd name="adj" fmla="val 3902"/>
            </a:avLst>
          </a:prstGeom>
          <a:solidFill>
            <a:schemeClr val="bg2"/>
          </a:solidFill>
          <a:ln/>
        </p:spPr>
      </p:sp>
      <p:sp>
        <p:nvSpPr>
          <p:cNvPr id="10" name="ikon-daire"/>
          <p:cNvSpPr/>
          <p:nvPr/>
        </p:nvSpPr>
        <p:spPr>
          <a:xfrm>
            <a:off x="6553048" y="2011680"/>
            <a:ext cx="685800" cy="685800"/>
          </a:xfrm>
          <a:prstGeom prst="ellipse">
            <a:avLst/>
          </a:prstGeom>
          <a:solidFill>
            <a:schemeClr val="accent1"/>
          </a:solidFill>
          <a:ln/>
        </p:spPr>
      </p:sp>
      <p:pic>
        <p:nvPicPr>
          <p:cNvPr id="11" name="ikon" descr="preencoded.png">    </p:cNvPr>
          <p:cNvPicPr>
            <a:picLocks noChangeAspect="1"/>
          </p:cNvPicPr>
          <p:nvPr/>
        </p:nvPicPr>
        <p:blipFill>
          <a:blip r:embed="rId2"/>
          <a:stretch>
            <a:fillRect/>
          </a:stretch>
        </p:blipFill>
        <p:spPr>
          <a:xfrm>
            <a:off x="6724498" y="2183130"/>
            <a:ext cx="342900" cy="342900"/>
          </a:xfrm>
          <a:prstGeom prst="rect">
            <a:avLst/>
          </a:prstGeom>
        </p:spPr>
      </p:pic>
      <p:sp>
        <p:nvSpPr>
          <p:cNvPr id="12" name="Text 7"/>
          <p:cNvSpPr txBox="1"/>
          <p:nvPr/>
        </p:nvSpPr>
        <p:spPr>
          <a:xfrm>
            <a:off x="7467448" y="1965960"/>
            <a:ext cx="3947008" cy="141732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rPr>
              <a:t>ATS'ye takılıyor muyum?</a:t>
            </a:r>
            <a:endParaRPr lang="en-US" sz="1900" dirty="0"/>
          </a:p>
          <a:p>
            <a:pPr indent="0" marL="0">
              <a:spcAft>
                <a:spcPts val="600"/>
              </a:spcAft>
              <a:buNone/>
            </a:pPr>
            <a:r>
              <a:rPr lang="en-US" sz="1500" dirty="0">
                <a:solidFill>
                  <a:schemeClr val="tx1"/>
                </a:solidFill>
              </a:rPr>
              <a:t>OpenResume ayrıştırıcı, Jobscan ücretsiz taramaları</a:t>
            </a:r>
            <a:endParaRPr lang="en-US" sz="1900" dirty="0"/>
          </a:p>
        </p:txBody>
      </p:sp>
      <p:sp>
        <p:nvSpPr>
          <p:cNvPr id="13" name="kart"/>
          <p:cNvSpPr/>
          <p:nvPr/>
        </p:nvSpPr>
        <p:spPr>
          <a:xfrm>
            <a:off x="548640" y="3840480"/>
            <a:ext cx="5410048" cy="1874520"/>
          </a:xfrm>
          <a:prstGeom prst="roundRect">
            <a:avLst>
              <a:gd name="adj" fmla="val 3902"/>
            </a:avLst>
          </a:prstGeom>
          <a:solidFill>
            <a:schemeClr val="bg2"/>
          </a:solidFill>
          <a:ln/>
        </p:spPr>
      </p:sp>
      <p:sp>
        <p:nvSpPr>
          <p:cNvPr id="14" name="ikon-daire"/>
          <p:cNvSpPr/>
          <p:nvPr/>
        </p:nvSpPr>
        <p:spPr>
          <a:xfrm>
            <a:off x="868680" y="4160520"/>
            <a:ext cx="685800" cy="685800"/>
          </a:xfrm>
          <a:prstGeom prst="ellipse">
            <a:avLst/>
          </a:prstGeom>
          <a:solidFill>
            <a:schemeClr val="accent1"/>
          </a:solidFill>
          <a:ln/>
        </p:spPr>
      </p:sp>
      <p:pic>
        <p:nvPicPr>
          <p:cNvPr id="15" name="ikon" descr="preencoded.png">    </p:cNvPr>
          <p:cNvPicPr>
            <a:picLocks noChangeAspect="1"/>
          </p:cNvPicPr>
          <p:nvPr/>
        </p:nvPicPr>
        <p:blipFill>
          <a:blip r:embed="rId3"/>
          <a:stretch>
            <a:fillRect/>
          </a:stretch>
        </p:blipFill>
        <p:spPr>
          <a:xfrm>
            <a:off x="1040130" y="4331970"/>
            <a:ext cx="342900" cy="342900"/>
          </a:xfrm>
          <a:prstGeom prst="rect">
            <a:avLst/>
          </a:prstGeom>
        </p:spPr>
      </p:pic>
      <p:sp>
        <p:nvSpPr>
          <p:cNvPr id="16" name="Text 10"/>
          <p:cNvSpPr txBox="1"/>
          <p:nvPr/>
        </p:nvSpPr>
        <p:spPr>
          <a:xfrm>
            <a:off x="1783080" y="4114800"/>
            <a:ext cx="3947008" cy="141732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rPr>
              <a:t>Çok başvuru, takip zor</a:t>
            </a:r>
            <a:endParaRPr lang="en-US" sz="1900" dirty="0"/>
          </a:p>
          <a:p>
            <a:pPr indent="0" marL="0">
              <a:spcAft>
                <a:spcPts val="600"/>
              </a:spcAft>
              <a:buNone/>
            </a:pPr>
            <a:r>
              <a:rPr lang="en-US" sz="1500" dirty="0">
                <a:solidFill>
                  <a:schemeClr val="tx1"/>
                </a:solidFill>
              </a:rPr>
              <a:t>Huntr veya Teal ücretsiz katmanı</a:t>
            </a:r>
            <a:endParaRPr lang="en-US" sz="1900" dirty="0"/>
          </a:p>
        </p:txBody>
      </p:sp>
      <p:sp>
        <p:nvSpPr>
          <p:cNvPr id="17" name="kart"/>
          <p:cNvSpPr/>
          <p:nvPr/>
        </p:nvSpPr>
        <p:spPr>
          <a:xfrm>
            <a:off x="6233008" y="3840480"/>
            <a:ext cx="5410048" cy="1874520"/>
          </a:xfrm>
          <a:prstGeom prst="roundRect">
            <a:avLst>
              <a:gd name="adj" fmla="val 3902"/>
            </a:avLst>
          </a:prstGeom>
          <a:solidFill>
            <a:schemeClr val="bg2"/>
          </a:solidFill>
          <a:ln/>
        </p:spPr>
      </p:sp>
      <p:sp>
        <p:nvSpPr>
          <p:cNvPr id="18" name="ikon-daire"/>
          <p:cNvSpPr/>
          <p:nvPr/>
        </p:nvSpPr>
        <p:spPr>
          <a:xfrm>
            <a:off x="6553048" y="4160520"/>
            <a:ext cx="685800" cy="685800"/>
          </a:xfrm>
          <a:prstGeom prst="ellipse">
            <a:avLst/>
          </a:prstGeom>
          <a:solidFill>
            <a:schemeClr val="accent1"/>
          </a:solidFill>
          <a:ln/>
        </p:spPr>
      </p:sp>
      <p:pic>
        <p:nvPicPr>
          <p:cNvPr id="19" name="ikon" descr="preencoded.png">    </p:cNvPr>
          <p:cNvPicPr>
            <a:picLocks noChangeAspect="1"/>
          </p:cNvPicPr>
          <p:nvPr/>
        </p:nvPicPr>
        <p:blipFill>
          <a:blip r:embed="rId4"/>
          <a:stretch>
            <a:fillRect/>
          </a:stretch>
        </p:blipFill>
        <p:spPr>
          <a:xfrm>
            <a:off x="6724498" y="4331970"/>
            <a:ext cx="342900" cy="342900"/>
          </a:xfrm>
          <a:prstGeom prst="rect">
            <a:avLst/>
          </a:prstGeom>
        </p:spPr>
      </p:pic>
      <p:sp>
        <p:nvSpPr>
          <p:cNvPr id="20" name="Text 13"/>
          <p:cNvSpPr txBox="1"/>
          <p:nvPr/>
        </p:nvSpPr>
        <p:spPr>
          <a:xfrm>
            <a:off x="7467448" y="4114800"/>
            <a:ext cx="3947008" cy="141732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rPr>
              <a:t>Geliştiriciyim, kontrol bende olsun</a:t>
            </a:r>
            <a:endParaRPr lang="en-US" sz="1900" dirty="0"/>
          </a:p>
          <a:p>
            <a:pPr indent="0" marL="0">
              <a:spcAft>
                <a:spcPts val="600"/>
              </a:spcAft>
              <a:buNone/>
            </a:pPr>
            <a:r>
              <a:rPr lang="en-US" sz="1500" dirty="0">
                <a:solidFill>
                  <a:schemeClr val="tx1"/>
                </a:solidFill>
              </a:rPr>
              <a:t>RenderCV veya LaTeX + Git + ajan (career-ops, ai-job-search ya da kendi AGENTS.md dosyan)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KAPANIŞ</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Riskler ve Etik</a:t>
            </a:r>
            <a:endParaRPr lang="en-US" sz="3400" dirty="0"/>
          </a:p>
        </p:txBody>
      </p:sp>
      <p:sp>
        <p:nvSpPr>
          <p:cNvPr id="5" name="ikon-daire"/>
          <p:cNvSpPr/>
          <p:nvPr/>
        </p:nvSpPr>
        <p:spPr>
          <a:xfrm>
            <a:off x="548640" y="1737360"/>
            <a:ext cx="566928" cy="566928"/>
          </a:xfrm>
          <a:prstGeom prst="ellipse">
            <a:avLst/>
          </a:prstGeom>
          <a:solidFill>
            <a:schemeClr val="accent4"/>
          </a:solidFill>
          <a:ln/>
        </p:spPr>
      </p:sp>
      <p:pic>
        <p:nvPicPr>
          <p:cNvPr id="6" name="ikon" descr="preencoded.png">    </p:cNvPr>
          <p:cNvPicPr>
            <a:picLocks noChangeAspect="1"/>
          </p:cNvPicPr>
          <p:nvPr/>
        </p:nvPicPr>
        <p:blipFill>
          <a:blip r:embed="rId1"/>
          <a:stretch>
            <a:fillRect/>
          </a:stretch>
        </p:blipFill>
        <p:spPr>
          <a:xfrm>
            <a:off x="690372" y="1879092"/>
            <a:ext cx="283464" cy="283464"/>
          </a:xfrm>
          <a:prstGeom prst="rect">
            <a:avLst/>
          </a:prstGeom>
        </p:spPr>
      </p:pic>
      <p:sp>
        <p:nvSpPr>
          <p:cNvPr id="7" name="Text 3"/>
          <p:cNvSpPr txBox="1"/>
          <p:nvPr/>
        </p:nvSpPr>
        <p:spPr>
          <a:xfrm>
            <a:off x="1344168" y="1691640"/>
            <a:ext cx="6428232" cy="96012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Halüsinasyon</a:t>
            </a:r>
            <a:endParaRPr lang="en-US" sz="1800" dirty="0"/>
          </a:p>
          <a:p>
            <a:pPr indent="0" marL="0">
              <a:spcAft>
                <a:spcPts val="200"/>
              </a:spcAft>
              <a:buNone/>
            </a:pPr>
            <a:r>
              <a:rPr lang="en-US" sz="1500" dirty="0">
                <a:solidFill>
                  <a:schemeClr val="tx1"/>
                </a:solidFill>
              </a:rPr>
              <a:t>LLM olmayan deneyim veya sayı ekleyebilir; her maddeyi doğrula</a:t>
            </a:r>
            <a:endParaRPr lang="en-US" sz="1800" dirty="0"/>
          </a:p>
        </p:txBody>
      </p:sp>
      <p:sp>
        <p:nvSpPr>
          <p:cNvPr id="8" name="ikon-daire"/>
          <p:cNvSpPr/>
          <p:nvPr/>
        </p:nvSpPr>
        <p:spPr>
          <a:xfrm>
            <a:off x="548640" y="2816352"/>
            <a:ext cx="566928" cy="566928"/>
          </a:xfrm>
          <a:prstGeom prst="ellipse">
            <a:avLst/>
          </a:prstGeom>
          <a:solidFill>
            <a:schemeClr val="accent4"/>
          </a:solidFill>
          <a:ln/>
        </p:spPr>
      </p:sp>
      <p:pic>
        <p:nvPicPr>
          <p:cNvPr id="9" name="ikon" descr="preencoded.png">    </p:cNvPr>
          <p:cNvPicPr>
            <a:picLocks noChangeAspect="1"/>
          </p:cNvPicPr>
          <p:nvPr/>
        </p:nvPicPr>
        <p:blipFill>
          <a:blip r:embed="rId2"/>
          <a:stretch>
            <a:fillRect/>
          </a:stretch>
        </p:blipFill>
        <p:spPr>
          <a:xfrm>
            <a:off x="690372" y="2958084"/>
            <a:ext cx="283464" cy="283464"/>
          </a:xfrm>
          <a:prstGeom prst="rect">
            <a:avLst/>
          </a:prstGeom>
        </p:spPr>
      </p:pic>
      <p:sp>
        <p:nvSpPr>
          <p:cNvPr id="10" name="Text 5"/>
          <p:cNvSpPr txBox="1"/>
          <p:nvPr/>
        </p:nvSpPr>
        <p:spPr>
          <a:xfrm>
            <a:off x="1344168" y="2770632"/>
            <a:ext cx="6428232" cy="96012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Kişisel veri (KVKK)</a:t>
            </a:r>
            <a:endParaRPr lang="en-US" sz="1800" dirty="0"/>
          </a:p>
          <a:p>
            <a:pPr indent="0" marL="0">
              <a:spcAft>
                <a:spcPts val="200"/>
              </a:spcAft>
              <a:buNone/>
            </a:pPr>
            <a:r>
              <a:rPr lang="en-US" sz="1500" dirty="0">
                <a:solidFill>
                  <a:schemeClr val="tx1"/>
                </a:solidFill>
              </a:rPr>
              <a:t>Telefon, adres, kimlik bilgisini bulut LLM'e yükleme; maskele veya yerel model kullan</a:t>
            </a:r>
            <a:endParaRPr lang="en-US" sz="1800" dirty="0"/>
          </a:p>
        </p:txBody>
      </p:sp>
      <p:sp>
        <p:nvSpPr>
          <p:cNvPr id="11" name="ikon-daire"/>
          <p:cNvSpPr/>
          <p:nvPr/>
        </p:nvSpPr>
        <p:spPr>
          <a:xfrm>
            <a:off x="548640" y="3895344"/>
            <a:ext cx="566928" cy="566928"/>
          </a:xfrm>
          <a:prstGeom prst="ellipse">
            <a:avLst/>
          </a:prstGeom>
          <a:solidFill>
            <a:schemeClr val="accent4"/>
          </a:solidFill>
          <a:ln/>
        </p:spPr>
      </p:sp>
      <p:pic>
        <p:nvPicPr>
          <p:cNvPr id="12" name="ikon" descr="preencoded.png">    </p:cNvPr>
          <p:cNvPicPr>
            <a:picLocks noChangeAspect="1"/>
          </p:cNvPicPr>
          <p:nvPr/>
        </p:nvPicPr>
        <p:blipFill>
          <a:blip r:embed="rId3"/>
          <a:stretch>
            <a:fillRect/>
          </a:stretch>
        </p:blipFill>
        <p:spPr>
          <a:xfrm>
            <a:off x="690372" y="4037076"/>
            <a:ext cx="283464" cy="283464"/>
          </a:xfrm>
          <a:prstGeom prst="rect">
            <a:avLst/>
          </a:prstGeom>
        </p:spPr>
      </p:pic>
      <p:sp>
        <p:nvSpPr>
          <p:cNvPr id="13" name="Text 7"/>
          <p:cNvSpPr txBox="1"/>
          <p:nvPr/>
        </p:nvSpPr>
        <p:spPr>
          <a:xfrm>
            <a:off x="1344168" y="3849624"/>
            <a:ext cx="6428232" cy="96012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Otomatik toplu başvuru</a:t>
            </a:r>
            <a:endParaRPr lang="en-US" sz="1800" dirty="0"/>
          </a:p>
          <a:p>
            <a:pPr indent="0" marL="0">
              <a:spcAft>
                <a:spcPts val="200"/>
              </a:spcAft>
              <a:buNone/>
            </a:pPr>
            <a:r>
              <a:rPr lang="en-US" sz="1500" dirty="0">
                <a:solidFill>
                  <a:schemeClr val="tx1"/>
                </a:solidFill>
              </a:rPr>
              <a:t>Platform koşullarını ihlal edebilir, hesap kısıtlanabilir</a:t>
            </a:r>
            <a:endParaRPr lang="en-US" sz="1800" dirty="0"/>
          </a:p>
        </p:txBody>
      </p:sp>
      <p:sp>
        <p:nvSpPr>
          <p:cNvPr id="14" name="ikon-daire"/>
          <p:cNvSpPr/>
          <p:nvPr/>
        </p:nvSpPr>
        <p:spPr>
          <a:xfrm>
            <a:off x="548640" y="4974336"/>
            <a:ext cx="566928" cy="566928"/>
          </a:xfrm>
          <a:prstGeom prst="ellipse">
            <a:avLst/>
          </a:prstGeom>
          <a:solidFill>
            <a:schemeClr val="accent4"/>
          </a:solidFill>
          <a:ln/>
        </p:spPr>
      </p:sp>
      <p:pic>
        <p:nvPicPr>
          <p:cNvPr id="15" name="ikon" descr="preencoded.png">    </p:cNvPr>
          <p:cNvPicPr>
            <a:picLocks noChangeAspect="1"/>
          </p:cNvPicPr>
          <p:nvPr/>
        </p:nvPicPr>
        <p:blipFill>
          <a:blip r:embed="rId4"/>
          <a:stretch>
            <a:fillRect/>
          </a:stretch>
        </p:blipFill>
        <p:spPr>
          <a:xfrm>
            <a:off x="690372" y="5116068"/>
            <a:ext cx="283464" cy="283464"/>
          </a:xfrm>
          <a:prstGeom prst="rect">
            <a:avLst/>
          </a:prstGeom>
        </p:spPr>
      </p:pic>
      <p:sp>
        <p:nvSpPr>
          <p:cNvPr id="16" name="Text 9"/>
          <p:cNvSpPr txBox="1"/>
          <p:nvPr/>
        </p:nvSpPr>
        <p:spPr>
          <a:xfrm>
            <a:off x="1344168" y="4928616"/>
            <a:ext cx="6428232" cy="960120"/>
          </a:xfrm>
          <a:prstGeom prst="rect">
            <a:avLst/>
          </a:prstGeom>
          <a:noFill/>
          <a:ln/>
        </p:spPr>
        <p:txBody>
          <a:bodyPr wrap="square" lIns="0" tIns="0" rIns="0" bIns="0" rtlCol="0" anchor="t"/>
          <a:lstStyle/>
          <a:p>
            <a:pPr indent="0" marL="0">
              <a:spcAft>
                <a:spcPts val="200"/>
              </a:spcAft>
              <a:buNone/>
            </a:pPr>
            <a:r>
              <a:rPr lang="en-US" sz="1800" b="1" dirty="0">
                <a:solidFill>
                  <a:schemeClr val="tx2"/>
                </a:solidFill>
              </a:rPr>
              <a:t>"YZ kokan" metin</a:t>
            </a:r>
            <a:endParaRPr lang="en-US" sz="1800" dirty="0"/>
          </a:p>
          <a:p>
            <a:pPr indent="0" marL="0">
              <a:spcAft>
                <a:spcPts val="200"/>
              </a:spcAft>
              <a:buNone/>
            </a:pPr>
            <a:r>
              <a:rPr lang="en-US" sz="1500" dirty="0">
                <a:solidFill>
                  <a:schemeClr val="tx1"/>
                </a:solidFill>
              </a:rPr>
              <a:t>Kalıp ifadeler, abartılı sıfatlar; kendi sesini koru</a:t>
            </a:r>
            <a:endParaRPr lang="en-US" sz="1800" dirty="0"/>
          </a:p>
        </p:txBody>
      </p:sp>
      <p:sp>
        <p:nvSpPr>
          <p:cNvPr id="17" name="son-karar"/>
          <p:cNvSpPr/>
          <p:nvPr/>
        </p:nvSpPr>
        <p:spPr>
          <a:xfrm>
            <a:off x="8138160" y="1691640"/>
            <a:ext cx="3504895" cy="4160520"/>
          </a:xfrm>
          <a:prstGeom prst="roundRect">
            <a:avLst>
              <a:gd name="adj" fmla="val 2087"/>
            </a:avLst>
          </a:prstGeom>
          <a:solidFill>
            <a:schemeClr val="accent1"/>
          </a:solidFill>
          <a:ln/>
        </p:spPr>
      </p:sp>
      <p:sp>
        <p:nvSpPr>
          <p:cNvPr id="18" name="ikon-daire"/>
          <p:cNvSpPr/>
          <p:nvPr/>
        </p:nvSpPr>
        <p:spPr>
          <a:xfrm>
            <a:off x="9341968" y="2194560"/>
            <a:ext cx="1097280" cy="1097280"/>
          </a:xfrm>
          <a:prstGeom prst="ellipse">
            <a:avLst/>
          </a:prstGeom>
          <a:solidFill>
            <a:schemeClr val="accent2"/>
          </a:solidFill>
          <a:ln/>
        </p:spPr>
      </p:sp>
      <p:pic>
        <p:nvPicPr>
          <p:cNvPr id="19" name="ikon" descr="preencoded.png">    </p:cNvPr>
          <p:cNvPicPr>
            <a:picLocks noChangeAspect="1"/>
          </p:cNvPicPr>
          <p:nvPr/>
        </p:nvPicPr>
        <p:blipFill>
          <a:blip r:embed="rId5"/>
          <a:stretch>
            <a:fillRect/>
          </a:stretch>
        </p:blipFill>
        <p:spPr>
          <a:xfrm>
            <a:off x="9616288" y="2468880"/>
            <a:ext cx="548640" cy="548640"/>
          </a:xfrm>
          <a:prstGeom prst="rect">
            <a:avLst/>
          </a:prstGeom>
        </p:spPr>
      </p:pic>
      <p:sp>
        <p:nvSpPr>
          <p:cNvPr id="20" name="Text 12"/>
          <p:cNvSpPr txBox="1"/>
          <p:nvPr/>
        </p:nvSpPr>
        <p:spPr>
          <a:xfrm>
            <a:off x="8412480" y="3566160"/>
            <a:ext cx="2956255" cy="1828800"/>
          </a:xfrm>
          <a:prstGeom prst="rect">
            <a:avLst/>
          </a:prstGeom>
          <a:noFill/>
          <a:ln/>
        </p:spPr>
        <p:txBody>
          <a:bodyPr wrap="square" lIns="0" tIns="0" rIns="0" bIns="0" rtlCol="0" anchor="t"/>
          <a:lstStyle/>
          <a:p>
            <a:pPr algn="ctr" indent="0" marL="0">
              <a:spcAft>
                <a:spcPts val="800"/>
              </a:spcAft>
              <a:buNone/>
            </a:pPr>
            <a:r>
              <a:rPr lang="en-US" sz="2400" b="1" dirty="0">
                <a:solidFill>
                  <a:schemeClr val="bg1"/>
                </a:solidFill>
              </a:rPr>
              <a:t>Son karar insanda</a:t>
            </a:r>
            <a:endParaRPr lang="en-US" sz="2400" dirty="0"/>
          </a:p>
          <a:p>
            <a:pPr algn="ctr" indent="0" marL="0">
              <a:spcAft>
                <a:spcPts val="800"/>
              </a:spcAft>
              <a:buNone/>
            </a:pPr>
            <a:r>
              <a:rPr lang="en-US" sz="1600" dirty="0">
                <a:solidFill>
                  <a:schemeClr val="bg2"/>
                </a:solidFill>
              </a:rPr>
              <a:t>Ajan önerir, siz onaylarsınız.</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548640" y="320040"/>
            <a:ext cx="877824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KAPANIŞ</a:t>
            </a:r>
            <a:endParaRPr lang="en-US" sz="1300" dirty="0"/>
          </a:p>
        </p:txBody>
      </p:sp>
      <p:sp>
        <p:nvSpPr>
          <p:cNvPr id="3" name="Text 0"/>
          <p:cNvSpPr/>
          <p:nvPr>
            <p:ph idx="102" type="title" hasCustomPrompt="1"/>
          </p:nvPr>
        </p:nvSpPr>
        <p:spPr>
          <a:xfrm>
            <a:off x="548640" y="658368"/>
            <a:ext cx="9052560" cy="731520"/>
          </a:xfrm>
          <a:prstGeom prst="rect">
            <a:avLst/>
          </a:prstGeom>
          <a:noFill/>
          <a:ln/>
        </p:spPr>
        <p:txBody>
          <a:bodyPr wrap="square" lIns="0" tIns="0" rIns="0" bIns="0" rtlCol="0" anchor="t"/>
          <a:lstStyle/>
          <a:p>
            <a:pPr algn="l" indent="0" marL="0">
              <a:buNone/>
            </a:pPr>
            <a:r>
              <a:rPr lang="en-US" sz="3400" b="1" dirty="0">
                <a:solidFill>
                  <a:schemeClr val="tx2"/>
                </a:solidFill>
              </a:rPr>
              <a:t>Bugün Başlayın</a:t>
            </a:r>
            <a:endParaRPr lang="en-US" sz="3400" dirty="0"/>
          </a:p>
        </p:txBody>
      </p:sp>
      <p:sp>
        <p:nvSpPr>
          <p:cNvPr id="5" name="zaman-cizgisi"/>
          <p:cNvSpPr/>
          <p:nvPr/>
        </p:nvSpPr>
        <p:spPr>
          <a:xfrm>
            <a:off x="1658082" y="2514600"/>
            <a:ext cx="8875532" cy="0"/>
          </a:xfrm>
          <a:prstGeom prst="line">
            <a:avLst/>
          </a:prstGeom>
          <a:noFill/>
          <a:ln w="25400">
            <a:solidFill>
              <a:schemeClr val="accent2"/>
            </a:solidFill>
            <a:prstDash val="solid"/>
          </a:ln>
        </p:spPr>
      </p:sp>
      <p:sp>
        <p:nvSpPr>
          <p:cNvPr id="6" name="Shape 3"/>
          <p:cNvSpPr/>
          <p:nvPr/>
        </p:nvSpPr>
        <p:spPr>
          <a:xfrm>
            <a:off x="1246602" y="2103120"/>
            <a:ext cx="822960" cy="822960"/>
          </a:xfrm>
          <a:prstGeom prst="ellipse">
            <a:avLst/>
          </a:prstGeom>
          <a:solidFill>
            <a:schemeClr val="accent2"/>
          </a:solidFill>
          <a:ln w="38100">
            <a:solidFill>
              <a:schemeClr val="bg1"/>
            </a:solidFill>
            <a:prstDash val="solid"/>
          </a:ln>
        </p:spPr>
      </p:sp>
      <p:sp>
        <p:nvSpPr>
          <p:cNvPr id="7" name="Text 4"/>
          <p:cNvSpPr txBox="1"/>
          <p:nvPr/>
        </p:nvSpPr>
        <p:spPr>
          <a:xfrm>
            <a:off x="1246602" y="210312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8" name="Text 5"/>
          <p:cNvSpPr txBox="1"/>
          <p:nvPr/>
        </p:nvSpPr>
        <p:spPr>
          <a:xfrm>
            <a:off x="658368" y="3200400"/>
            <a:ext cx="1999427" cy="1920240"/>
          </a:xfrm>
          <a:prstGeom prst="rect">
            <a:avLst/>
          </a:prstGeom>
          <a:noFill/>
          <a:ln/>
        </p:spPr>
        <p:txBody>
          <a:bodyPr wrap="square" lIns="0" tIns="0" rIns="0" bIns="0" rtlCol="0" anchor="t"/>
          <a:lstStyle/>
          <a:p>
            <a:pPr algn="ctr" indent="0" marL="0">
              <a:spcAft>
                <a:spcPts val="600"/>
              </a:spcAft>
              <a:buNone/>
            </a:pPr>
            <a:r>
              <a:rPr lang="en-US" sz="1900" b="1" dirty="0">
                <a:solidFill>
                  <a:schemeClr val="tx2"/>
                </a:solidFill>
              </a:rPr>
              <a:t>Tek kaynak</a:t>
            </a:r>
            <a:endParaRPr lang="en-US" sz="1900" dirty="0"/>
          </a:p>
          <a:p>
            <a:pPr algn="ctr" indent="0" marL="0">
              <a:spcAft>
                <a:spcPts val="600"/>
              </a:spcAft>
              <a:buNone/>
            </a:pPr>
            <a:r>
              <a:rPr lang="en-US" sz="1500" dirty="0">
                <a:solidFill>
                  <a:schemeClr val="tx1"/>
                </a:solidFill>
              </a:rPr>
              <a:t>Tüm deneyim ve projeleri YAML veya JSON dosyasında topla</a:t>
            </a:r>
            <a:endParaRPr lang="en-US" sz="1900" dirty="0"/>
          </a:p>
        </p:txBody>
      </p:sp>
      <p:sp>
        <p:nvSpPr>
          <p:cNvPr id="9" name="Shape 6"/>
          <p:cNvSpPr/>
          <p:nvPr/>
        </p:nvSpPr>
        <p:spPr>
          <a:xfrm>
            <a:off x="3465485" y="2103120"/>
            <a:ext cx="822960" cy="822960"/>
          </a:xfrm>
          <a:prstGeom prst="ellipse">
            <a:avLst/>
          </a:prstGeom>
          <a:solidFill>
            <a:schemeClr val="accent1"/>
          </a:solidFill>
          <a:ln w="38100">
            <a:solidFill>
              <a:schemeClr val="bg1"/>
            </a:solidFill>
            <a:prstDash val="solid"/>
          </a:ln>
        </p:spPr>
      </p:sp>
      <p:sp>
        <p:nvSpPr>
          <p:cNvPr id="10" name="Text 7"/>
          <p:cNvSpPr txBox="1"/>
          <p:nvPr/>
        </p:nvSpPr>
        <p:spPr>
          <a:xfrm>
            <a:off x="3465485" y="210312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1" name="Text 8"/>
          <p:cNvSpPr txBox="1"/>
          <p:nvPr/>
        </p:nvSpPr>
        <p:spPr>
          <a:xfrm>
            <a:off x="2877251" y="3200400"/>
            <a:ext cx="1999427" cy="1920240"/>
          </a:xfrm>
          <a:prstGeom prst="rect">
            <a:avLst/>
          </a:prstGeom>
          <a:noFill/>
          <a:ln/>
        </p:spPr>
        <p:txBody>
          <a:bodyPr wrap="square" lIns="0" tIns="0" rIns="0" bIns="0" rtlCol="0" anchor="t"/>
          <a:lstStyle/>
          <a:p>
            <a:pPr algn="ctr" indent="0" marL="0">
              <a:spcAft>
                <a:spcPts val="600"/>
              </a:spcAft>
              <a:buNone/>
            </a:pPr>
            <a:r>
              <a:rPr lang="en-US" sz="1900" b="1" dirty="0">
                <a:solidFill>
                  <a:schemeClr val="tx2"/>
                </a:solidFill>
              </a:rPr>
              <a:t>Şablon</a:t>
            </a:r>
            <a:endParaRPr lang="en-US" sz="1900" dirty="0"/>
          </a:p>
          <a:p>
            <a:pPr algn="ctr" indent="0" marL="0">
              <a:spcAft>
                <a:spcPts val="600"/>
              </a:spcAft>
              <a:buNone/>
            </a:pPr>
            <a:r>
              <a:rPr lang="en-US" sz="1500" dirty="0">
                <a:solidFill>
                  <a:schemeClr val="tx1"/>
                </a:solidFill>
              </a:rPr>
              <a:t>ATS uyumlu tek sütun: LaTeX, RenderCV, Reactive Resume</a:t>
            </a:r>
            <a:endParaRPr lang="en-US" sz="1900" dirty="0"/>
          </a:p>
        </p:txBody>
      </p:sp>
      <p:sp>
        <p:nvSpPr>
          <p:cNvPr id="12" name="Shape 9"/>
          <p:cNvSpPr/>
          <p:nvPr/>
        </p:nvSpPr>
        <p:spPr>
          <a:xfrm>
            <a:off x="5684368" y="2103120"/>
            <a:ext cx="822960" cy="822960"/>
          </a:xfrm>
          <a:prstGeom prst="ellipse">
            <a:avLst/>
          </a:prstGeom>
          <a:solidFill>
            <a:schemeClr val="accent1"/>
          </a:solidFill>
          <a:ln w="38100">
            <a:solidFill>
              <a:schemeClr val="bg1"/>
            </a:solidFill>
            <a:prstDash val="solid"/>
          </a:ln>
        </p:spPr>
      </p:sp>
      <p:sp>
        <p:nvSpPr>
          <p:cNvPr id="13" name="Text 10"/>
          <p:cNvSpPr txBox="1"/>
          <p:nvPr/>
        </p:nvSpPr>
        <p:spPr>
          <a:xfrm>
            <a:off x="5684368" y="210312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4" name="Text 11"/>
          <p:cNvSpPr txBox="1"/>
          <p:nvPr/>
        </p:nvSpPr>
        <p:spPr>
          <a:xfrm>
            <a:off x="5096134" y="3200400"/>
            <a:ext cx="1999427" cy="1920240"/>
          </a:xfrm>
          <a:prstGeom prst="rect">
            <a:avLst/>
          </a:prstGeom>
          <a:noFill/>
          <a:ln/>
        </p:spPr>
        <p:txBody>
          <a:bodyPr wrap="square" lIns="0" tIns="0" rIns="0" bIns="0" rtlCol="0" anchor="t"/>
          <a:lstStyle/>
          <a:p>
            <a:pPr algn="ctr" indent="0" marL="0">
              <a:spcAft>
                <a:spcPts val="600"/>
              </a:spcAft>
              <a:buNone/>
            </a:pPr>
            <a:r>
              <a:rPr lang="en-US" sz="1900" b="1" dirty="0">
                <a:solidFill>
                  <a:schemeClr val="tx2"/>
                </a:solidFill>
              </a:rPr>
              <a:t>Alan CV'leri</a:t>
            </a:r>
            <a:endParaRPr lang="en-US" sz="1900" dirty="0"/>
          </a:p>
          <a:p>
            <a:pPr algn="ctr" indent="0" marL="0">
              <a:spcAft>
                <a:spcPts val="600"/>
              </a:spcAft>
              <a:buNone/>
            </a:pPr>
            <a:r>
              <a:rPr lang="en-US" sz="1500" dirty="0">
                <a:solidFill>
                  <a:schemeClr val="tx1"/>
                </a:solidFill>
              </a:rPr>
              <a:t>Hedef rollerine göre 2-4 alan CV'si çıkar</a:t>
            </a:r>
            <a:endParaRPr lang="en-US" sz="1900" dirty="0"/>
          </a:p>
        </p:txBody>
      </p:sp>
      <p:sp>
        <p:nvSpPr>
          <p:cNvPr id="15" name="Shape 12"/>
          <p:cNvSpPr/>
          <p:nvPr/>
        </p:nvSpPr>
        <p:spPr>
          <a:xfrm>
            <a:off x="7903251" y="2103120"/>
            <a:ext cx="822960" cy="822960"/>
          </a:xfrm>
          <a:prstGeom prst="ellipse">
            <a:avLst/>
          </a:prstGeom>
          <a:solidFill>
            <a:schemeClr val="accent1"/>
          </a:solidFill>
          <a:ln w="38100">
            <a:solidFill>
              <a:schemeClr val="bg1"/>
            </a:solidFill>
            <a:prstDash val="solid"/>
          </a:ln>
        </p:spPr>
      </p:sp>
      <p:sp>
        <p:nvSpPr>
          <p:cNvPr id="16" name="Text 13"/>
          <p:cNvSpPr txBox="1"/>
          <p:nvPr/>
        </p:nvSpPr>
        <p:spPr>
          <a:xfrm>
            <a:off x="7903251" y="210312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17" name="Text 14"/>
          <p:cNvSpPr txBox="1"/>
          <p:nvPr/>
        </p:nvSpPr>
        <p:spPr>
          <a:xfrm>
            <a:off x="7315017" y="3200400"/>
            <a:ext cx="1999427" cy="1920240"/>
          </a:xfrm>
          <a:prstGeom prst="rect">
            <a:avLst/>
          </a:prstGeom>
          <a:noFill/>
          <a:ln/>
        </p:spPr>
        <p:txBody>
          <a:bodyPr wrap="square" lIns="0" tIns="0" rIns="0" bIns="0" rtlCol="0" anchor="t"/>
          <a:lstStyle/>
          <a:p>
            <a:pPr algn="ctr" indent="0" marL="0">
              <a:spcAft>
                <a:spcPts val="600"/>
              </a:spcAft>
              <a:buNone/>
            </a:pPr>
            <a:r>
              <a:rPr lang="en-US" sz="1900" b="1" dirty="0">
                <a:solidFill>
                  <a:schemeClr val="tx2"/>
                </a:solidFill>
              </a:rPr>
              <a:t>İlan başına</a:t>
            </a:r>
            <a:endParaRPr lang="en-US" sz="1900" dirty="0"/>
          </a:p>
          <a:p>
            <a:pPr algn="ctr" indent="0" marL="0">
              <a:spcAft>
                <a:spcPts val="600"/>
              </a:spcAft>
              <a:buNone/>
            </a:pPr>
            <a:r>
              <a:rPr lang="en-US" sz="1500" dirty="0">
                <a:solidFill>
                  <a:schemeClr val="tx1"/>
                </a:solidFill>
              </a:rPr>
              <a:t>LLM ile boşluk analizi, uyarlama, insan kontrolü</a:t>
            </a:r>
            <a:endParaRPr lang="en-US" sz="1900" dirty="0"/>
          </a:p>
        </p:txBody>
      </p:sp>
      <p:sp>
        <p:nvSpPr>
          <p:cNvPr id="18" name="Shape 15"/>
          <p:cNvSpPr/>
          <p:nvPr/>
        </p:nvSpPr>
        <p:spPr>
          <a:xfrm>
            <a:off x="10122134" y="2103120"/>
            <a:ext cx="822960" cy="822960"/>
          </a:xfrm>
          <a:prstGeom prst="ellipse">
            <a:avLst/>
          </a:prstGeom>
          <a:solidFill>
            <a:schemeClr val="accent1"/>
          </a:solidFill>
          <a:ln w="38100">
            <a:solidFill>
              <a:schemeClr val="bg1"/>
            </a:solidFill>
            <a:prstDash val="solid"/>
          </a:ln>
        </p:spPr>
      </p:sp>
      <p:sp>
        <p:nvSpPr>
          <p:cNvPr id="19" name="Text 16"/>
          <p:cNvSpPr txBox="1"/>
          <p:nvPr/>
        </p:nvSpPr>
        <p:spPr>
          <a:xfrm>
            <a:off x="10122134" y="210312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20" name="Text 17"/>
          <p:cNvSpPr txBox="1"/>
          <p:nvPr/>
        </p:nvSpPr>
        <p:spPr>
          <a:xfrm>
            <a:off x="9533900" y="3200400"/>
            <a:ext cx="1999427" cy="1920240"/>
          </a:xfrm>
          <a:prstGeom prst="rect">
            <a:avLst/>
          </a:prstGeom>
          <a:noFill/>
          <a:ln/>
        </p:spPr>
        <p:txBody>
          <a:bodyPr wrap="square" lIns="0" tIns="0" rIns="0" bIns="0" rtlCol="0" anchor="t"/>
          <a:lstStyle/>
          <a:p>
            <a:pPr algn="ctr" indent="0" marL="0">
              <a:spcAft>
                <a:spcPts val="600"/>
              </a:spcAft>
              <a:buNone/>
            </a:pPr>
            <a:r>
              <a:rPr lang="en-US" sz="1900" b="1" dirty="0">
                <a:solidFill>
                  <a:schemeClr val="tx2"/>
                </a:solidFill>
              </a:rPr>
              <a:t>Rutin</a:t>
            </a:r>
            <a:endParaRPr lang="en-US" sz="1900" dirty="0"/>
          </a:p>
          <a:p>
            <a:pPr algn="ctr" indent="0" marL="0">
              <a:spcAft>
                <a:spcPts val="600"/>
              </a:spcAft>
              <a:buNone/>
            </a:pPr>
            <a:r>
              <a:rPr lang="en-US" sz="1500" dirty="0">
                <a:solidFill>
                  <a:schemeClr val="tx1"/>
                </a:solidFill>
              </a:rPr>
              <a:t>Başvuru takibi, ilan uyarıları, eski ilan temizliği</a:t>
            </a:r>
            <a:endParaRPr lang="en-US" sz="1900" dirty="0"/>
          </a:p>
        </p:txBody>
      </p:sp>
      <p:sp>
        <p:nvSpPr>
          <p:cNvPr id="21" name="ana-mesaj"/>
          <p:cNvSpPr/>
          <p:nvPr/>
        </p:nvSpPr>
        <p:spPr>
          <a:xfrm>
            <a:off x="548640" y="5349240"/>
            <a:ext cx="11094415" cy="731520"/>
          </a:xfrm>
          <a:prstGeom prst="roundRect">
            <a:avLst>
              <a:gd name="adj" fmla="val 10000"/>
            </a:avLst>
          </a:prstGeom>
          <a:solidFill>
            <a:schemeClr val="accent1"/>
          </a:solidFill>
          <a:ln/>
        </p:spPr>
      </p:sp>
      <p:sp>
        <p:nvSpPr>
          <p:cNvPr id="22" name="Text 19"/>
          <p:cNvSpPr txBox="1"/>
          <p:nvPr/>
        </p:nvSpPr>
        <p:spPr>
          <a:xfrm>
            <a:off x="868680" y="5349240"/>
            <a:ext cx="10454335" cy="731520"/>
          </a:xfrm>
          <a:prstGeom prst="rect">
            <a:avLst/>
          </a:prstGeom>
          <a:noFill/>
          <a:ln/>
        </p:spPr>
        <p:txBody>
          <a:bodyPr wrap="square" lIns="0" tIns="0" rIns="0" bIns="0" rtlCol="0" anchor="ctr"/>
          <a:lstStyle/>
          <a:p>
            <a:pPr indent="0" marL="0">
              <a:buNone/>
            </a:pPr>
            <a:r>
              <a:rPr lang="en-US" sz="1800" b="1" dirty="0">
                <a:solidFill>
                  <a:schemeClr val="bg1"/>
                </a:solidFill>
              </a:rPr>
              <a:t>İlk adım en önemlisi: tek kaynak olmadan her uyarlama yeni bir kopya demektir.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2" type="title" hasCustomPrompt="1"/>
          </p:nvPr>
        </p:nvSpPr>
        <p:spPr>
          <a:xfrm>
            <a:off x="640080" y="1828800"/>
            <a:ext cx="7863840" cy="1005840"/>
          </a:xfrm>
          <a:prstGeom prst="rect">
            <a:avLst/>
          </a:prstGeom>
          <a:noFill/>
          <a:ln/>
        </p:spPr>
        <p:txBody>
          <a:bodyPr wrap="square" lIns="0" tIns="0" rIns="0" bIns="0" rtlCol="0" anchor="b"/>
          <a:lstStyle/>
          <a:p>
            <a:pPr algn="l" indent="0" marL="0">
              <a:buNone/>
            </a:pPr>
            <a:r>
              <a:rPr lang="en-US" sz="5000" b="1" dirty="0">
                <a:solidFill>
                  <a:schemeClr val="bg1"/>
                </a:solidFill>
              </a:rPr>
              <a:t>Teşekkürler</a:t>
            </a:r>
            <a:endParaRPr lang="en-US" sz="5000" dirty="0"/>
          </a:p>
        </p:txBody>
      </p:sp>
      <p:sp>
        <p:nvSpPr>
          <p:cNvPr id="3" name="Text 0"/>
          <p:cNvSpPr/>
          <p:nvPr>
            <p:ph idx="103" type="body" hasCustomPrompt="1"/>
          </p:nvPr>
        </p:nvSpPr>
        <p:spPr>
          <a:xfrm>
            <a:off x="640080" y="2880360"/>
            <a:ext cx="7863840" cy="640080"/>
          </a:xfrm>
          <a:prstGeom prst="rect">
            <a:avLst/>
          </a:prstGeom>
          <a:noFill/>
          <a:ln/>
        </p:spPr>
        <p:txBody>
          <a:bodyPr wrap="square" lIns="0" tIns="0" rIns="0" bIns="0" rtlCol="0" anchor="t"/>
          <a:lstStyle/>
          <a:p>
            <a:pPr indent="0" marL="0">
              <a:buNone/>
            </a:pPr>
            <a:r>
              <a:rPr lang="en-US" sz="2800" dirty="0">
                <a:solidFill>
                  <a:schemeClr val="accent2"/>
                </a:solidFill>
              </a:rPr>
              <a:t>Sorular?</a:t>
            </a:r>
            <a:endParaRPr lang="en-US" sz="2800" dirty="0"/>
          </a:p>
        </p:txBody>
      </p:sp>
      <p:sp>
        <p:nvSpPr>
          <p:cNvPr id="4" name="Text 0"/>
          <p:cNvSpPr/>
          <p:nvPr>
            <p:ph idx="104" type="body" hasCustomPrompt="1"/>
          </p:nvPr>
        </p:nvSpPr>
        <p:spPr>
          <a:xfrm>
            <a:off x="640080" y="4023360"/>
            <a:ext cx="7863840" cy="2011680"/>
          </a:xfrm>
          <a:prstGeom prst="rect">
            <a:avLst/>
          </a:prstGeom>
          <a:noFill/>
          <a:ln/>
        </p:spPr>
        <p:txBody>
          <a:bodyPr wrap="square" lIns="0" tIns="0" rIns="0" bIns="0" rtlCol="0" anchor="t"/>
          <a:lstStyle/>
          <a:p>
            <a:pPr indent="0" marL="0">
              <a:spcAft>
                <a:spcPts val="600"/>
              </a:spcAft>
              <a:buNone/>
            </a:pPr>
            <a:r>
              <a:rPr lang="en-US" sz="1600" b="1" dirty="0">
                <a:solidFill>
                  <a:schemeClr val="bg2"/>
                </a:solidFill>
              </a:rPr>
              <a:t>Sunum ve kaynaklar: </a:t>
            </a:r>
            <a:pPr indent="0" marL="0">
              <a:spcAft>
                <a:spcPts val="600"/>
              </a:spcAft>
              <a:buNone/>
            </a:pPr>
            <a:r>
              <a:rPr lang="en-US" sz="16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github.com/kaayra2000/kurslar</a:t>
            </a:r>
            <a:endParaRPr lang="en-US" sz="1600" dirty="0"/>
          </a:p>
          <a:p>
            <a:pPr indent="0" marL="0">
              <a:spcAft>
                <a:spcPts val="600"/>
              </a:spcAft>
              <a:buNone/>
            </a:pPr>
            <a:r>
              <a:rPr lang="en-US" sz="1600" b="1" dirty="0">
                <a:solidFill>
                  <a:schemeClr val="bg2"/>
                </a:solidFill>
              </a:rPr>
              <a:t>Araç listesi: </a:t>
            </a:r>
            <a:pPr indent="0" marL="0">
              <a:spcAft>
                <a:spcPts val="600"/>
              </a:spcAft>
              <a:buNone/>
            </a:pPr>
            <a:r>
              <a:rPr lang="en-US" sz="1600" dirty="0">
                <a:solidFill>
                  <a:schemeClr val="bg2"/>
                </a:solidFill>
              </a:rPr>
              <a:t>sunum/kaynaklar.md</a:t>
            </a:r>
            <a:endParaRPr lang="en-US" sz="1600" dirty="0"/>
          </a:p>
          <a:p>
            <a:pPr indent="0" marL="0">
              <a:spcAft>
                <a:spcPts val="600"/>
              </a:spcAft>
              <a:buNone/>
            </a:pPr>
            <a:r>
              <a:rPr lang="en-US" sz="1600" b="1" dirty="0">
                <a:solidFill>
                  <a:schemeClr val="bg2"/>
                </a:solidFill>
              </a:rPr>
              <a:t>GitHub: </a:t>
            </a:r>
            <a:pPr indent="0" marL="0">
              <a:spcAft>
                <a:spcPts val="600"/>
              </a:spcAft>
              <a:buNone/>
            </a:pPr>
            <a:r>
              <a:rPr lang="en-US" sz="1600" dirty="0">
                <a:solidFill>
                  <a:schemeClr val="bg2"/>
                </a:solidFill>
              </a:rPr>
              <a:t>kaayra2000</a:t>
            </a:r>
            <a:endParaRPr lang="en-US" sz="1600" dirty="0"/>
          </a:p>
          <a:p>
            <a:pPr indent="0" marL="0">
              <a:spcAft>
                <a:spcPts val="600"/>
              </a:spcAft>
              <a:buNone/>
            </a:pPr>
            <a:r>
              <a:rPr lang="en-US" sz="1600" b="1" dirty="0">
                <a:solidFill>
                  <a:schemeClr val="bg2"/>
                </a:solidFill>
              </a:rPr>
              <a:t>LinkedIn: </a:t>
            </a:r>
            <a:pPr indent="0" marL="0">
              <a:spcAft>
                <a:spcPts val="600"/>
              </a:spcAft>
              <a:buNone/>
            </a:pPr>
            <a:r>
              <a:rPr lang="en-US" sz="1600" dirty="0">
                <a:solidFill>
                  <a:schemeClr val="bg2"/>
                </a:solidFill>
              </a:rPr>
              <a:t>Muhammed Kayra Bulut</a:t>
            </a:r>
            <a:endParaRPr lang="en-US" sz="1600" dirty="0"/>
          </a:p>
        </p:txBody>
      </p:sp>
    </p:spTree>
  </p:cSld>
  <p:clrMapOvr>
    <a:masterClrMapping/>
  </p:clrMapOvr>
</p:sld>
</file>

<file path=ppt/theme/theme1.xml><?xml version="1.0" encoding="utf-8"?>
<a:theme xmlns:a="http://schemas.openxmlformats.org/drawingml/2006/main" name="Yildiz Teknopark">
  <a:themeElements>
    <a:clrScheme name="Yildiz Teknopark">
      <a:dk1>
        <a:srgbClr val="1B1F2E"/>
      </a:dk1>
      <a:lt1>
        <a:srgbClr val="FFFFFF"/>
      </a:lt1>
      <a:dk2>
        <a:srgbClr val="0B1F5C"/>
      </a:dk2>
      <a:lt2>
        <a:srgbClr val="EEF1F8"/>
      </a:lt2>
      <a:accent1>
        <a:srgbClr val="0B1F5C"/>
      </a:accent1>
      <a:accent2>
        <a:srgbClr val="AD9A6B"/>
      </a:accent2>
      <a:accent3>
        <a:srgbClr val="7D6A3F"/>
      </a:accent3>
      <a:accent4>
        <a:srgbClr val="B42318"/>
      </a:accent4>
      <a:accent5>
        <a:srgbClr val="2E7D5B"/>
      </a:accent5>
      <a:accent6>
        <a:srgbClr val="3B5BA9"/>
      </a:accent6>
      <a:hlink>
        <a:srgbClr val="3B5BA9"/>
      </a:hlink>
      <a:folHlink>
        <a:srgbClr val="6B4FA0"/>
      </a:folHlink>
    </a:clrScheme>
    <a:fontScheme name="Yildiz Teknop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YTÜ Yıldız Teknopark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Yapay Zekâ ile Kariyer: CV Hazırlama, Yönetme ve İlan Bulma</dc:title>
  <dc:subject>PptxGenJS Presentation</dc:subject>
  <dc:creator>Muhammed Kayra Bulut</dc:creator>
  <cp:lastModifiedBy>Muhammed Kayra Bulut</cp:lastModifiedBy>
  <cp:revision>1</cp:revision>
  <dcterms:created xsi:type="dcterms:W3CDTF">2026-10-05T05:59:39Z</dcterms:created>
  <dcterms:modified xsi:type="dcterms:W3CDTF">2026-10-05T05:59:39Z</dcterms:modified>
</cp:coreProperties>
</file>